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9437" r:id="rId3"/>
    <p:sldId id="9438" r:id="rId4"/>
    <p:sldId id="9443" r:id="rId5"/>
    <p:sldId id="9442" r:id="rId6"/>
    <p:sldId id="9445" r:id="rId7"/>
    <p:sldId id="9446" r:id="rId8"/>
    <p:sldId id="9453" r:id="rId9"/>
    <p:sldId id="9454" r:id="rId10"/>
    <p:sldId id="9452" r:id="rId11"/>
    <p:sldId id="9447" r:id="rId12"/>
    <p:sldId id="9449" r:id="rId13"/>
    <p:sldId id="9448" r:id="rId14"/>
    <p:sldId id="9451" r:id="rId15"/>
    <p:sldId id="9444" r:id="rId16"/>
    <p:sldId id="939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3" autoAdjust="0"/>
    <p:restoredTop sz="94660"/>
  </p:normalViewPr>
  <p:slideViewPr>
    <p:cSldViewPr snapToGrid="0">
      <p:cViewPr varScale="1">
        <p:scale>
          <a:sx n="93" d="100"/>
          <a:sy n="93" d="100"/>
        </p:scale>
        <p:origin x="96" y="3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F70197-119F-405A-BD71-75812867F132}" type="datetimeFigureOut">
              <a:rPr lang="en-CA" smtClean="0"/>
              <a:t>2025-09-15</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917675-3E31-45E8-8F11-D6027AC94C2C}" type="slidenum">
              <a:rPr lang="en-CA" smtClean="0"/>
              <a:t>‹#›</a:t>
            </a:fld>
            <a:endParaRPr lang="en-CA"/>
          </a:p>
        </p:txBody>
      </p:sp>
    </p:spTree>
    <p:extLst>
      <p:ext uri="{BB962C8B-B14F-4D97-AF65-F5344CB8AC3E}">
        <p14:creationId xmlns:p14="http://schemas.microsoft.com/office/powerpoint/2010/main" val="35162138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4B1D30-AFC4-AD5C-5FA7-DE3FC3C25E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358C2A-53F5-B505-42FB-66EF2411CB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B15F77-B8EC-9B2D-48E6-62BEEB5CC115}"/>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602DB18C-8D63-6062-8A9C-E5322C8F74D0}"/>
              </a:ext>
            </a:extLst>
          </p:cNvPr>
          <p:cNvSpPr>
            <a:spLocks noGrp="1"/>
          </p:cNvSpPr>
          <p:nvPr>
            <p:ph type="sldNum" sz="quarter" idx="5"/>
          </p:nvPr>
        </p:nvSpPr>
        <p:spPr/>
        <p:txBody>
          <a:bodyPr/>
          <a:lstStyle/>
          <a:p>
            <a:fld id="{4B4E8C47-0BA1-4F6C-9D80-C7C274FEB5B2}" type="slidenum">
              <a:rPr lang="en-CA" smtClean="0"/>
              <a:t>2</a:t>
            </a:fld>
            <a:endParaRPr lang="en-CA"/>
          </a:p>
        </p:txBody>
      </p:sp>
    </p:spTree>
    <p:extLst>
      <p:ext uri="{BB962C8B-B14F-4D97-AF65-F5344CB8AC3E}">
        <p14:creationId xmlns:p14="http://schemas.microsoft.com/office/powerpoint/2010/main" val="27808764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4B4E8C47-0BA1-4F6C-9D80-C7C274FEB5B2}" type="slidenum">
              <a:rPr lang="en-CA" smtClean="0"/>
              <a:t>3</a:t>
            </a:fld>
            <a:endParaRPr lang="en-CA"/>
          </a:p>
        </p:txBody>
      </p:sp>
    </p:spTree>
    <p:extLst>
      <p:ext uri="{BB962C8B-B14F-4D97-AF65-F5344CB8AC3E}">
        <p14:creationId xmlns:p14="http://schemas.microsoft.com/office/powerpoint/2010/main" val="38836040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C9A43-0983-59E0-5EE4-B20648458E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3B8AD7-6137-B98E-097F-006E87C8DA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99D7E0-48C4-2E0D-BC04-42233731672A}"/>
              </a:ext>
            </a:extLst>
          </p:cNvPr>
          <p:cNvSpPr>
            <a:spLocks noGrp="1"/>
          </p:cNvSpPr>
          <p:nvPr>
            <p:ph type="body" idx="1"/>
          </p:nvPr>
        </p:nvSpPr>
        <p:spPr/>
        <p:txBody>
          <a:bodyPr/>
          <a:lstStyle/>
          <a:p>
            <a:pPr marL="0" indent="0">
              <a:lnSpc>
                <a:spcPct val="120000"/>
              </a:lnSpc>
              <a:buFont typeface="Arial" panose="020B0604020202020204" pitchFamily="34" charset="0"/>
              <a:buNone/>
            </a:pPr>
            <a:endParaRPr lang="en-US" dirty="0"/>
          </a:p>
        </p:txBody>
      </p:sp>
      <p:sp>
        <p:nvSpPr>
          <p:cNvPr id="4" name="Slide Number Placeholder 3">
            <a:extLst>
              <a:ext uri="{FF2B5EF4-FFF2-40B4-BE49-F238E27FC236}">
                <a16:creationId xmlns:a16="http://schemas.microsoft.com/office/drawing/2014/main" id="{67504A05-C9C0-E4AE-2348-4EC4494A6EB1}"/>
              </a:ext>
            </a:extLst>
          </p:cNvPr>
          <p:cNvSpPr>
            <a:spLocks noGrp="1"/>
          </p:cNvSpPr>
          <p:nvPr>
            <p:ph type="sldNum" sz="quarter" idx="5"/>
          </p:nvPr>
        </p:nvSpPr>
        <p:spPr/>
        <p:txBody>
          <a:bodyPr/>
          <a:lstStyle/>
          <a:p>
            <a:fld id="{4B4E8C47-0BA1-4F6C-9D80-C7C274FEB5B2}" type="slidenum">
              <a:rPr lang="en-CA" smtClean="0"/>
              <a:t>13</a:t>
            </a:fld>
            <a:endParaRPr lang="en-CA"/>
          </a:p>
        </p:txBody>
      </p:sp>
    </p:spTree>
    <p:extLst>
      <p:ext uri="{BB962C8B-B14F-4D97-AF65-F5344CB8AC3E}">
        <p14:creationId xmlns:p14="http://schemas.microsoft.com/office/powerpoint/2010/main" val="24998111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B3131A4-0AE9-43CD-ACD8-A1DDD14BA9CE}" type="slidenum">
              <a:rPr lang="en-CA" smtClean="0"/>
              <a:t>16</a:t>
            </a:fld>
            <a:endParaRPr lang="en-CA"/>
          </a:p>
        </p:txBody>
      </p:sp>
    </p:spTree>
    <p:extLst>
      <p:ext uri="{BB962C8B-B14F-4D97-AF65-F5344CB8AC3E}">
        <p14:creationId xmlns:p14="http://schemas.microsoft.com/office/powerpoint/2010/main" val="34302336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CCCD6-E65E-784C-B116-94D033A7183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A5FBB380-D458-1E2D-4651-DD139AEC1A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32F1F5C2-5314-C13D-FA21-207C49C126B9}"/>
              </a:ext>
            </a:extLst>
          </p:cNvPr>
          <p:cNvSpPr>
            <a:spLocks noGrp="1"/>
          </p:cNvSpPr>
          <p:nvPr>
            <p:ph type="dt" sz="half" idx="10"/>
          </p:nvPr>
        </p:nvSpPr>
        <p:spPr/>
        <p:txBody>
          <a:bodyPr/>
          <a:lstStyle/>
          <a:p>
            <a:fld id="{3D905F58-55F0-4AFD-AA1F-AC942D2BFDDC}" type="datetimeFigureOut">
              <a:rPr lang="en-CA" smtClean="0"/>
              <a:t>2025-09-15</a:t>
            </a:fld>
            <a:endParaRPr lang="en-CA"/>
          </a:p>
        </p:txBody>
      </p:sp>
      <p:sp>
        <p:nvSpPr>
          <p:cNvPr id="5" name="Footer Placeholder 4">
            <a:extLst>
              <a:ext uri="{FF2B5EF4-FFF2-40B4-BE49-F238E27FC236}">
                <a16:creationId xmlns:a16="http://schemas.microsoft.com/office/drawing/2014/main" id="{900C20F2-3540-C219-DD4D-6C66A8CBA47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97009DBB-427E-A1E9-5270-18FB1F586026}"/>
              </a:ext>
            </a:extLst>
          </p:cNvPr>
          <p:cNvSpPr>
            <a:spLocks noGrp="1"/>
          </p:cNvSpPr>
          <p:nvPr>
            <p:ph type="sldNum" sz="quarter" idx="12"/>
          </p:nvPr>
        </p:nvSpPr>
        <p:spPr/>
        <p:txBody>
          <a:bodyPr/>
          <a:lstStyle/>
          <a:p>
            <a:fld id="{8083D4AF-B638-4B03-97C7-BC61D07E7C5C}" type="slidenum">
              <a:rPr lang="en-CA" smtClean="0"/>
              <a:t>‹#›</a:t>
            </a:fld>
            <a:endParaRPr lang="en-CA"/>
          </a:p>
        </p:txBody>
      </p:sp>
    </p:spTree>
    <p:extLst>
      <p:ext uri="{BB962C8B-B14F-4D97-AF65-F5344CB8AC3E}">
        <p14:creationId xmlns:p14="http://schemas.microsoft.com/office/powerpoint/2010/main" val="30667296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AFD34-33C8-2941-1F91-A85A096169EE}"/>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7BA48497-D21E-DC92-11B7-7AECA93F4E1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FFBCD7E6-B4E4-F793-9BB1-EC384E7802D4}"/>
              </a:ext>
            </a:extLst>
          </p:cNvPr>
          <p:cNvSpPr>
            <a:spLocks noGrp="1"/>
          </p:cNvSpPr>
          <p:nvPr>
            <p:ph type="dt" sz="half" idx="10"/>
          </p:nvPr>
        </p:nvSpPr>
        <p:spPr/>
        <p:txBody>
          <a:bodyPr/>
          <a:lstStyle/>
          <a:p>
            <a:fld id="{3D905F58-55F0-4AFD-AA1F-AC942D2BFDDC}" type="datetimeFigureOut">
              <a:rPr lang="en-CA" smtClean="0"/>
              <a:t>2025-09-15</a:t>
            </a:fld>
            <a:endParaRPr lang="en-CA"/>
          </a:p>
        </p:txBody>
      </p:sp>
      <p:sp>
        <p:nvSpPr>
          <p:cNvPr id="5" name="Footer Placeholder 4">
            <a:extLst>
              <a:ext uri="{FF2B5EF4-FFF2-40B4-BE49-F238E27FC236}">
                <a16:creationId xmlns:a16="http://schemas.microsoft.com/office/drawing/2014/main" id="{37B77594-0626-DF34-7221-AB9737BEA464}"/>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CAA3A41B-E6AE-F298-3692-8B80A7A1C0BA}"/>
              </a:ext>
            </a:extLst>
          </p:cNvPr>
          <p:cNvSpPr>
            <a:spLocks noGrp="1"/>
          </p:cNvSpPr>
          <p:nvPr>
            <p:ph type="sldNum" sz="quarter" idx="12"/>
          </p:nvPr>
        </p:nvSpPr>
        <p:spPr/>
        <p:txBody>
          <a:bodyPr/>
          <a:lstStyle/>
          <a:p>
            <a:fld id="{8083D4AF-B638-4B03-97C7-BC61D07E7C5C}" type="slidenum">
              <a:rPr lang="en-CA" smtClean="0"/>
              <a:t>‹#›</a:t>
            </a:fld>
            <a:endParaRPr lang="en-CA"/>
          </a:p>
        </p:txBody>
      </p:sp>
    </p:spTree>
    <p:extLst>
      <p:ext uri="{BB962C8B-B14F-4D97-AF65-F5344CB8AC3E}">
        <p14:creationId xmlns:p14="http://schemas.microsoft.com/office/powerpoint/2010/main" val="39657411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1CBF0-CE02-F7F0-E3EB-25B02B458C1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7668C0EB-6F27-1607-DE11-A2A41331332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AC333F9-8B48-8001-3B39-A323954507C1}"/>
              </a:ext>
            </a:extLst>
          </p:cNvPr>
          <p:cNvSpPr>
            <a:spLocks noGrp="1"/>
          </p:cNvSpPr>
          <p:nvPr>
            <p:ph type="dt" sz="half" idx="10"/>
          </p:nvPr>
        </p:nvSpPr>
        <p:spPr/>
        <p:txBody>
          <a:bodyPr/>
          <a:lstStyle/>
          <a:p>
            <a:fld id="{3D905F58-55F0-4AFD-AA1F-AC942D2BFDDC}" type="datetimeFigureOut">
              <a:rPr lang="en-CA" smtClean="0"/>
              <a:t>2025-09-15</a:t>
            </a:fld>
            <a:endParaRPr lang="en-CA"/>
          </a:p>
        </p:txBody>
      </p:sp>
      <p:sp>
        <p:nvSpPr>
          <p:cNvPr id="5" name="Footer Placeholder 4">
            <a:extLst>
              <a:ext uri="{FF2B5EF4-FFF2-40B4-BE49-F238E27FC236}">
                <a16:creationId xmlns:a16="http://schemas.microsoft.com/office/drawing/2014/main" id="{1E6850DC-FAB0-B8B7-C5EE-6EF040B30679}"/>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DA7C2F7E-4E44-0BF4-0B32-7498201A43CC}"/>
              </a:ext>
            </a:extLst>
          </p:cNvPr>
          <p:cNvSpPr>
            <a:spLocks noGrp="1"/>
          </p:cNvSpPr>
          <p:nvPr>
            <p:ph type="sldNum" sz="quarter" idx="12"/>
          </p:nvPr>
        </p:nvSpPr>
        <p:spPr/>
        <p:txBody>
          <a:bodyPr/>
          <a:lstStyle/>
          <a:p>
            <a:fld id="{8083D4AF-B638-4B03-97C7-BC61D07E7C5C}" type="slidenum">
              <a:rPr lang="en-CA" smtClean="0"/>
              <a:t>‹#›</a:t>
            </a:fld>
            <a:endParaRPr lang="en-CA"/>
          </a:p>
        </p:txBody>
      </p:sp>
    </p:spTree>
    <p:extLst>
      <p:ext uri="{BB962C8B-B14F-4D97-AF65-F5344CB8AC3E}">
        <p14:creationId xmlns:p14="http://schemas.microsoft.com/office/powerpoint/2010/main" val="34577120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D6AEF-916F-48B6-B269-5EF32E9ADD35}"/>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BD96382F-BC1F-0A87-7192-AA1D641CA1F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ECE39D54-9E74-4EB2-25B3-1B2783A2DC4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96B68E67-80EB-C02C-AD4D-F29CFFE9C658}"/>
              </a:ext>
            </a:extLst>
          </p:cNvPr>
          <p:cNvSpPr>
            <a:spLocks noGrp="1"/>
          </p:cNvSpPr>
          <p:nvPr>
            <p:ph type="dt" sz="half" idx="10"/>
          </p:nvPr>
        </p:nvSpPr>
        <p:spPr/>
        <p:txBody>
          <a:bodyPr/>
          <a:lstStyle/>
          <a:p>
            <a:fld id="{3D905F58-55F0-4AFD-AA1F-AC942D2BFDDC}" type="datetimeFigureOut">
              <a:rPr lang="en-CA" smtClean="0"/>
              <a:t>2025-09-15</a:t>
            </a:fld>
            <a:endParaRPr lang="en-CA"/>
          </a:p>
        </p:txBody>
      </p:sp>
      <p:sp>
        <p:nvSpPr>
          <p:cNvPr id="6" name="Footer Placeholder 5">
            <a:extLst>
              <a:ext uri="{FF2B5EF4-FFF2-40B4-BE49-F238E27FC236}">
                <a16:creationId xmlns:a16="http://schemas.microsoft.com/office/drawing/2014/main" id="{159B4F14-801A-0E71-992C-A370FA5F6FE4}"/>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EAB83C4B-572E-7E83-4476-91238D428CE0}"/>
              </a:ext>
            </a:extLst>
          </p:cNvPr>
          <p:cNvSpPr>
            <a:spLocks noGrp="1"/>
          </p:cNvSpPr>
          <p:nvPr>
            <p:ph type="sldNum" sz="quarter" idx="12"/>
          </p:nvPr>
        </p:nvSpPr>
        <p:spPr/>
        <p:txBody>
          <a:bodyPr/>
          <a:lstStyle/>
          <a:p>
            <a:fld id="{8083D4AF-B638-4B03-97C7-BC61D07E7C5C}" type="slidenum">
              <a:rPr lang="en-CA" smtClean="0"/>
              <a:t>‹#›</a:t>
            </a:fld>
            <a:endParaRPr lang="en-CA"/>
          </a:p>
        </p:txBody>
      </p:sp>
    </p:spTree>
    <p:extLst>
      <p:ext uri="{BB962C8B-B14F-4D97-AF65-F5344CB8AC3E}">
        <p14:creationId xmlns:p14="http://schemas.microsoft.com/office/powerpoint/2010/main" val="30370468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4E9E3-FAC3-7444-A94D-62C170B74EA5}"/>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12B7B8D1-C2E1-AE89-9231-E850D6FFE3F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E288F1C-4746-C327-A48B-D9EEA993F03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817CAB61-FD28-5A62-F621-5B7AF40AC98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D05C22D-F6EA-1150-B803-A7EC911B9CA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65AB0F26-897C-835F-7AF5-A825FA874180}"/>
              </a:ext>
            </a:extLst>
          </p:cNvPr>
          <p:cNvSpPr>
            <a:spLocks noGrp="1"/>
          </p:cNvSpPr>
          <p:nvPr>
            <p:ph type="dt" sz="half" idx="10"/>
          </p:nvPr>
        </p:nvSpPr>
        <p:spPr/>
        <p:txBody>
          <a:bodyPr/>
          <a:lstStyle/>
          <a:p>
            <a:fld id="{3D905F58-55F0-4AFD-AA1F-AC942D2BFDDC}" type="datetimeFigureOut">
              <a:rPr lang="en-CA" smtClean="0"/>
              <a:t>2025-09-15</a:t>
            </a:fld>
            <a:endParaRPr lang="en-CA"/>
          </a:p>
        </p:txBody>
      </p:sp>
      <p:sp>
        <p:nvSpPr>
          <p:cNvPr id="8" name="Footer Placeholder 7">
            <a:extLst>
              <a:ext uri="{FF2B5EF4-FFF2-40B4-BE49-F238E27FC236}">
                <a16:creationId xmlns:a16="http://schemas.microsoft.com/office/drawing/2014/main" id="{DEE5922C-7667-C5A0-78D0-E5B1C33F8076}"/>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CEE87D24-0725-81DF-D7BC-E824E979CF69}"/>
              </a:ext>
            </a:extLst>
          </p:cNvPr>
          <p:cNvSpPr>
            <a:spLocks noGrp="1"/>
          </p:cNvSpPr>
          <p:nvPr>
            <p:ph type="sldNum" sz="quarter" idx="12"/>
          </p:nvPr>
        </p:nvSpPr>
        <p:spPr/>
        <p:txBody>
          <a:bodyPr/>
          <a:lstStyle/>
          <a:p>
            <a:fld id="{8083D4AF-B638-4B03-97C7-BC61D07E7C5C}" type="slidenum">
              <a:rPr lang="en-CA" smtClean="0"/>
              <a:t>‹#›</a:t>
            </a:fld>
            <a:endParaRPr lang="en-CA"/>
          </a:p>
        </p:txBody>
      </p:sp>
    </p:spTree>
    <p:extLst>
      <p:ext uri="{BB962C8B-B14F-4D97-AF65-F5344CB8AC3E}">
        <p14:creationId xmlns:p14="http://schemas.microsoft.com/office/powerpoint/2010/main" val="35818615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F0707-0CF7-F491-86C0-F7BFA7B37889}"/>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8F1212E8-541E-352E-7505-AAD091B0A829}"/>
              </a:ext>
            </a:extLst>
          </p:cNvPr>
          <p:cNvSpPr>
            <a:spLocks noGrp="1"/>
          </p:cNvSpPr>
          <p:nvPr>
            <p:ph type="dt" sz="half" idx="10"/>
          </p:nvPr>
        </p:nvSpPr>
        <p:spPr/>
        <p:txBody>
          <a:bodyPr/>
          <a:lstStyle/>
          <a:p>
            <a:fld id="{3D905F58-55F0-4AFD-AA1F-AC942D2BFDDC}" type="datetimeFigureOut">
              <a:rPr lang="en-CA" smtClean="0"/>
              <a:t>2025-09-15</a:t>
            </a:fld>
            <a:endParaRPr lang="en-CA"/>
          </a:p>
        </p:txBody>
      </p:sp>
      <p:sp>
        <p:nvSpPr>
          <p:cNvPr id="4" name="Footer Placeholder 3">
            <a:extLst>
              <a:ext uri="{FF2B5EF4-FFF2-40B4-BE49-F238E27FC236}">
                <a16:creationId xmlns:a16="http://schemas.microsoft.com/office/drawing/2014/main" id="{91DB41D0-D062-870C-1B89-19489E8A29F8}"/>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E703DDCA-F439-BC78-1DC6-4DFCA3DB2142}"/>
              </a:ext>
            </a:extLst>
          </p:cNvPr>
          <p:cNvSpPr>
            <a:spLocks noGrp="1"/>
          </p:cNvSpPr>
          <p:nvPr>
            <p:ph type="sldNum" sz="quarter" idx="12"/>
          </p:nvPr>
        </p:nvSpPr>
        <p:spPr/>
        <p:txBody>
          <a:bodyPr/>
          <a:lstStyle/>
          <a:p>
            <a:fld id="{8083D4AF-B638-4B03-97C7-BC61D07E7C5C}" type="slidenum">
              <a:rPr lang="en-CA" smtClean="0"/>
              <a:t>‹#›</a:t>
            </a:fld>
            <a:endParaRPr lang="en-CA"/>
          </a:p>
        </p:txBody>
      </p:sp>
    </p:spTree>
    <p:extLst>
      <p:ext uri="{BB962C8B-B14F-4D97-AF65-F5344CB8AC3E}">
        <p14:creationId xmlns:p14="http://schemas.microsoft.com/office/powerpoint/2010/main" val="25629197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7C61CE-273F-FE6E-C257-E51218DFAFFE}"/>
              </a:ext>
            </a:extLst>
          </p:cNvPr>
          <p:cNvSpPr>
            <a:spLocks noGrp="1"/>
          </p:cNvSpPr>
          <p:nvPr>
            <p:ph type="dt" sz="half" idx="10"/>
          </p:nvPr>
        </p:nvSpPr>
        <p:spPr/>
        <p:txBody>
          <a:bodyPr/>
          <a:lstStyle/>
          <a:p>
            <a:fld id="{3D905F58-55F0-4AFD-AA1F-AC942D2BFDDC}" type="datetimeFigureOut">
              <a:rPr lang="en-CA" smtClean="0"/>
              <a:t>2025-09-15</a:t>
            </a:fld>
            <a:endParaRPr lang="en-CA"/>
          </a:p>
        </p:txBody>
      </p:sp>
      <p:sp>
        <p:nvSpPr>
          <p:cNvPr id="3" name="Footer Placeholder 2">
            <a:extLst>
              <a:ext uri="{FF2B5EF4-FFF2-40B4-BE49-F238E27FC236}">
                <a16:creationId xmlns:a16="http://schemas.microsoft.com/office/drawing/2014/main" id="{B233CF62-F546-58F5-AF3A-035515A1B791}"/>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F871BCFA-2E92-20D1-7921-BCC793FD0110}"/>
              </a:ext>
            </a:extLst>
          </p:cNvPr>
          <p:cNvSpPr>
            <a:spLocks noGrp="1"/>
          </p:cNvSpPr>
          <p:nvPr>
            <p:ph type="sldNum" sz="quarter" idx="12"/>
          </p:nvPr>
        </p:nvSpPr>
        <p:spPr/>
        <p:txBody>
          <a:bodyPr/>
          <a:lstStyle/>
          <a:p>
            <a:fld id="{8083D4AF-B638-4B03-97C7-BC61D07E7C5C}" type="slidenum">
              <a:rPr lang="en-CA" smtClean="0"/>
              <a:t>‹#›</a:t>
            </a:fld>
            <a:endParaRPr lang="en-CA"/>
          </a:p>
        </p:txBody>
      </p:sp>
    </p:spTree>
    <p:extLst>
      <p:ext uri="{BB962C8B-B14F-4D97-AF65-F5344CB8AC3E}">
        <p14:creationId xmlns:p14="http://schemas.microsoft.com/office/powerpoint/2010/main" val="37657288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06EB4-5EA8-3DAB-803D-29A17EF6EF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F73F82D1-0953-F8CA-7E92-78D4D16953B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2ACEA828-113F-11C4-F2F4-D40A5FA423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07F6FB-BBB7-8D2B-5718-D182877D7081}"/>
              </a:ext>
            </a:extLst>
          </p:cNvPr>
          <p:cNvSpPr>
            <a:spLocks noGrp="1"/>
          </p:cNvSpPr>
          <p:nvPr>
            <p:ph type="dt" sz="half" idx="10"/>
          </p:nvPr>
        </p:nvSpPr>
        <p:spPr/>
        <p:txBody>
          <a:bodyPr/>
          <a:lstStyle/>
          <a:p>
            <a:fld id="{3D905F58-55F0-4AFD-AA1F-AC942D2BFDDC}" type="datetimeFigureOut">
              <a:rPr lang="en-CA" smtClean="0"/>
              <a:t>2025-09-15</a:t>
            </a:fld>
            <a:endParaRPr lang="en-CA"/>
          </a:p>
        </p:txBody>
      </p:sp>
      <p:sp>
        <p:nvSpPr>
          <p:cNvPr id="6" name="Footer Placeholder 5">
            <a:extLst>
              <a:ext uri="{FF2B5EF4-FFF2-40B4-BE49-F238E27FC236}">
                <a16:creationId xmlns:a16="http://schemas.microsoft.com/office/drawing/2014/main" id="{F8E244EB-2401-8503-279A-3FF7987D27B9}"/>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357187E3-3591-A81D-1E27-E6DC6D19ACDD}"/>
              </a:ext>
            </a:extLst>
          </p:cNvPr>
          <p:cNvSpPr>
            <a:spLocks noGrp="1"/>
          </p:cNvSpPr>
          <p:nvPr>
            <p:ph type="sldNum" sz="quarter" idx="12"/>
          </p:nvPr>
        </p:nvSpPr>
        <p:spPr/>
        <p:txBody>
          <a:bodyPr/>
          <a:lstStyle/>
          <a:p>
            <a:fld id="{8083D4AF-B638-4B03-97C7-BC61D07E7C5C}" type="slidenum">
              <a:rPr lang="en-CA" smtClean="0"/>
              <a:t>‹#›</a:t>
            </a:fld>
            <a:endParaRPr lang="en-CA"/>
          </a:p>
        </p:txBody>
      </p:sp>
    </p:spTree>
    <p:extLst>
      <p:ext uri="{BB962C8B-B14F-4D97-AF65-F5344CB8AC3E}">
        <p14:creationId xmlns:p14="http://schemas.microsoft.com/office/powerpoint/2010/main" val="28643000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73A89-9213-321B-898D-C957F5549D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BDFCAB68-3A33-C7D3-E91E-2707BD9223F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1B7E6383-CC59-7DC0-BA93-1B9B47DB58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B0280AB-35A6-7800-5E6E-950D1C0AE13F}"/>
              </a:ext>
            </a:extLst>
          </p:cNvPr>
          <p:cNvSpPr>
            <a:spLocks noGrp="1"/>
          </p:cNvSpPr>
          <p:nvPr>
            <p:ph type="dt" sz="half" idx="10"/>
          </p:nvPr>
        </p:nvSpPr>
        <p:spPr/>
        <p:txBody>
          <a:bodyPr/>
          <a:lstStyle/>
          <a:p>
            <a:fld id="{3D905F58-55F0-4AFD-AA1F-AC942D2BFDDC}" type="datetimeFigureOut">
              <a:rPr lang="en-CA" smtClean="0"/>
              <a:t>2025-09-15</a:t>
            </a:fld>
            <a:endParaRPr lang="en-CA"/>
          </a:p>
        </p:txBody>
      </p:sp>
      <p:sp>
        <p:nvSpPr>
          <p:cNvPr id="6" name="Footer Placeholder 5">
            <a:extLst>
              <a:ext uri="{FF2B5EF4-FFF2-40B4-BE49-F238E27FC236}">
                <a16:creationId xmlns:a16="http://schemas.microsoft.com/office/drawing/2014/main" id="{5CF242DB-24CD-1AD4-6CA6-58D5CC2231BE}"/>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483F6E5A-BE28-9857-ACBF-BA5664A6B288}"/>
              </a:ext>
            </a:extLst>
          </p:cNvPr>
          <p:cNvSpPr>
            <a:spLocks noGrp="1"/>
          </p:cNvSpPr>
          <p:nvPr>
            <p:ph type="sldNum" sz="quarter" idx="12"/>
          </p:nvPr>
        </p:nvSpPr>
        <p:spPr/>
        <p:txBody>
          <a:bodyPr/>
          <a:lstStyle/>
          <a:p>
            <a:fld id="{8083D4AF-B638-4B03-97C7-BC61D07E7C5C}" type="slidenum">
              <a:rPr lang="en-CA" smtClean="0"/>
              <a:t>‹#›</a:t>
            </a:fld>
            <a:endParaRPr lang="en-CA"/>
          </a:p>
        </p:txBody>
      </p:sp>
    </p:spTree>
    <p:extLst>
      <p:ext uri="{BB962C8B-B14F-4D97-AF65-F5344CB8AC3E}">
        <p14:creationId xmlns:p14="http://schemas.microsoft.com/office/powerpoint/2010/main" val="2431346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FB68C-9A44-A0C4-152D-7FB0455EC6F9}"/>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C53D643F-DB6D-C7D5-C642-B8886AA6290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CA2BC585-3A6D-9325-CAC5-42AAD62D8F2D}"/>
              </a:ext>
            </a:extLst>
          </p:cNvPr>
          <p:cNvSpPr>
            <a:spLocks noGrp="1"/>
          </p:cNvSpPr>
          <p:nvPr>
            <p:ph type="dt" sz="half" idx="10"/>
          </p:nvPr>
        </p:nvSpPr>
        <p:spPr/>
        <p:txBody>
          <a:bodyPr/>
          <a:lstStyle/>
          <a:p>
            <a:fld id="{3D905F58-55F0-4AFD-AA1F-AC942D2BFDDC}" type="datetimeFigureOut">
              <a:rPr lang="en-CA" smtClean="0"/>
              <a:t>2025-09-15</a:t>
            </a:fld>
            <a:endParaRPr lang="en-CA"/>
          </a:p>
        </p:txBody>
      </p:sp>
      <p:sp>
        <p:nvSpPr>
          <p:cNvPr id="5" name="Footer Placeholder 4">
            <a:extLst>
              <a:ext uri="{FF2B5EF4-FFF2-40B4-BE49-F238E27FC236}">
                <a16:creationId xmlns:a16="http://schemas.microsoft.com/office/drawing/2014/main" id="{791B70CF-81B3-4F7C-8A5D-8C00CD393252}"/>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638298A0-89E6-F605-862E-21621DA35A0B}"/>
              </a:ext>
            </a:extLst>
          </p:cNvPr>
          <p:cNvSpPr>
            <a:spLocks noGrp="1"/>
          </p:cNvSpPr>
          <p:nvPr>
            <p:ph type="sldNum" sz="quarter" idx="12"/>
          </p:nvPr>
        </p:nvSpPr>
        <p:spPr/>
        <p:txBody>
          <a:bodyPr/>
          <a:lstStyle/>
          <a:p>
            <a:fld id="{8083D4AF-B638-4B03-97C7-BC61D07E7C5C}" type="slidenum">
              <a:rPr lang="en-CA" smtClean="0"/>
              <a:t>‹#›</a:t>
            </a:fld>
            <a:endParaRPr lang="en-CA"/>
          </a:p>
        </p:txBody>
      </p:sp>
    </p:spTree>
    <p:extLst>
      <p:ext uri="{BB962C8B-B14F-4D97-AF65-F5344CB8AC3E}">
        <p14:creationId xmlns:p14="http://schemas.microsoft.com/office/powerpoint/2010/main" val="28288140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4407CA2-05DD-1727-37C3-B941998401C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61B348F2-BEC1-FECD-92AC-FB1C948BA9E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47055B0F-43D8-E86F-21F7-AA50836DD07B}"/>
              </a:ext>
            </a:extLst>
          </p:cNvPr>
          <p:cNvSpPr>
            <a:spLocks noGrp="1"/>
          </p:cNvSpPr>
          <p:nvPr>
            <p:ph type="dt" sz="half" idx="10"/>
          </p:nvPr>
        </p:nvSpPr>
        <p:spPr/>
        <p:txBody>
          <a:bodyPr/>
          <a:lstStyle/>
          <a:p>
            <a:fld id="{3D905F58-55F0-4AFD-AA1F-AC942D2BFDDC}" type="datetimeFigureOut">
              <a:rPr lang="en-CA" smtClean="0"/>
              <a:t>2025-09-15</a:t>
            </a:fld>
            <a:endParaRPr lang="en-CA"/>
          </a:p>
        </p:txBody>
      </p:sp>
      <p:sp>
        <p:nvSpPr>
          <p:cNvPr id="5" name="Footer Placeholder 4">
            <a:extLst>
              <a:ext uri="{FF2B5EF4-FFF2-40B4-BE49-F238E27FC236}">
                <a16:creationId xmlns:a16="http://schemas.microsoft.com/office/drawing/2014/main" id="{14CBC8B0-1814-CEE2-5B0F-1383623EA0A9}"/>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85E75AFD-A03C-B2A9-1ED9-FD713BF99698}"/>
              </a:ext>
            </a:extLst>
          </p:cNvPr>
          <p:cNvSpPr>
            <a:spLocks noGrp="1"/>
          </p:cNvSpPr>
          <p:nvPr>
            <p:ph type="sldNum" sz="quarter" idx="12"/>
          </p:nvPr>
        </p:nvSpPr>
        <p:spPr/>
        <p:txBody>
          <a:bodyPr/>
          <a:lstStyle/>
          <a:p>
            <a:fld id="{8083D4AF-B638-4B03-97C7-BC61D07E7C5C}" type="slidenum">
              <a:rPr lang="en-CA" smtClean="0"/>
              <a:t>‹#›</a:t>
            </a:fld>
            <a:endParaRPr lang="en-CA"/>
          </a:p>
        </p:txBody>
      </p:sp>
    </p:spTree>
    <p:extLst>
      <p:ext uri="{BB962C8B-B14F-4D97-AF65-F5344CB8AC3E}">
        <p14:creationId xmlns:p14="http://schemas.microsoft.com/office/powerpoint/2010/main" val="30091377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983C5A9-E1F5-222C-1DFA-4B22B954E90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9693ECE7-9628-7822-8244-5C44652CB3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A340A07C-E545-0E9F-792A-FADE083CC32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D905F58-55F0-4AFD-AA1F-AC942D2BFDDC}" type="datetimeFigureOut">
              <a:rPr lang="en-CA" smtClean="0"/>
              <a:t>2025-09-15</a:t>
            </a:fld>
            <a:endParaRPr lang="en-CA"/>
          </a:p>
        </p:txBody>
      </p:sp>
      <p:sp>
        <p:nvSpPr>
          <p:cNvPr id="5" name="Footer Placeholder 4">
            <a:extLst>
              <a:ext uri="{FF2B5EF4-FFF2-40B4-BE49-F238E27FC236}">
                <a16:creationId xmlns:a16="http://schemas.microsoft.com/office/drawing/2014/main" id="{5B8C7878-2B71-277B-E0CC-30D577E1D4D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5D9B821D-0309-1A7A-B792-05746C53CDD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083D4AF-B638-4B03-97C7-BC61D07E7C5C}" type="slidenum">
              <a:rPr lang="en-CA" smtClean="0"/>
              <a:t>‹#›</a:t>
            </a:fld>
            <a:endParaRPr lang="en-CA"/>
          </a:p>
        </p:txBody>
      </p:sp>
    </p:spTree>
    <p:extLst>
      <p:ext uri="{BB962C8B-B14F-4D97-AF65-F5344CB8AC3E}">
        <p14:creationId xmlns:p14="http://schemas.microsoft.com/office/powerpoint/2010/main" val="28089893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hyperlink" Target="https://link.springer.com/chapter/10.1007/978-3-031-73147-1_7" TargetMode="External"/><Relationship Id="rId5" Type="http://schemas.openxmlformats.org/officeDocument/2006/relationships/hyperlink" Target="https://link.springer.com/book/9783031731464" TargetMode="Externa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svg"/><Relationship Id="rId3" Type="http://schemas.openxmlformats.org/officeDocument/2006/relationships/image" Target="../media/image11.png"/><Relationship Id="rId7" Type="http://schemas.openxmlformats.org/officeDocument/2006/relationships/image" Target="../media/image15.svg"/><Relationship Id="rId12"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Layout" Target="../slideLayouts/slideLayout6.xml"/><Relationship Id="rId6" Type="http://schemas.openxmlformats.org/officeDocument/2006/relationships/image" Target="../media/image14.png"/><Relationship Id="rId11" Type="http://schemas.openxmlformats.org/officeDocument/2006/relationships/image" Target="../media/image19.svg"/><Relationship Id="rId5" Type="http://schemas.openxmlformats.org/officeDocument/2006/relationships/image" Target="../media/image13.png"/><Relationship Id="rId15" Type="http://schemas.openxmlformats.org/officeDocument/2006/relationships/hyperlink" Target="https://dl.acm.org/doi/10.1177/0894439313506838" TargetMode="External"/><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svg"/><Relationship Id="rId14" Type="http://schemas.openxmlformats.org/officeDocument/2006/relationships/image" Target="../media/image22.png"/></Relationships>
</file>

<file path=ppt/slides/_rels/slide7.xml.rels><?xml version="1.0" encoding="UTF-8" standalone="yes"?>
<Relationships xmlns="http://schemas.openxmlformats.org/package/2006/relationships"><Relationship Id="rId3" Type="http://schemas.openxmlformats.org/officeDocument/2006/relationships/hyperlink" Target="https://bhaskar-mitra.github.io/posts/2025/07/31/ai-as-politic-of-class-exploitation/" TargetMode="External"/><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34.png"/><Relationship Id="rId3" Type="http://schemas.openxmlformats.org/officeDocument/2006/relationships/image" Target="../media/image25.png"/><Relationship Id="rId7" Type="http://schemas.openxmlformats.org/officeDocument/2006/relationships/image" Target="../media/image29.png"/><Relationship Id="rId12" Type="http://schemas.openxmlformats.org/officeDocument/2006/relationships/image" Target="../media/image33.png"/><Relationship Id="rId2" Type="http://schemas.openxmlformats.org/officeDocument/2006/relationships/image" Target="../media/image24.png"/><Relationship Id="rId1" Type="http://schemas.openxmlformats.org/officeDocument/2006/relationships/slideLayout" Target="../slideLayouts/slideLayout6.xml"/><Relationship Id="rId6" Type="http://schemas.openxmlformats.org/officeDocument/2006/relationships/image" Target="../media/image28.png"/><Relationship Id="rId11" Type="http://schemas.openxmlformats.org/officeDocument/2006/relationships/image" Target="../media/image32.jpeg"/><Relationship Id="rId5" Type="http://schemas.openxmlformats.org/officeDocument/2006/relationships/image" Target="../media/image27.png"/><Relationship Id="rId10" Type="http://schemas.openxmlformats.org/officeDocument/2006/relationships/image" Target="../media/image31.png"/><Relationship Id="rId4" Type="http://schemas.openxmlformats.org/officeDocument/2006/relationships/image" Target="../media/image26.png"/><Relationship Id="rId9"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hyperlink" Target="https://www.techpolicy.press/the-whiteness-of-mastodon/" TargetMode="External"/><Relationship Id="rId2" Type="http://schemas.openxmlformats.org/officeDocument/2006/relationships/image" Target="../media/image37.png"/><Relationship Id="rId1" Type="http://schemas.openxmlformats.org/officeDocument/2006/relationships/slideLayout" Target="../slideLayouts/slideLayout9.xml"/><Relationship Id="rId6" Type="http://schemas.openxmlformats.org/officeDocument/2006/relationships/hyperlink" Target="https://arxiv.org/abs/2501.19241" TargetMode="External"/><Relationship Id="rId5" Type="http://schemas.openxmlformats.org/officeDocument/2006/relationships/image" Target="../media/image39.png"/><Relationship Id="rId4" Type="http://schemas.microsoft.com/office/2007/relationships/hdphoto" Target="../media/hdphoto2.wdp"/></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44.png"/><Relationship Id="rId4" Type="http://schemas.openxmlformats.org/officeDocument/2006/relationships/image" Target="../media/image43.svg"/></Relationships>
</file>

<file path=ppt/slides/_rels/slide1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jpeg"/><Relationship Id="rId1" Type="http://schemas.openxmlformats.org/officeDocument/2006/relationships/slideLayout" Target="../slideLayouts/slideLayout2.xml"/><Relationship Id="rId4" Type="http://schemas.openxmlformats.org/officeDocument/2006/relationships/hyperlink" Target="https://irrj.org/article/view/19654" TargetMode="External"/></Relationships>
</file>

<file path=ppt/slides/_rels/slide15.xml.rels><?xml version="1.0" encoding="UTF-8" standalone="yes"?>
<Relationships xmlns="http://schemas.openxmlformats.org/package/2006/relationships"><Relationship Id="rId8" Type="http://schemas.openxmlformats.org/officeDocument/2006/relationships/hyperlink" Target="https://bhaskar-mitra.github.io/posts/2025/09/01/what-is-ir-for-good/" TargetMode="External"/><Relationship Id="rId3" Type="http://schemas.openxmlformats.org/officeDocument/2006/relationships/hyperlink" Target="https://irrj.org/article/view/19654" TargetMode="External"/><Relationship Id="rId7" Type="http://schemas.openxmlformats.org/officeDocument/2006/relationships/image" Target="../media/image51.png"/><Relationship Id="rId2" Type="http://schemas.openxmlformats.org/officeDocument/2006/relationships/image" Target="../media/image47.jpeg"/><Relationship Id="rId1" Type="http://schemas.openxmlformats.org/officeDocument/2006/relationships/slideLayout" Target="../slideLayouts/slideLayout4.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jpeg"/></Relationships>
</file>

<file path=ppt/slides/_rels/slide16.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1AF9E-33B5-38BE-81F0-7FB715D8AB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5934F5-5234-C355-52AE-B8405AEDA84F}"/>
              </a:ext>
            </a:extLst>
          </p:cNvPr>
          <p:cNvSpPr>
            <a:spLocks noGrp="1"/>
          </p:cNvSpPr>
          <p:nvPr>
            <p:ph type="ctrTitle"/>
          </p:nvPr>
        </p:nvSpPr>
        <p:spPr/>
        <p:txBody>
          <a:bodyPr>
            <a:normAutofit fontScale="90000"/>
          </a:bodyPr>
          <a:lstStyle/>
          <a:p>
            <a:r>
              <a:rPr lang="en-CA" dirty="0"/>
              <a:t>Sociotechnical Implications of RAG for Information Access</a:t>
            </a:r>
          </a:p>
        </p:txBody>
      </p:sp>
      <p:sp>
        <p:nvSpPr>
          <p:cNvPr id="3" name="Subtitle 2">
            <a:extLst>
              <a:ext uri="{FF2B5EF4-FFF2-40B4-BE49-F238E27FC236}">
                <a16:creationId xmlns:a16="http://schemas.microsoft.com/office/drawing/2014/main" id="{2E28B1B1-04FA-3065-9125-DB05E80B6674}"/>
              </a:ext>
            </a:extLst>
          </p:cNvPr>
          <p:cNvSpPr>
            <a:spLocks noGrp="1"/>
          </p:cNvSpPr>
          <p:nvPr>
            <p:ph type="subTitle" idx="1"/>
          </p:nvPr>
        </p:nvSpPr>
        <p:spPr>
          <a:xfrm>
            <a:off x="1524000" y="3903076"/>
            <a:ext cx="9144000" cy="1354723"/>
          </a:xfrm>
        </p:spPr>
        <p:txBody>
          <a:bodyPr/>
          <a:lstStyle/>
          <a:p>
            <a:r>
              <a:rPr lang="en-CA" dirty="0"/>
              <a:t>Bhaskar Mitra</a:t>
            </a:r>
          </a:p>
        </p:txBody>
      </p:sp>
      <p:grpSp>
        <p:nvGrpSpPr>
          <p:cNvPr id="20" name="Group 19">
            <a:extLst>
              <a:ext uri="{FF2B5EF4-FFF2-40B4-BE49-F238E27FC236}">
                <a16:creationId xmlns:a16="http://schemas.microsoft.com/office/drawing/2014/main" id="{BE717E26-C32F-5733-9250-1110752E791C}"/>
              </a:ext>
            </a:extLst>
          </p:cNvPr>
          <p:cNvGrpSpPr/>
          <p:nvPr/>
        </p:nvGrpSpPr>
        <p:grpSpPr>
          <a:xfrm>
            <a:off x="6710352" y="6359674"/>
            <a:ext cx="5372723" cy="369332"/>
            <a:chOff x="279374" y="6359674"/>
            <a:chExt cx="5372723" cy="369332"/>
          </a:xfrm>
        </p:grpSpPr>
        <p:sp>
          <p:nvSpPr>
            <p:cNvPr id="21" name="TextBox 20">
              <a:extLst>
                <a:ext uri="{FF2B5EF4-FFF2-40B4-BE49-F238E27FC236}">
                  <a16:creationId xmlns:a16="http://schemas.microsoft.com/office/drawing/2014/main" id="{D0F4855D-E7EF-53B8-E714-C25FCE42CB9E}"/>
                </a:ext>
              </a:extLst>
            </p:cNvPr>
            <p:cNvSpPr txBox="1"/>
            <p:nvPr/>
          </p:nvSpPr>
          <p:spPr>
            <a:xfrm>
              <a:off x="279374" y="6359674"/>
              <a:ext cx="2489251" cy="369332"/>
            </a:xfrm>
            <a:prstGeom prst="rect">
              <a:avLst/>
            </a:prstGeom>
            <a:noFill/>
          </p:spPr>
          <p:txBody>
            <a:bodyPr wrap="square">
              <a:spAutoFit/>
            </a:bodyPr>
            <a:lstStyle/>
            <a:p>
              <a:r>
                <a:rPr lang="en-CA" dirty="0">
                  <a:latin typeface="Aptos Light" panose="020B0004020202020204" pitchFamily="34" charset="0"/>
                </a:rPr>
                <a:t>       @bmitra.bsky.social</a:t>
              </a:r>
            </a:p>
          </p:txBody>
        </p:sp>
        <p:pic>
          <p:nvPicPr>
            <p:cNvPr id="22" name="Picture 21">
              <a:extLst>
                <a:ext uri="{FF2B5EF4-FFF2-40B4-BE49-F238E27FC236}">
                  <a16:creationId xmlns:a16="http://schemas.microsoft.com/office/drawing/2014/main" id="{45EA9BDB-ABEF-3C07-0BCC-6E8D1117DD5E}"/>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795286" y="6400340"/>
              <a:ext cx="375231" cy="288000"/>
            </a:xfrm>
            <a:prstGeom prst="rect">
              <a:avLst/>
            </a:prstGeom>
          </p:spPr>
        </p:pic>
        <p:pic>
          <p:nvPicPr>
            <p:cNvPr id="23" name="Picture 22">
              <a:extLst>
                <a:ext uri="{FF2B5EF4-FFF2-40B4-BE49-F238E27FC236}">
                  <a16:creationId xmlns:a16="http://schemas.microsoft.com/office/drawing/2014/main" id="{B858E101-0C22-2004-6A7D-BA1EDBF24D7B}"/>
                </a:ext>
              </a:extLst>
            </p:cNvPr>
            <p:cNvPicPr>
              <a:picLocks noChangeAspect="1"/>
            </p:cNvPicPr>
            <p:nvPr/>
          </p:nvPicPr>
          <p:blipFill>
            <a:blip r:embed="rId4">
              <a:duotone>
                <a:prstClr val="black"/>
                <a:schemeClr val="accent2">
                  <a:tint val="45000"/>
                  <a:satMod val="400000"/>
                </a:schemeClr>
              </a:duotone>
            </a:blip>
            <a:stretch>
              <a:fillRect/>
            </a:stretch>
          </p:blipFill>
          <p:spPr>
            <a:xfrm>
              <a:off x="306035" y="6401803"/>
              <a:ext cx="323116" cy="286537"/>
            </a:xfrm>
            <a:prstGeom prst="rect">
              <a:avLst/>
            </a:prstGeom>
          </p:spPr>
        </p:pic>
        <p:sp>
          <p:nvSpPr>
            <p:cNvPr id="24" name="TextBox 23">
              <a:extLst>
                <a:ext uri="{FF2B5EF4-FFF2-40B4-BE49-F238E27FC236}">
                  <a16:creationId xmlns:a16="http://schemas.microsoft.com/office/drawing/2014/main" id="{D3ECDC4C-E9D7-2DCB-9711-C0D045206672}"/>
                </a:ext>
              </a:extLst>
            </p:cNvPr>
            <p:cNvSpPr txBox="1"/>
            <p:nvPr/>
          </p:nvSpPr>
          <p:spPr>
            <a:xfrm>
              <a:off x="2795286" y="6359674"/>
              <a:ext cx="2856811" cy="369332"/>
            </a:xfrm>
            <a:prstGeom prst="rect">
              <a:avLst/>
            </a:prstGeom>
            <a:noFill/>
          </p:spPr>
          <p:txBody>
            <a:bodyPr wrap="square">
              <a:spAutoFit/>
            </a:bodyPr>
            <a:lstStyle/>
            <a:p>
              <a:r>
                <a:rPr lang="en-CA" dirty="0">
                  <a:latin typeface="Aptos Light" panose="020B0004020202020204" pitchFamily="34" charset="0"/>
                </a:rPr>
                <a:t>       bhaskar.mitra@acm.org</a:t>
              </a:r>
            </a:p>
          </p:txBody>
        </p:sp>
      </p:grpSp>
      <p:sp>
        <p:nvSpPr>
          <p:cNvPr id="5" name="TextBox 4">
            <a:extLst>
              <a:ext uri="{FF2B5EF4-FFF2-40B4-BE49-F238E27FC236}">
                <a16:creationId xmlns:a16="http://schemas.microsoft.com/office/drawing/2014/main" id="{61ED6588-4BCB-DED5-D8D7-44FAC5562669}"/>
              </a:ext>
            </a:extLst>
          </p:cNvPr>
          <p:cNvSpPr txBox="1"/>
          <p:nvPr/>
        </p:nvSpPr>
        <p:spPr>
          <a:xfrm>
            <a:off x="236900" y="6165120"/>
            <a:ext cx="3235428" cy="523220"/>
          </a:xfrm>
          <a:prstGeom prst="rect">
            <a:avLst/>
          </a:prstGeom>
          <a:solidFill>
            <a:schemeClr val="bg1">
              <a:lumMod val="95000"/>
            </a:schemeClr>
          </a:solidFill>
          <a:ln>
            <a:solidFill>
              <a:schemeClr val="tx1">
                <a:lumMod val="50000"/>
                <a:lumOff val="50000"/>
              </a:schemeClr>
            </a:solidFill>
          </a:ln>
        </p:spPr>
        <p:txBody>
          <a:bodyPr wrap="square">
            <a:spAutoFit/>
          </a:bodyPr>
          <a:lstStyle/>
          <a:p>
            <a:pPr>
              <a:buNone/>
            </a:pPr>
            <a:r>
              <a:rPr lang="en-US" sz="1400" i="0" dirty="0" err="1">
                <a:solidFill>
                  <a:srgbClr val="212529"/>
                </a:solidFill>
                <a:effectLst/>
                <a:latin typeface="+mj-lt"/>
              </a:rPr>
              <a:t>Dagstuhl</a:t>
            </a:r>
            <a:r>
              <a:rPr lang="en-US" sz="1400" i="0" dirty="0">
                <a:solidFill>
                  <a:srgbClr val="212529"/>
                </a:solidFill>
                <a:effectLst/>
                <a:latin typeface="+mj-lt"/>
              </a:rPr>
              <a:t> Seminar: </a:t>
            </a:r>
            <a:r>
              <a:rPr lang="en-US" sz="1400" i="1" dirty="0">
                <a:solidFill>
                  <a:srgbClr val="212529"/>
                </a:solidFill>
                <a:effectLst/>
                <a:latin typeface="+mj-lt"/>
              </a:rPr>
              <a:t>Retrieval-Augmented Generation – The Future of Search?</a:t>
            </a:r>
            <a:r>
              <a:rPr lang="en-US" sz="1400" i="0" dirty="0">
                <a:solidFill>
                  <a:srgbClr val="212529"/>
                </a:solidFill>
                <a:effectLst/>
                <a:latin typeface="+mj-lt"/>
              </a:rPr>
              <a:t> (2025)</a:t>
            </a:r>
          </a:p>
        </p:txBody>
      </p:sp>
    </p:spTree>
    <p:extLst>
      <p:ext uri="{BB962C8B-B14F-4D97-AF65-F5344CB8AC3E}">
        <p14:creationId xmlns:p14="http://schemas.microsoft.com/office/powerpoint/2010/main" val="29136261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CDFC6-4082-573D-B3C4-AFF09F3D76B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8B530F-93E1-29A2-5A72-BD90A7B8BFC8}"/>
              </a:ext>
            </a:extLst>
          </p:cNvPr>
          <p:cNvSpPr>
            <a:spLocks noGrp="1"/>
          </p:cNvSpPr>
          <p:nvPr>
            <p:ph idx="1"/>
          </p:nvPr>
        </p:nvSpPr>
        <p:spPr>
          <a:xfrm>
            <a:off x="838200" y="2660245"/>
            <a:ext cx="10515600" cy="1924029"/>
          </a:xfrm>
        </p:spPr>
        <p:txBody>
          <a:bodyPr anchor="ctr">
            <a:normAutofit/>
          </a:bodyPr>
          <a:lstStyle/>
          <a:p>
            <a:pPr marL="0" indent="0">
              <a:lnSpc>
                <a:spcPct val="100000"/>
              </a:lnSpc>
              <a:buNone/>
            </a:pPr>
            <a:r>
              <a:rPr lang="en-CA" sz="4000" dirty="0"/>
              <a:t>What societal risks comes to your mind when you think about RAG for information access?</a:t>
            </a:r>
          </a:p>
        </p:txBody>
      </p:sp>
      <p:sp>
        <p:nvSpPr>
          <p:cNvPr id="2" name="Title 1">
            <a:extLst>
              <a:ext uri="{FF2B5EF4-FFF2-40B4-BE49-F238E27FC236}">
                <a16:creationId xmlns:a16="http://schemas.microsoft.com/office/drawing/2014/main" id="{A2886FB7-181C-C5E3-66D9-B960844A8C28}"/>
              </a:ext>
            </a:extLst>
          </p:cNvPr>
          <p:cNvSpPr>
            <a:spLocks noGrp="1"/>
          </p:cNvSpPr>
          <p:nvPr>
            <p:ph type="title"/>
          </p:nvPr>
        </p:nvSpPr>
        <p:spPr>
          <a:xfrm>
            <a:off x="838200" y="1780931"/>
            <a:ext cx="10515600" cy="1325563"/>
          </a:xfrm>
        </p:spPr>
        <p:txBody>
          <a:bodyPr>
            <a:normAutofit/>
          </a:bodyPr>
          <a:lstStyle/>
          <a:p>
            <a:r>
              <a:rPr lang="en-CA" sz="3200" b="1" dirty="0"/>
              <a:t>Question for the audience</a:t>
            </a:r>
          </a:p>
        </p:txBody>
      </p:sp>
    </p:spTree>
    <p:extLst>
      <p:ext uri="{BB962C8B-B14F-4D97-AF65-F5344CB8AC3E}">
        <p14:creationId xmlns:p14="http://schemas.microsoft.com/office/powerpoint/2010/main" val="14464352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4ED63-7225-2BD7-A267-645ECFD68E7D}"/>
            </a:ext>
          </a:extLst>
        </p:cNvPr>
        <p:cNvGrpSpPr/>
        <p:nvPr/>
      </p:nvGrpSpPr>
      <p:grpSpPr>
        <a:xfrm>
          <a:off x="0" y="0"/>
          <a:ext cx="0" cy="0"/>
          <a:chOff x="0" y="0"/>
          <a:chExt cx="0" cy="0"/>
        </a:xfrm>
      </p:grpSpPr>
      <p:pic>
        <p:nvPicPr>
          <p:cNvPr id="1026" name="Picture 2" descr="Book cover">
            <a:extLst>
              <a:ext uri="{FF2B5EF4-FFF2-40B4-BE49-F238E27FC236}">
                <a16:creationId xmlns:a16="http://schemas.microsoft.com/office/drawing/2014/main" id="{D33729E5-71C8-E4ED-88A2-B40F983FB8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9194" y="465827"/>
            <a:ext cx="3691586" cy="5736566"/>
          </a:xfrm>
          <a:prstGeom prst="rect">
            <a:avLst/>
          </a:prstGeom>
          <a:ln w="19050">
            <a:solidFill>
              <a:schemeClr val="tx1">
                <a:lumMod val="50000"/>
                <a:lumOff val="50000"/>
              </a:schemeClr>
            </a:solid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2C9AFD54-CC02-25D4-837C-C700E2F50B10}"/>
              </a:ext>
            </a:extLst>
          </p:cNvPr>
          <p:cNvPicPr>
            <a:picLocks noChangeAspect="1"/>
          </p:cNvPicPr>
          <p:nvPr/>
        </p:nvPicPr>
        <p:blipFill>
          <a:blip r:embed="rId4"/>
          <a:stretch>
            <a:fillRect/>
          </a:stretch>
        </p:blipFill>
        <p:spPr>
          <a:xfrm>
            <a:off x="5011947" y="1245865"/>
            <a:ext cx="6567943" cy="3987884"/>
          </a:xfrm>
          <a:custGeom>
            <a:avLst/>
            <a:gdLst>
              <a:gd name="connsiteX0" fmla="*/ 0 w 6567943"/>
              <a:gd name="connsiteY0" fmla="*/ 0 h 3987884"/>
              <a:gd name="connsiteX1" fmla="*/ 597086 w 6567943"/>
              <a:gd name="connsiteY1" fmla="*/ 0 h 3987884"/>
              <a:gd name="connsiteX2" fmla="*/ 997133 w 6567943"/>
              <a:gd name="connsiteY2" fmla="*/ 0 h 3987884"/>
              <a:gd name="connsiteX3" fmla="*/ 1594219 w 6567943"/>
              <a:gd name="connsiteY3" fmla="*/ 0 h 3987884"/>
              <a:gd name="connsiteX4" fmla="*/ 2191305 w 6567943"/>
              <a:gd name="connsiteY4" fmla="*/ 0 h 3987884"/>
              <a:gd name="connsiteX5" fmla="*/ 2788390 w 6567943"/>
              <a:gd name="connsiteY5" fmla="*/ 0 h 3987884"/>
              <a:gd name="connsiteX6" fmla="*/ 3319797 w 6567943"/>
              <a:gd name="connsiteY6" fmla="*/ 0 h 3987884"/>
              <a:gd name="connsiteX7" fmla="*/ 4048241 w 6567943"/>
              <a:gd name="connsiteY7" fmla="*/ 0 h 3987884"/>
              <a:gd name="connsiteX8" fmla="*/ 4645327 w 6567943"/>
              <a:gd name="connsiteY8" fmla="*/ 0 h 3987884"/>
              <a:gd name="connsiteX9" fmla="*/ 5242413 w 6567943"/>
              <a:gd name="connsiteY9" fmla="*/ 0 h 3987884"/>
              <a:gd name="connsiteX10" fmla="*/ 5905178 w 6567943"/>
              <a:gd name="connsiteY10" fmla="*/ 0 h 3987884"/>
              <a:gd name="connsiteX11" fmla="*/ 6567943 w 6567943"/>
              <a:gd name="connsiteY11" fmla="*/ 0 h 3987884"/>
              <a:gd name="connsiteX12" fmla="*/ 6567943 w 6567943"/>
              <a:gd name="connsiteY12" fmla="*/ 569698 h 3987884"/>
              <a:gd name="connsiteX13" fmla="*/ 6567943 w 6567943"/>
              <a:gd name="connsiteY13" fmla="*/ 1219153 h 3987884"/>
              <a:gd name="connsiteX14" fmla="*/ 6567943 w 6567943"/>
              <a:gd name="connsiteY14" fmla="*/ 1828730 h 3987884"/>
              <a:gd name="connsiteX15" fmla="*/ 6567943 w 6567943"/>
              <a:gd name="connsiteY15" fmla="*/ 2398427 h 3987884"/>
              <a:gd name="connsiteX16" fmla="*/ 6567943 w 6567943"/>
              <a:gd name="connsiteY16" fmla="*/ 2888367 h 3987884"/>
              <a:gd name="connsiteX17" fmla="*/ 6567943 w 6567943"/>
              <a:gd name="connsiteY17" fmla="*/ 3338429 h 3987884"/>
              <a:gd name="connsiteX18" fmla="*/ 6567943 w 6567943"/>
              <a:gd name="connsiteY18" fmla="*/ 3987884 h 3987884"/>
              <a:gd name="connsiteX19" fmla="*/ 6036537 w 6567943"/>
              <a:gd name="connsiteY19" fmla="*/ 3987884 h 3987884"/>
              <a:gd name="connsiteX20" fmla="*/ 5439451 w 6567943"/>
              <a:gd name="connsiteY20" fmla="*/ 3987884 h 3987884"/>
              <a:gd name="connsiteX21" fmla="*/ 5039404 w 6567943"/>
              <a:gd name="connsiteY21" fmla="*/ 3987884 h 3987884"/>
              <a:gd name="connsiteX22" fmla="*/ 4507997 w 6567943"/>
              <a:gd name="connsiteY22" fmla="*/ 3987884 h 3987884"/>
              <a:gd name="connsiteX23" fmla="*/ 4107950 w 6567943"/>
              <a:gd name="connsiteY23" fmla="*/ 3987884 h 3987884"/>
              <a:gd name="connsiteX24" fmla="*/ 3379505 w 6567943"/>
              <a:gd name="connsiteY24" fmla="*/ 3987884 h 3987884"/>
              <a:gd name="connsiteX25" fmla="*/ 2913778 w 6567943"/>
              <a:gd name="connsiteY25" fmla="*/ 3987884 h 3987884"/>
              <a:gd name="connsiteX26" fmla="*/ 2382372 w 6567943"/>
              <a:gd name="connsiteY26" fmla="*/ 3987884 h 3987884"/>
              <a:gd name="connsiteX27" fmla="*/ 1850966 w 6567943"/>
              <a:gd name="connsiteY27" fmla="*/ 3987884 h 3987884"/>
              <a:gd name="connsiteX28" fmla="*/ 1188201 w 6567943"/>
              <a:gd name="connsiteY28" fmla="*/ 3987884 h 3987884"/>
              <a:gd name="connsiteX29" fmla="*/ 788153 w 6567943"/>
              <a:gd name="connsiteY29" fmla="*/ 3987884 h 3987884"/>
              <a:gd name="connsiteX30" fmla="*/ 0 w 6567943"/>
              <a:gd name="connsiteY30" fmla="*/ 3987884 h 3987884"/>
              <a:gd name="connsiteX31" fmla="*/ 0 w 6567943"/>
              <a:gd name="connsiteY31" fmla="*/ 3418186 h 3987884"/>
              <a:gd name="connsiteX32" fmla="*/ 0 w 6567943"/>
              <a:gd name="connsiteY32" fmla="*/ 2968125 h 3987884"/>
              <a:gd name="connsiteX33" fmla="*/ 0 w 6567943"/>
              <a:gd name="connsiteY33" fmla="*/ 2438306 h 3987884"/>
              <a:gd name="connsiteX34" fmla="*/ 0 w 6567943"/>
              <a:gd name="connsiteY34" fmla="*/ 1908487 h 3987884"/>
              <a:gd name="connsiteX35" fmla="*/ 0 w 6567943"/>
              <a:gd name="connsiteY35" fmla="*/ 1458426 h 3987884"/>
              <a:gd name="connsiteX36" fmla="*/ 0 w 6567943"/>
              <a:gd name="connsiteY36" fmla="*/ 808971 h 3987884"/>
              <a:gd name="connsiteX37" fmla="*/ 0 w 6567943"/>
              <a:gd name="connsiteY37" fmla="*/ 0 h 3987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6567943" h="3987884" fill="none" extrusionOk="0">
                <a:moveTo>
                  <a:pt x="0" y="0"/>
                </a:moveTo>
                <a:cubicBezTo>
                  <a:pt x="128396" y="-6797"/>
                  <a:pt x="448697" y="70927"/>
                  <a:pt x="597086" y="0"/>
                </a:cubicBezTo>
                <a:cubicBezTo>
                  <a:pt x="745475" y="-70927"/>
                  <a:pt x="808125" y="2113"/>
                  <a:pt x="997133" y="0"/>
                </a:cubicBezTo>
                <a:cubicBezTo>
                  <a:pt x="1186141" y="-2113"/>
                  <a:pt x="1332090" y="64081"/>
                  <a:pt x="1594219" y="0"/>
                </a:cubicBezTo>
                <a:cubicBezTo>
                  <a:pt x="1856348" y="-64081"/>
                  <a:pt x="2023343" y="50087"/>
                  <a:pt x="2191305" y="0"/>
                </a:cubicBezTo>
                <a:cubicBezTo>
                  <a:pt x="2359267" y="-50087"/>
                  <a:pt x="2519001" y="61944"/>
                  <a:pt x="2788390" y="0"/>
                </a:cubicBezTo>
                <a:cubicBezTo>
                  <a:pt x="3057779" y="-61944"/>
                  <a:pt x="3122098" y="3521"/>
                  <a:pt x="3319797" y="0"/>
                </a:cubicBezTo>
                <a:cubicBezTo>
                  <a:pt x="3517496" y="-3521"/>
                  <a:pt x="3859101" y="42647"/>
                  <a:pt x="4048241" y="0"/>
                </a:cubicBezTo>
                <a:cubicBezTo>
                  <a:pt x="4237381" y="-42647"/>
                  <a:pt x="4417048" y="70023"/>
                  <a:pt x="4645327" y="0"/>
                </a:cubicBezTo>
                <a:cubicBezTo>
                  <a:pt x="4873606" y="-70023"/>
                  <a:pt x="4966762" y="49152"/>
                  <a:pt x="5242413" y="0"/>
                </a:cubicBezTo>
                <a:cubicBezTo>
                  <a:pt x="5518064" y="-49152"/>
                  <a:pt x="5576829" y="15559"/>
                  <a:pt x="5905178" y="0"/>
                </a:cubicBezTo>
                <a:cubicBezTo>
                  <a:pt x="6233527" y="-15559"/>
                  <a:pt x="6255274" y="64465"/>
                  <a:pt x="6567943" y="0"/>
                </a:cubicBezTo>
                <a:cubicBezTo>
                  <a:pt x="6568173" y="135182"/>
                  <a:pt x="6564874" y="382871"/>
                  <a:pt x="6567943" y="569698"/>
                </a:cubicBezTo>
                <a:cubicBezTo>
                  <a:pt x="6571012" y="756525"/>
                  <a:pt x="6506937" y="975318"/>
                  <a:pt x="6567943" y="1219153"/>
                </a:cubicBezTo>
                <a:cubicBezTo>
                  <a:pt x="6628949" y="1462988"/>
                  <a:pt x="6496338" y="1670936"/>
                  <a:pt x="6567943" y="1828730"/>
                </a:cubicBezTo>
                <a:cubicBezTo>
                  <a:pt x="6639548" y="1986524"/>
                  <a:pt x="6521936" y="2159137"/>
                  <a:pt x="6567943" y="2398427"/>
                </a:cubicBezTo>
                <a:cubicBezTo>
                  <a:pt x="6613950" y="2637717"/>
                  <a:pt x="6522661" y="2661609"/>
                  <a:pt x="6567943" y="2888367"/>
                </a:cubicBezTo>
                <a:cubicBezTo>
                  <a:pt x="6613225" y="3115125"/>
                  <a:pt x="6533378" y="3243298"/>
                  <a:pt x="6567943" y="3338429"/>
                </a:cubicBezTo>
                <a:cubicBezTo>
                  <a:pt x="6602508" y="3433560"/>
                  <a:pt x="6535372" y="3817071"/>
                  <a:pt x="6567943" y="3987884"/>
                </a:cubicBezTo>
                <a:cubicBezTo>
                  <a:pt x="6437022" y="4048900"/>
                  <a:pt x="6205277" y="3927122"/>
                  <a:pt x="6036537" y="3987884"/>
                </a:cubicBezTo>
                <a:cubicBezTo>
                  <a:pt x="5867797" y="4048646"/>
                  <a:pt x="5719443" y="3947909"/>
                  <a:pt x="5439451" y="3987884"/>
                </a:cubicBezTo>
                <a:cubicBezTo>
                  <a:pt x="5159459" y="4027859"/>
                  <a:pt x="5199149" y="3983253"/>
                  <a:pt x="5039404" y="3987884"/>
                </a:cubicBezTo>
                <a:cubicBezTo>
                  <a:pt x="4879659" y="3992515"/>
                  <a:pt x="4661166" y="3939817"/>
                  <a:pt x="4507997" y="3987884"/>
                </a:cubicBezTo>
                <a:cubicBezTo>
                  <a:pt x="4354828" y="4035951"/>
                  <a:pt x="4274481" y="3970203"/>
                  <a:pt x="4107950" y="3987884"/>
                </a:cubicBezTo>
                <a:cubicBezTo>
                  <a:pt x="3941419" y="4005565"/>
                  <a:pt x="3727700" y="3966293"/>
                  <a:pt x="3379505" y="3987884"/>
                </a:cubicBezTo>
                <a:cubicBezTo>
                  <a:pt x="3031311" y="4009475"/>
                  <a:pt x="3008057" y="3939952"/>
                  <a:pt x="2913778" y="3987884"/>
                </a:cubicBezTo>
                <a:cubicBezTo>
                  <a:pt x="2819499" y="4035816"/>
                  <a:pt x="2568230" y="3936639"/>
                  <a:pt x="2382372" y="3987884"/>
                </a:cubicBezTo>
                <a:cubicBezTo>
                  <a:pt x="2196514" y="4039129"/>
                  <a:pt x="2053684" y="3978906"/>
                  <a:pt x="1850966" y="3987884"/>
                </a:cubicBezTo>
                <a:cubicBezTo>
                  <a:pt x="1648248" y="3996862"/>
                  <a:pt x="1331370" y="3945535"/>
                  <a:pt x="1188201" y="3987884"/>
                </a:cubicBezTo>
                <a:cubicBezTo>
                  <a:pt x="1045033" y="4030233"/>
                  <a:pt x="971036" y="3981631"/>
                  <a:pt x="788153" y="3987884"/>
                </a:cubicBezTo>
                <a:cubicBezTo>
                  <a:pt x="605270" y="3994137"/>
                  <a:pt x="271995" y="3976377"/>
                  <a:pt x="0" y="3987884"/>
                </a:cubicBezTo>
                <a:cubicBezTo>
                  <a:pt x="-3713" y="3873269"/>
                  <a:pt x="2111" y="3656663"/>
                  <a:pt x="0" y="3418186"/>
                </a:cubicBezTo>
                <a:cubicBezTo>
                  <a:pt x="-2111" y="3179709"/>
                  <a:pt x="43672" y="3108026"/>
                  <a:pt x="0" y="2968125"/>
                </a:cubicBezTo>
                <a:cubicBezTo>
                  <a:pt x="-43672" y="2828224"/>
                  <a:pt x="5057" y="2659220"/>
                  <a:pt x="0" y="2438306"/>
                </a:cubicBezTo>
                <a:cubicBezTo>
                  <a:pt x="-5057" y="2217392"/>
                  <a:pt x="19267" y="2165427"/>
                  <a:pt x="0" y="1908487"/>
                </a:cubicBezTo>
                <a:cubicBezTo>
                  <a:pt x="-19267" y="1651547"/>
                  <a:pt x="7347" y="1551286"/>
                  <a:pt x="0" y="1458426"/>
                </a:cubicBezTo>
                <a:cubicBezTo>
                  <a:pt x="-7347" y="1365566"/>
                  <a:pt x="77752" y="1084502"/>
                  <a:pt x="0" y="808971"/>
                </a:cubicBezTo>
                <a:cubicBezTo>
                  <a:pt x="-77752" y="533440"/>
                  <a:pt x="18951" y="235671"/>
                  <a:pt x="0" y="0"/>
                </a:cubicBezTo>
                <a:close/>
              </a:path>
              <a:path w="6567943" h="3987884" stroke="0" extrusionOk="0">
                <a:moveTo>
                  <a:pt x="0" y="0"/>
                </a:moveTo>
                <a:cubicBezTo>
                  <a:pt x="255293" y="-44022"/>
                  <a:pt x="391944" y="30196"/>
                  <a:pt x="597086" y="0"/>
                </a:cubicBezTo>
                <a:cubicBezTo>
                  <a:pt x="802228" y="-30196"/>
                  <a:pt x="1064857" y="16897"/>
                  <a:pt x="1259851" y="0"/>
                </a:cubicBezTo>
                <a:cubicBezTo>
                  <a:pt x="1454845" y="-16897"/>
                  <a:pt x="1578247" y="10317"/>
                  <a:pt x="1856937" y="0"/>
                </a:cubicBezTo>
                <a:cubicBezTo>
                  <a:pt x="2135627" y="-10317"/>
                  <a:pt x="2274190" y="9020"/>
                  <a:pt x="2519702" y="0"/>
                </a:cubicBezTo>
                <a:cubicBezTo>
                  <a:pt x="2765215" y="-9020"/>
                  <a:pt x="2843026" y="8648"/>
                  <a:pt x="2985429" y="0"/>
                </a:cubicBezTo>
                <a:cubicBezTo>
                  <a:pt x="3127832" y="-8648"/>
                  <a:pt x="3421272" y="72801"/>
                  <a:pt x="3648194" y="0"/>
                </a:cubicBezTo>
                <a:cubicBezTo>
                  <a:pt x="3875117" y="-72801"/>
                  <a:pt x="4122393" y="318"/>
                  <a:pt x="4245280" y="0"/>
                </a:cubicBezTo>
                <a:cubicBezTo>
                  <a:pt x="4368167" y="-318"/>
                  <a:pt x="4652041" y="49556"/>
                  <a:pt x="4908045" y="0"/>
                </a:cubicBezTo>
                <a:cubicBezTo>
                  <a:pt x="5164050" y="-49556"/>
                  <a:pt x="5356602" y="47476"/>
                  <a:pt x="5570810" y="0"/>
                </a:cubicBezTo>
                <a:cubicBezTo>
                  <a:pt x="5785019" y="-47476"/>
                  <a:pt x="5871213" y="3121"/>
                  <a:pt x="5970857" y="0"/>
                </a:cubicBezTo>
                <a:cubicBezTo>
                  <a:pt x="6070501" y="-3121"/>
                  <a:pt x="6369390" y="24907"/>
                  <a:pt x="6567943" y="0"/>
                </a:cubicBezTo>
                <a:cubicBezTo>
                  <a:pt x="6614958" y="166605"/>
                  <a:pt x="6550903" y="328504"/>
                  <a:pt x="6567943" y="529819"/>
                </a:cubicBezTo>
                <a:cubicBezTo>
                  <a:pt x="6584983" y="731134"/>
                  <a:pt x="6544891" y="970802"/>
                  <a:pt x="6567943" y="1099517"/>
                </a:cubicBezTo>
                <a:cubicBezTo>
                  <a:pt x="6590995" y="1228232"/>
                  <a:pt x="6492854" y="1580987"/>
                  <a:pt x="6567943" y="1748972"/>
                </a:cubicBezTo>
                <a:cubicBezTo>
                  <a:pt x="6643032" y="1916958"/>
                  <a:pt x="6547641" y="2206395"/>
                  <a:pt x="6567943" y="2398427"/>
                </a:cubicBezTo>
                <a:cubicBezTo>
                  <a:pt x="6588245" y="2590459"/>
                  <a:pt x="6527984" y="2724545"/>
                  <a:pt x="6567943" y="2848489"/>
                </a:cubicBezTo>
                <a:cubicBezTo>
                  <a:pt x="6607902" y="2972433"/>
                  <a:pt x="6536064" y="3223561"/>
                  <a:pt x="6567943" y="3458065"/>
                </a:cubicBezTo>
                <a:cubicBezTo>
                  <a:pt x="6599822" y="3692569"/>
                  <a:pt x="6514349" y="3845470"/>
                  <a:pt x="6567943" y="3987884"/>
                </a:cubicBezTo>
                <a:cubicBezTo>
                  <a:pt x="6335403" y="4035544"/>
                  <a:pt x="6149096" y="3931062"/>
                  <a:pt x="5905178" y="3987884"/>
                </a:cubicBezTo>
                <a:cubicBezTo>
                  <a:pt x="5661261" y="4044706"/>
                  <a:pt x="5327487" y="3936640"/>
                  <a:pt x="5176733" y="3987884"/>
                </a:cubicBezTo>
                <a:cubicBezTo>
                  <a:pt x="5025980" y="4039128"/>
                  <a:pt x="4597985" y="3974116"/>
                  <a:pt x="4448289" y="3987884"/>
                </a:cubicBezTo>
                <a:cubicBezTo>
                  <a:pt x="4298593" y="4001652"/>
                  <a:pt x="4061633" y="3952071"/>
                  <a:pt x="3916882" y="3987884"/>
                </a:cubicBezTo>
                <a:cubicBezTo>
                  <a:pt x="3772131" y="4023697"/>
                  <a:pt x="3644493" y="3939300"/>
                  <a:pt x="3451156" y="3987884"/>
                </a:cubicBezTo>
                <a:cubicBezTo>
                  <a:pt x="3257819" y="4036468"/>
                  <a:pt x="3154107" y="3965887"/>
                  <a:pt x="3051108" y="3987884"/>
                </a:cubicBezTo>
                <a:cubicBezTo>
                  <a:pt x="2948109" y="4009881"/>
                  <a:pt x="2609691" y="3959514"/>
                  <a:pt x="2388343" y="3987884"/>
                </a:cubicBezTo>
                <a:cubicBezTo>
                  <a:pt x="2166995" y="4016254"/>
                  <a:pt x="2117876" y="3975098"/>
                  <a:pt x="1988295" y="3987884"/>
                </a:cubicBezTo>
                <a:cubicBezTo>
                  <a:pt x="1858714" y="4000670"/>
                  <a:pt x="1652504" y="3950779"/>
                  <a:pt x="1522569" y="3987884"/>
                </a:cubicBezTo>
                <a:cubicBezTo>
                  <a:pt x="1392634" y="4024989"/>
                  <a:pt x="1277393" y="3965244"/>
                  <a:pt x="1122521" y="3987884"/>
                </a:cubicBezTo>
                <a:cubicBezTo>
                  <a:pt x="967649" y="4010524"/>
                  <a:pt x="480429" y="3895869"/>
                  <a:pt x="0" y="3987884"/>
                </a:cubicBezTo>
                <a:cubicBezTo>
                  <a:pt x="-28076" y="3837366"/>
                  <a:pt x="13868" y="3693023"/>
                  <a:pt x="0" y="3497944"/>
                </a:cubicBezTo>
                <a:cubicBezTo>
                  <a:pt x="-13868" y="3302865"/>
                  <a:pt x="1530" y="3219536"/>
                  <a:pt x="0" y="3047883"/>
                </a:cubicBezTo>
                <a:cubicBezTo>
                  <a:pt x="-1530" y="2876230"/>
                  <a:pt x="16769" y="2572969"/>
                  <a:pt x="0" y="2398427"/>
                </a:cubicBezTo>
                <a:cubicBezTo>
                  <a:pt x="-16769" y="2223885"/>
                  <a:pt x="6963" y="2146332"/>
                  <a:pt x="0" y="1908487"/>
                </a:cubicBezTo>
                <a:cubicBezTo>
                  <a:pt x="-6963" y="1670642"/>
                  <a:pt x="46023" y="1578459"/>
                  <a:pt x="0" y="1298911"/>
                </a:cubicBezTo>
                <a:cubicBezTo>
                  <a:pt x="-46023" y="1019363"/>
                  <a:pt x="48485" y="1051182"/>
                  <a:pt x="0" y="808971"/>
                </a:cubicBezTo>
                <a:cubicBezTo>
                  <a:pt x="-48485" y="566760"/>
                  <a:pt x="39891" y="221776"/>
                  <a:pt x="0" y="0"/>
                </a:cubicBezTo>
                <a:close/>
              </a:path>
            </a:pathLst>
          </a:custGeom>
          <a:ln>
            <a:solidFill>
              <a:schemeClr val="tx1"/>
            </a:solidFill>
            <a:extLst>
              <a:ext uri="{C807C97D-BFC1-408E-A445-0C87EB9F89A2}">
                <ask:lineSketchStyleProps xmlns:ask="http://schemas.microsoft.com/office/drawing/2018/sketchyshapes" sd="411319610">
                  <a:prstGeom prst="rect">
                    <a:avLst/>
                  </a:prstGeom>
                  <ask:type>
                    <ask:lineSketchScribble/>
                  </ask:type>
                </ask:lineSketchStyleProps>
              </a:ext>
            </a:extLst>
          </a:ln>
        </p:spPr>
      </p:pic>
      <p:sp>
        <p:nvSpPr>
          <p:cNvPr id="4" name="TextBox 3">
            <a:extLst>
              <a:ext uri="{FF2B5EF4-FFF2-40B4-BE49-F238E27FC236}">
                <a16:creationId xmlns:a16="http://schemas.microsoft.com/office/drawing/2014/main" id="{10ED1C65-6AA9-1992-4B39-2626FAB95237}"/>
              </a:ext>
            </a:extLst>
          </p:cNvPr>
          <p:cNvSpPr txBox="1"/>
          <p:nvPr/>
        </p:nvSpPr>
        <p:spPr>
          <a:xfrm>
            <a:off x="499194" y="188828"/>
            <a:ext cx="3691586" cy="276999"/>
          </a:xfrm>
          <a:prstGeom prst="rect">
            <a:avLst/>
          </a:prstGeom>
          <a:noFill/>
        </p:spPr>
        <p:txBody>
          <a:bodyPr wrap="square">
            <a:spAutoFit/>
          </a:bodyPr>
          <a:lstStyle/>
          <a:p>
            <a:pPr algn="ctr"/>
            <a:r>
              <a:rPr lang="en-CA" sz="1200" dirty="0">
                <a:hlinkClick r:id="rId5"/>
              </a:rPr>
              <a:t>https://link.springer.com/book/9783031731464</a:t>
            </a:r>
            <a:endParaRPr lang="en-CA" sz="1200" dirty="0"/>
          </a:p>
        </p:txBody>
      </p:sp>
      <p:sp>
        <p:nvSpPr>
          <p:cNvPr id="8" name="TextBox 7">
            <a:extLst>
              <a:ext uri="{FF2B5EF4-FFF2-40B4-BE49-F238E27FC236}">
                <a16:creationId xmlns:a16="http://schemas.microsoft.com/office/drawing/2014/main" id="{E4142E8E-E1DD-B228-E4E2-8AA10DA9573F}"/>
              </a:ext>
            </a:extLst>
          </p:cNvPr>
          <p:cNvSpPr txBox="1"/>
          <p:nvPr/>
        </p:nvSpPr>
        <p:spPr>
          <a:xfrm>
            <a:off x="0" y="6581001"/>
            <a:ext cx="12192000" cy="276999"/>
          </a:xfrm>
          <a:prstGeom prst="rect">
            <a:avLst/>
          </a:prstGeom>
          <a:noFill/>
        </p:spPr>
        <p:txBody>
          <a:bodyPr wrap="square" anchor="b">
            <a:spAutoFit/>
          </a:bodyPr>
          <a:lstStyle/>
          <a:p>
            <a:pPr algn="ctr"/>
            <a:r>
              <a:rPr lang="en-US" sz="1200" dirty="0"/>
              <a:t>Mitra, </a:t>
            </a:r>
            <a:r>
              <a:rPr lang="en-CA" sz="1200" dirty="0"/>
              <a:t>Cramer, </a:t>
            </a:r>
            <a:r>
              <a:rPr lang="en-US" sz="1200" dirty="0"/>
              <a:t>&amp; </a:t>
            </a:r>
            <a:r>
              <a:rPr lang="en-CA" sz="1200" dirty="0"/>
              <a:t>Gurevich</a:t>
            </a:r>
            <a:r>
              <a:rPr lang="en-US" sz="1200" dirty="0"/>
              <a:t>. </a:t>
            </a:r>
            <a:r>
              <a:rPr lang="en-US" sz="1200" dirty="0">
                <a:hlinkClick r:id="rId6"/>
              </a:rPr>
              <a:t>Sociotechnical implications of generative artificial intelligence for information access</a:t>
            </a:r>
            <a:r>
              <a:rPr lang="en-US" sz="1200" dirty="0"/>
              <a:t>. Book chapter, Springer Nature, 2025.</a:t>
            </a:r>
            <a:endParaRPr lang="en-CA" sz="1200" dirty="0"/>
          </a:p>
        </p:txBody>
      </p:sp>
    </p:spTree>
    <p:extLst>
      <p:ext uri="{BB962C8B-B14F-4D97-AF65-F5344CB8AC3E}">
        <p14:creationId xmlns:p14="http://schemas.microsoft.com/office/powerpoint/2010/main" val="17259268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512D1-1A56-594A-03F6-35A715717AE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C1A65FF-320E-D980-0789-58BF227D78D0}"/>
              </a:ext>
            </a:extLst>
          </p:cNvPr>
          <p:cNvSpPr>
            <a:spLocks noGrp="1"/>
          </p:cNvSpPr>
          <p:nvPr>
            <p:ph type="title"/>
          </p:nvPr>
        </p:nvSpPr>
        <p:spPr/>
        <p:txBody>
          <a:bodyPr>
            <a:normAutofit/>
          </a:bodyPr>
          <a:lstStyle/>
          <a:p>
            <a:r>
              <a:rPr lang="en-CA" sz="4000" strike="sngStrike" dirty="0"/>
              <a:t>Hallucinations</a:t>
            </a:r>
            <a:r>
              <a:rPr lang="en-CA" sz="4000" dirty="0"/>
              <a:t> </a:t>
            </a:r>
            <a:r>
              <a:rPr lang="en-US" sz="4000" dirty="0"/>
              <a:t>The “Game of Telephone” Effect</a:t>
            </a:r>
            <a:endParaRPr lang="en-CA" sz="4000" dirty="0"/>
          </a:p>
        </p:txBody>
      </p:sp>
      <p:sp>
        <p:nvSpPr>
          <p:cNvPr id="6" name="Content Placeholder 5">
            <a:extLst>
              <a:ext uri="{FF2B5EF4-FFF2-40B4-BE49-F238E27FC236}">
                <a16:creationId xmlns:a16="http://schemas.microsoft.com/office/drawing/2014/main" id="{FA5197BC-9467-315C-DB93-20F17B479270}"/>
              </a:ext>
            </a:extLst>
          </p:cNvPr>
          <p:cNvSpPr>
            <a:spLocks noGrp="1"/>
          </p:cNvSpPr>
          <p:nvPr>
            <p:ph sz="half" idx="2"/>
          </p:nvPr>
        </p:nvSpPr>
        <p:spPr>
          <a:xfrm>
            <a:off x="839788" y="3202124"/>
            <a:ext cx="4221162" cy="2408029"/>
          </a:xfrm>
        </p:spPr>
        <p:txBody>
          <a:bodyPr>
            <a:noAutofit/>
          </a:bodyPr>
          <a:lstStyle/>
          <a:p>
            <a:pPr marL="0" indent="0">
              <a:lnSpc>
                <a:spcPct val="100000"/>
              </a:lnSpc>
              <a:buNone/>
            </a:pPr>
            <a:r>
              <a:rPr lang="en-CA" sz="1800" i="1" dirty="0">
                <a:latin typeface="Aptos SemiBold" panose="020B0004020202020204" pitchFamily="34" charset="0"/>
              </a:rPr>
              <a:t>Why misleading?</a:t>
            </a:r>
            <a:r>
              <a:rPr lang="en-CA" sz="1800" dirty="0"/>
              <a:t>  </a:t>
            </a:r>
            <a:r>
              <a:rPr lang="en-US" sz="1800" dirty="0"/>
              <a:t>It describes the problem as a gap between reality and anthropomorphized expectations of what the LLM should do; whereas the real gap is between those expectations ("generate factual outputs") and what the model is trained to do ("estimate likelihoods of token sequences")</a:t>
            </a:r>
            <a:endParaRPr lang="en-CA" sz="1800" dirty="0"/>
          </a:p>
        </p:txBody>
      </p:sp>
      <p:sp>
        <p:nvSpPr>
          <p:cNvPr id="8" name="Content Placeholder 7">
            <a:extLst>
              <a:ext uri="{FF2B5EF4-FFF2-40B4-BE49-F238E27FC236}">
                <a16:creationId xmlns:a16="http://schemas.microsoft.com/office/drawing/2014/main" id="{31AA2701-6086-2F4A-6413-242A78978C5F}"/>
              </a:ext>
            </a:extLst>
          </p:cNvPr>
          <p:cNvSpPr>
            <a:spLocks noGrp="1"/>
          </p:cNvSpPr>
          <p:nvPr>
            <p:ph sz="quarter" idx="4"/>
          </p:nvPr>
        </p:nvSpPr>
        <p:spPr>
          <a:xfrm>
            <a:off x="5251450" y="3202124"/>
            <a:ext cx="6103938" cy="3508059"/>
          </a:xfrm>
        </p:spPr>
        <p:txBody>
          <a:bodyPr vert="horz" lIns="91440" tIns="45720" rIns="91440" bIns="45720" rtlCol="0">
            <a:noAutofit/>
          </a:bodyPr>
          <a:lstStyle/>
          <a:p>
            <a:pPr marL="0" indent="0">
              <a:lnSpc>
                <a:spcPct val="100000"/>
              </a:lnSpc>
              <a:buNone/>
            </a:pPr>
            <a:r>
              <a:rPr lang="en-CA" sz="1800" i="1" dirty="0">
                <a:latin typeface="Aptos SemiBold" panose="020B0004020202020204" pitchFamily="34" charset="0"/>
              </a:rPr>
              <a:t>The deeper problem.</a:t>
            </a:r>
            <a:r>
              <a:rPr lang="en-CA" sz="1800" dirty="0"/>
              <a:t>  I</a:t>
            </a:r>
            <a:r>
              <a:rPr lang="en-US" sz="1800" dirty="0"/>
              <a:t>nserting an LLM between searcher and retrieved web results shifts the responsibility of inspecting the information in the documents and assessing their relevance, trustworthiness, and surrounding context from the searcher to the LLM</a:t>
            </a:r>
          </a:p>
          <a:p>
            <a:pPr marL="0" indent="0">
              <a:lnSpc>
                <a:spcPct val="100000"/>
              </a:lnSpc>
              <a:buNone/>
            </a:pPr>
            <a:r>
              <a:rPr lang="en-US" sz="1800" dirty="0"/>
              <a:t>It </a:t>
            </a:r>
            <a:r>
              <a:rPr lang="en-CA" sz="1800" dirty="0"/>
              <a:t>disincentivizing the searcher to develop </a:t>
            </a:r>
            <a:r>
              <a:rPr lang="en-US" sz="1800" dirty="0"/>
              <a:t>critical cognitive skills necessary to distinguish between trustworthy and untrustworthy information</a:t>
            </a:r>
          </a:p>
          <a:p>
            <a:pPr marL="0" indent="0">
              <a:lnSpc>
                <a:spcPct val="100000"/>
              </a:lnSpc>
              <a:buNone/>
            </a:pPr>
            <a:r>
              <a:rPr lang="en-US" sz="1800" dirty="0"/>
              <a:t>The concern isn’t just whether the LLM’s outputs are factually accurate but </a:t>
            </a:r>
            <a:r>
              <a:rPr lang="en-US" sz="1800" dirty="0">
                <a:highlight>
                  <a:srgbClr val="FFFF00"/>
                </a:highlight>
              </a:rPr>
              <a:t>whose perspectives does it represent and who gets to decide that?</a:t>
            </a:r>
            <a:endParaRPr lang="en-CA" sz="1800" dirty="0">
              <a:highlight>
                <a:srgbClr val="FFFF00"/>
              </a:highlight>
            </a:endParaRPr>
          </a:p>
        </p:txBody>
      </p:sp>
      <p:sp>
        <p:nvSpPr>
          <p:cNvPr id="19" name="Content Placeholder 2">
            <a:extLst>
              <a:ext uri="{FF2B5EF4-FFF2-40B4-BE49-F238E27FC236}">
                <a16:creationId xmlns:a16="http://schemas.microsoft.com/office/drawing/2014/main" id="{49D07229-D34F-3808-88B0-B43916CA2643}"/>
              </a:ext>
            </a:extLst>
          </p:cNvPr>
          <p:cNvSpPr txBox="1">
            <a:spLocks/>
          </p:cNvSpPr>
          <p:nvPr/>
        </p:nvSpPr>
        <p:spPr>
          <a:xfrm>
            <a:off x="838200" y="1515572"/>
            <a:ext cx="10515600" cy="1539876"/>
          </a:xfrm>
          <a:prstGeom prst="rect">
            <a:avLst/>
          </a:prstGeom>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nSpc>
                <a:spcPct val="100000"/>
              </a:lnSpc>
            </a:pPr>
            <a:r>
              <a:rPr lang="en-US" b="0" dirty="0"/>
              <a:t>Misleading information presented as facts in LLM outputs are commonly attributed to model “hallucination”</a:t>
            </a:r>
          </a:p>
          <a:p>
            <a:pPr algn="ctr">
              <a:lnSpc>
                <a:spcPct val="100000"/>
              </a:lnSpc>
              <a:spcBef>
                <a:spcPts val="1800"/>
              </a:spcBef>
            </a:pPr>
            <a:r>
              <a:rPr lang="en-US" dirty="0"/>
              <a:t>This framing is misleading and hides a deeper problem</a:t>
            </a:r>
          </a:p>
        </p:txBody>
      </p:sp>
      <p:grpSp>
        <p:nvGrpSpPr>
          <p:cNvPr id="7" name="Group 6">
            <a:extLst>
              <a:ext uri="{FF2B5EF4-FFF2-40B4-BE49-F238E27FC236}">
                <a16:creationId xmlns:a16="http://schemas.microsoft.com/office/drawing/2014/main" id="{1F56F5FD-54EE-347A-361C-B931CBD5373D}"/>
              </a:ext>
            </a:extLst>
          </p:cNvPr>
          <p:cNvGrpSpPr/>
          <p:nvPr/>
        </p:nvGrpSpPr>
        <p:grpSpPr>
          <a:xfrm>
            <a:off x="117209" y="5632965"/>
            <a:ext cx="5134241" cy="1077218"/>
            <a:chOff x="117209" y="5632965"/>
            <a:chExt cx="5134241" cy="1077218"/>
          </a:xfrm>
        </p:grpSpPr>
        <p:sp>
          <p:nvSpPr>
            <p:cNvPr id="2" name="TextBox 1">
              <a:extLst>
                <a:ext uri="{FF2B5EF4-FFF2-40B4-BE49-F238E27FC236}">
                  <a16:creationId xmlns:a16="http://schemas.microsoft.com/office/drawing/2014/main" id="{5317D4CE-E753-AAB1-52DF-0A3A21059B6B}"/>
                </a:ext>
              </a:extLst>
            </p:cNvPr>
            <p:cNvSpPr txBox="1"/>
            <p:nvPr/>
          </p:nvSpPr>
          <p:spPr>
            <a:xfrm>
              <a:off x="117209" y="5632965"/>
              <a:ext cx="4943741" cy="1077218"/>
            </a:xfrm>
            <a:prstGeom prst="rect">
              <a:avLst/>
            </a:prstGeom>
            <a:solidFill>
              <a:schemeClr val="bg1">
                <a:lumMod val="95000"/>
              </a:schemeClr>
            </a:solidFill>
          </p:spPr>
          <p:txBody>
            <a:bodyPr wrap="square" rtlCol="0">
              <a:spAutoFit/>
            </a:bodyPr>
            <a:lstStyle/>
            <a:p>
              <a:r>
                <a:rPr lang="en-CA" sz="1600" i="1" dirty="0"/>
                <a:t>These would be less concerning if searchers and platform owners shared the same goals, and the platforms had no incentives to manipulate searchers, but alas…</a:t>
              </a:r>
            </a:p>
          </p:txBody>
        </p:sp>
        <p:cxnSp>
          <p:nvCxnSpPr>
            <p:cNvPr id="5" name="Straight Arrow Connector 4">
              <a:extLst>
                <a:ext uri="{FF2B5EF4-FFF2-40B4-BE49-F238E27FC236}">
                  <a16:creationId xmlns:a16="http://schemas.microsoft.com/office/drawing/2014/main" id="{E896F0CA-64F3-443B-2AA7-009BD4633A83}"/>
                </a:ext>
              </a:extLst>
            </p:cNvPr>
            <p:cNvCxnSpPr/>
            <p:nvPr/>
          </p:nvCxnSpPr>
          <p:spPr>
            <a:xfrm>
              <a:off x="4888259" y="6057041"/>
              <a:ext cx="363191"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spTree>
    <p:extLst>
      <p:ext uri="{BB962C8B-B14F-4D97-AF65-F5344CB8AC3E}">
        <p14:creationId xmlns:p14="http://schemas.microsoft.com/office/powerpoint/2010/main" val="2456401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P spid="8" grpId="0" build="allAtOnce"/>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75CB1-42EB-E237-4F48-D81FE9B25A10}"/>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5962124-5E6F-5D55-D963-9C87E7C25B43}"/>
              </a:ext>
            </a:extLst>
          </p:cNvPr>
          <p:cNvSpPr>
            <a:spLocks noGrp="1"/>
          </p:cNvSpPr>
          <p:nvPr>
            <p:ph type="title"/>
          </p:nvPr>
        </p:nvSpPr>
        <p:spPr/>
        <p:txBody>
          <a:bodyPr/>
          <a:lstStyle/>
          <a:p>
            <a:r>
              <a:rPr lang="en-CA" dirty="0"/>
              <a:t>The politics of information access</a:t>
            </a:r>
          </a:p>
        </p:txBody>
      </p:sp>
      <p:sp>
        <p:nvSpPr>
          <p:cNvPr id="10" name="Rectangle: Rounded Corners 9">
            <a:extLst>
              <a:ext uri="{FF2B5EF4-FFF2-40B4-BE49-F238E27FC236}">
                <a16:creationId xmlns:a16="http://schemas.microsoft.com/office/drawing/2014/main" id="{93DB9A76-83A6-E1FC-17E1-887A6FD45933}"/>
              </a:ext>
            </a:extLst>
          </p:cNvPr>
          <p:cNvSpPr/>
          <p:nvPr/>
        </p:nvSpPr>
        <p:spPr>
          <a:xfrm>
            <a:off x="760709" y="1549046"/>
            <a:ext cx="10515600" cy="1006019"/>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Access to information is critical to collective sense-making of our place and relationships in this world; therefore, throughout history authoritarian forces have tried to control what information is disseminated and how; and information access media have been a site of conflict between liberation and oppression</a:t>
            </a:r>
          </a:p>
        </p:txBody>
      </p:sp>
      <p:pic>
        <p:nvPicPr>
          <p:cNvPr id="3" name="Picture 6" descr="When people talk about bad futures, they often use the phrase “literally 1984.” This is a reference to Wonder Woman 1984, because watching that movie is equally as bad as living in">
            <a:extLst>
              <a:ext uri="{FF2B5EF4-FFF2-40B4-BE49-F238E27FC236}">
                <a16:creationId xmlns:a16="http://schemas.microsoft.com/office/drawing/2014/main" id="{9A7DBA43-11E9-F782-51D2-EF01D4E902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65796" y="3264572"/>
            <a:ext cx="4440404" cy="3441433"/>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4" name="Picture 2" descr="1984 by George Orwell | Goodreads">
            <a:extLst>
              <a:ext uri="{FF2B5EF4-FFF2-40B4-BE49-F238E27FC236}">
                <a16:creationId xmlns:a16="http://schemas.microsoft.com/office/drawing/2014/main" id="{FDDE7C53-F168-7CFC-BCBE-D9642E284A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43282" y="2942579"/>
            <a:ext cx="1981090" cy="323373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FE4D612F-3287-92DA-FF07-558466F779D0}"/>
              </a:ext>
            </a:extLst>
          </p:cNvPr>
          <p:cNvPicPr>
            <a:picLocks noChangeAspect="1"/>
          </p:cNvPicPr>
          <p:nvPr/>
        </p:nvPicPr>
        <p:blipFill>
          <a:blip r:embed="rId4"/>
          <a:stretch>
            <a:fillRect/>
          </a:stretch>
        </p:blipFill>
        <p:spPr>
          <a:xfrm>
            <a:off x="596151" y="2791988"/>
            <a:ext cx="3033668" cy="1586573"/>
          </a:xfrm>
          <a:custGeom>
            <a:avLst/>
            <a:gdLst>
              <a:gd name="connsiteX0" fmla="*/ 0 w 3033668"/>
              <a:gd name="connsiteY0" fmla="*/ 0 h 1586573"/>
              <a:gd name="connsiteX1" fmla="*/ 535948 w 3033668"/>
              <a:gd name="connsiteY1" fmla="*/ 0 h 1586573"/>
              <a:gd name="connsiteX2" fmla="*/ 1102233 w 3033668"/>
              <a:gd name="connsiteY2" fmla="*/ 0 h 1586573"/>
              <a:gd name="connsiteX3" fmla="*/ 1668517 w 3033668"/>
              <a:gd name="connsiteY3" fmla="*/ 0 h 1586573"/>
              <a:gd name="connsiteX4" fmla="*/ 2113455 w 3033668"/>
              <a:gd name="connsiteY4" fmla="*/ 0 h 1586573"/>
              <a:gd name="connsiteX5" fmla="*/ 2528057 w 3033668"/>
              <a:gd name="connsiteY5" fmla="*/ 0 h 1586573"/>
              <a:gd name="connsiteX6" fmla="*/ 3033668 w 3033668"/>
              <a:gd name="connsiteY6" fmla="*/ 0 h 1586573"/>
              <a:gd name="connsiteX7" fmla="*/ 3033668 w 3033668"/>
              <a:gd name="connsiteY7" fmla="*/ 528858 h 1586573"/>
              <a:gd name="connsiteX8" fmla="*/ 3033668 w 3033668"/>
              <a:gd name="connsiteY8" fmla="*/ 1073581 h 1586573"/>
              <a:gd name="connsiteX9" fmla="*/ 3033668 w 3033668"/>
              <a:gd name="connsiteY9" fmla="*/ 1586573 h 1586573"/>
              <a:gd name="connsiteX10" fmla="*/ 2528057 w 3033668"/>
              <a:gd name="connsiteY10" fmla="*/ 1586573 h 1586573"/>
              <a:gd name="connsiteX11" fmla="*/ 1992109 w 3033668"/>
              <a:gd name="connsiteY11" fmla="*/ 1586573 h 1586573"/>
              <a:gd name="connsiteX12" fmla="*/ 1516834 w 3033668"/>
              <a:gd name="connsiteY12" fmla="*/ 1586573 h 1586573"/>
              <a:gd name="connsiteX13" fmla="*/ 1102233 w 3033668"/>
              <a:gd name="connsiteY13" fmla="*/ 1586573 h 1586573"/>
              <a:gd name="connsiteX14" fmla="*/ 535948 w 3033668"/>
              <a:gd name="connsiteY14" fmla="*/ 1586573 h 1586573"/>
              <a:gd name="connsiteX15" fmla="*/ 0 w 3033668"/>
              <a:gd name="connsiteY15" fmla="*/ 1586573 h 1586573"/>
              <a:gd name="connsiteX16" fmla="*/ 0 w 3033668"/>
              <a:gd name="connsiteY16" fmla="*/ 1105313 h 1586573"/>
              <a:gd name="connsiteX17" fmla="*/ 0 w 3033668"/>
              <a:gd name="connsiteY17" fmla="*/ 608186 h 1586573"/>
              <a:gd name="connsiteX18" fmla="*/ 0 w 3033668"/>
              <a:gd name="connsiteY18" fmla="*/ 0 h 1586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033668" h="1586573" fill="none" extrusionOk="0">
                <a:moveTo>
                  <a:pt x="0" y="0"/>
                </a:moveTo>
                <a:cubicBezTo>
                  <a:pt x="241692" y="-59638"/>
                  <a:pt x="380241" y="33123"/>
                  <a:pt x="535948" y="0"/>
                </a:cubicBezTo>
                <a:cubicBezTo>
                  <a:pt x="691655" y="-33123"/>
                  <a:pt x="953567" y="34579"/>
                  <a:pt x="1102233" y="0"/>
                </a:cubicBezTo>
                <a:cubicBezTo>
                  <a:pt x="1250900" y="-34579"/>
                  <a:pt x="1510583" y="27457"/>
                  <a:pt x="1668517" y="0"/>
                </a:cubicBezTo>
                <a:cubicBezTo>
                  <a:pt x="1826451" y="-27457"/>
                  <a:pt x="1938478" y="38600"/>
                  <a:pt x="2113455" y="0"/>
                </a:cubicBezTo>
                <a:cubicBezTo>
                  <a:pt x="2288432" y="-38600"/>
                  <a:pt x="2413739" y="39630"/>
                  <a:pt x="2528057" y="0"/>
                </a:cubicBezTo>
                <a:cubicBezTo>
                  <a:pt x="2642375" y="-39630"/>
                  <a:pt x="2831878" y="18862"/>
                  <a:pt x="3033668" y="0"/>
                </a:cubicBezTo>
                <a:cubicBezTo>
                  <a:pt x="3064901" y="152173"/>
                  <a:pt x="3008973" y="319187"/>
                  <a:pt x="3033668" y="528858"/>
                </a:cubicBezTo>
                <a:cubicBezTo>
                  <a:pt x="3058363" y="738529"/>
                  <a:pt x="3015783" y="944555"/>
                  <a:pt x="3033668" y="1073581"/>
                </a:cubicBezTo>
                <a:cubicBezTo>
                  <a:pt x="3051553" y="1202607"/>
                  <a:pt x="2982671" y="1469405"/>
                  <a:pt x="3033668" y="1586573"/>
                </a:cubicBezTo>
                <a:cubicBezTo>
                  <a:pt x="2922317" y="1636717"/>
                  <a:pt x="2648939" y="1554008"/>
                  <a:pt x="2528057" y="1586573"/>
                </a:cubicBezTo>
                <a:cubicBezTo>
                  <a:pt x="2407175" y="1619138"/>
                  <a:pt x="2255870" y="1563894"/>
                  <a:pt x="1992109" y="1586573"/>
                </a:cubicBezTo>
                <a:cubicBezTo>
                  <a:pt x="1728348" y="1609252"/>
                  <a:pt x="1683981" y="1542535"/>
                  <a:pt x="1516834" y="1586573"/>
                </a:cubicBezTo>
                <a:cubicBezTo>
                  <a:pt x="1349688" y="1630611"/>
                  <a:pt x="1251190" y="1551838"/>
                  <a:pt x="1102233" y="1586573"/>
                </a:cubicBezTo>
                <a:cubicBezTo>
                  <a:pt x="953276" y="1621308"/>
                  <a:pt x="649362" y="1532014"/>
                  <a:pt x="535948" y="1586573"/>
                </a:cubicBezTo>
                <a:cubicBezTo>
                  <a:pt x="422535" y="1641132"/>
                  <a:pt x="200197" y="1585748"/>
                  <a:pt x="0" y="1586573"/>
                </a:cubicBezTo>
                <a:cubicBezTo>
                  <a:pt x="-10930" y="1402819"/>
                  <a:pt x="19597" y="1304305"/>
                  <a:pt x="0" y="1105313"/>
                </a:cubicBezTo>
                <a:cubicBezTo>
                  <a:pt x="-19597" y="906321"/>
                  <a:pt x="25079" y="828773"/>
                  <a:pt x="0" y="608186"/>
                </a:cubicBezTo>
                <a:cubicBezTo>
                  <a:pt x="-25079" y="387599"/>
                  <a:pt x="25842" y="184824"/>
                  <a:pt x="0" y="0"/>
                </a:cubicBezTo>
                <a:close/>
              </a:path>
              <a:path w="3033668" h="1586573" stroke="0" extrusionOk="0">
                <a:moveTo>
                  <a:pt x="0" y="0"/>
                </a:moveTo>
                <a:cubicBezTo>
                  <a:pt x="169656" y="-15489"/>
                  <a:pt x="349327" y="33607"/>
                  <a:pt x="505611" y="0"/>
                </a:cubicBezTo>
                <a:cubicBezTo>
                  <a:pt x="661895" y="-33607"/>
                  <a:pt x="934199" y="24493"/>
                  <a:pt x="1071896" y="0"/>
                </a:cubicBezTo>
                <a:cubicBezTo>
                  <a:pt x="1209593" y="-24493"/>
                  <a:pt x="1287011" y="11098"/>
                  <a:pt x="1486497" y="0"/>
                </a:cubicBezTo>
                <a:cubicBezTo>
                  <a:pt x="1685983" y="-11098"/>
                  <a:pt x="1851429" y="55800"/>
                  <a:pt x="1961772" y="0"/>
                </a:cubicBezTo>
                <a:cubicBezTo>
                  <a:pt x="2072115" y="-55800"/>
                  <a:pt x="2305847" y="29434"/>
                  <a:pt x="2497720" y="0"/>
                </a:cubicBezTo>
                <a:cubicBezTo>
                  <a:pt x="2689593" y="-29434"/>
                  <a:pt x="2791143" y="45714"/>
                  <a:pt x="3033668" y="0"/>
                </a:cubicBezTo>
                <a:cubicBezTo>
                  <a:pt x="3033804" y="273788"/>
                  <a:pt x="3005166" y="433024"/>
                  <a:pt x="3033668" y="560589"/>
                </a:cubicBezTo>
                <a:cubicBezTo>
                  <a:pt x="3062170" y="688154"/>
                  <a:pt x="2992861" y="919754"/>
                  <a:pt x="3033668" y="1105313"/>
                </a:cubicBezTo>
                <a:cubicBezTo>
                  <a:pt x="3074475" y="1290872"/>
                  <a:pt x="3025500" y="1422581"/>
                  <a:pt x="3033668" y="1586573"/>
                </a:cubicBezTo>
                <a:cubicBezTo>
                  <a:pt x="2807898" y="1618101"/>
                  <a:pt x="2695342" y="1536379"/>
                  <a:pt x="2558393" y="1586573"/>
                </a:cubicBezTo>
                <a:cubicBezTo>
                  <a:pt x="2421444" y="1636767"/>
                  <a:pt x="2304211" y="1538808"/>
                  <a:pt x="2143792" y="1586573"/>
                </a:cubicBezTo>
                <a:cubicBezTo>
                  <a:pt x="1983373" y="1634338"/>
                  <a:pt x="1817997" y="1584266"/>
                  <a:pt x="1577507" y="1586573"/>
                </a:cubicBezTo>
                <a:cubicBezTo>
                  <a:pt x="1337018" y="1588880"/>
                  <a:pt x="1292129" y="1552008"/>
                  <a:pt x="1132569" y="1586573"/>
                </a:cubicBezTo>
                <a:cubicBezTo>
                  <a:pt x="973009" y="1621138"/>
                  <a:pt x="812139" y="1537693"/>
                  <a:pt x="657295" y="1586573"/>
                </a:cubicBezTo>
                <a:cubicBezTo>
                  <a:pt x="502451" y="1635453"/>
                  <a:pt x="135515" y="1560385"/>
                  <a:pt x="0" y="1586573"/>
                </a:cubicBezTo>
                <a:cubicBezTo>
                  <a:pt x="-49722" y="1394428"/>
                  <a:pt x="6774" y="1207947"/>
                  <a:pt x="0" y="1089447"/>
                </a:cubicBezTo>
                <a:cubicBezTo>
                  <a:pt x="-6774" y="970947"/>
                  <a:pt x="53922" y="830880"/>
                  <a:pt x="0" y="592321"/>
                </a:cubicBezTo>
                <a:cubicBezTo>
                  <a:pt x="-53922" y="353762"/>
                  <a:pt x="20896" y="135298"/>
                  <a:pt x="0" y="0"/>
                </a:cubicBezTo>
                <a:close/>
              </a:path>
            </a:pathLst>
          </a:custGeom>
          <a:ln>
            <a:solidFill>
              <a:schemeClr val="tx1"/>
            </a:solidFill>
            <a:extLst>
              <a:ext uri="{C807C97D-BFC1-408E-A445-0C87EB9F89A2}">
                <ask:lineSketchStyleProps xmlns:ask="http://schemas.microsoft.com/office/drawing/2018/sketchyshapes" sd="481711788">
                  <a:prstGeom prst="rect">
                    <a:avLst/>
                  </a:prstGeom>
                  <ask:type>
                    <ask:lineSketchScribble/>
                  </ask:type>
                </ask:lineSketchStyleProps>
              </a:ext>
            </a:extLst>
          </a:ln>
        </p:spPr>
      </p:pic>
      <p:pic>
        <p:nvPicPr>
          <p:cNvPr id="11" name="Picture 10">
            <a:extLst>
              <a:ext uri="{FF2B5EF4-FFF2-40B4-BE49-F238E27FC236}">
                <a16:creationId xmlns:a16="http://schemas.microsoft.com/office/drawing/2014/main" id="{D258AACD-062C-87EE-C21D-00B78BE21416}"/>
              </a:ext>
            </a:extLst>
          </p:cNvPr>
          <p:cNvPicPr>
            <a:picLocks noChangeAspect="1"/>
          </p:cNvPicPr>
          <p:nvPr/>
        </p:nvPicPr>
        <p:blipFill>
          <a:blip r:embed="rId5"/>
          <a:stretch>
            <a:fillRect/>
          </a:stretch>
        </p:blipFill>
        <p:spPr>
          <a:xfrm>
            <a:off x="596151" y="4635073"/>
            <a:ext cx="3147218" cy="1886568"/>
          </a:xfrm>
          <a:custGeom>
            <a:avLst/>
            <a:gdLst>
              <a:gd name="connsiteX0" fmla="*/ 0 w 3147218"/>
              <a:gd name="connsiteY0" fmla="*/ 0 h 1886568"/>
              <a:gd name="connsiteX1" fmla="*/ 461592 w 3147218"/>
              <a:gd name="connsiteY1" fmla="*/ 0 h 1886568"/>
              <a:gd name="connsiteX2" fmla="*/ 923184 w 3147218"/>
              <a:gd name="connsiteY2" fmla="*/ 0 h 1886568"/>
              <a:gd name="connsiteX3" fmla="*/ 1353304 w 3147218"/>
              <a:gd name="connsiteY3" fmla="*/ 0 h 1886568"/>
              <a:gd name="connsiteX4" fmla="*/ 1814896 w 3147218"/>
              <a:gd name="connsiteY4" fmla="*/ 0 h 1886568"/>
              <a:gd name="connsiteX5" fmla="*/ 2339432 w 3147218"/>
              <a:gd name="connsiteY5" fmla="*/ 0 h 1886568"/>
              <a:gd name="connsiteX6" fmla="*/ 3147218 w 3147218"/>
              <a:gd name="connsiteY6" fmla="*/ 0 h 1886568"/>
              <a:gd name="connsiteX7" fmla="*/ 3147218 w 3147218"/>
              <a:gd name="connsiteY7" fmla="*/ 471642 h 1886568"/>
              <a:gd name="connsiteX8" fmla="*/ 3147218 w 3147218"/>
              <a:gd name="connsiteY8" fmla="*/ 943284 h 1886568"/>
              <a:gd name="connsiteX9" fmla="*/ 3147218 w 3147218"/>
              <a:gd name="connsiteY9" fmla="*/ 1433792 h 1886568"/>
              <a:gd name="connsiteX10" fmla="*/ 3147218 w 3147218"/>
              <a:gd name="connsiteY10" fmla="*/ 1886568 h 1886568"/>
              <a:gd name="connsiteX11" fmla="*/ 2622682 w 3147218"/>
              <a:gd name="connsiteY11" fmla="*/ 1886568 h 1886568"/>
              <a:gd name="connsiteX12" fmla="*/ 2035201 w 3147218"/>
              <a:gd name="connsiteY12" fmla="*/ 1886568 h 1886568"/>
              <a:gd name="connsiteX13" fmla="*/ 1479192 w 3147218"/>
              <a:gd name="connsiteY13" fmla="*/ 1886568 h 1886568"/>
              <a:gd name="connsiteX14" fmla="*/ 1049073 w 3147218"/>
              <a:gd name="connsiteY14" fmla="*/ 1886568 h 1886568"/>
              <a:gd name="connsiteX15" fmla="*/ 556009 w 3147218"/>
              <a:gd name="connsiteY15" fmla="*/ 1886568 h 1886568"/>
              <a:gd name="connsiteX16" fmla="*/ 0 w 3147218"/>
              <a:gd name="connsiteY16" fmla="*/ 1886568 h 1886568"/>
              <a:gd name="connsiteX17" fmla="*/ 0 w 3147218"/>
              <a:gd name="connsiteY17" fmla="*/ 1433792 h 1886568"/>
              <a:gd name="connsiteX18" fmla="*/ 0 w 3147218"/>
              <a:gd name="connsiteY18" fmla="*/ 924418 h 1886568"/>
              <a:gd name="connsiteX19" fmla="*/ 0 w 3147218"/>
              <a:gd name="connsiteY19" fmla="*/ 452776 h 1886568"/>
              <a:gd name="connsiteX20" fmla="*/ 0 w 3147218"/>
              <a:gd name="connsiteY20" fmla="*/ 0 h 1886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147218" h="1886568" fill="none" extrusionOk="0">
                <a:moveTo>
                  <a:pt x="0" y="0"/>
                </a:moveTo>
                <a:cubicBezTo>
                  <a:pt x="189565" y="-51693"/>
                  <a:pt x="289039" y="1096"/>
                  <a:pt x="461592" y="0"/>
                </a:cubicBezTo>
                <a:cubicBezTo>
                  <a:pt x="634145" y="-1096"/>
                  <a:pt x="700125" y="6365"/>
                  <a:pt x="923184" y="0"/>
                </a:cubicBezTo>
                <a:cubicBezTo>
                  <a:pt x="1146243" y="-6365"/>
                  <a:pt x="1262550" y="35499"/>
                  <a:pt x="1353304" y="0"/>
                </a:cubicBezTo>
                <a:cubicBezTo>
                  <a:pt x="1444058" y="-35499"/>
                  <a:pt x="1634331" y="8844"/>
                  <a:pt x="1814896" y="0"/>
                </a:cubicBezTo>
                <a:cubicBezTo>
                  <a:pt x="1995461" y="-8844"/>
                  <a:pt x="2099641" y="44770"/>
                  <a:pt x="2339432" y="0"/>
                </a:cubicBezTo>
                <a:cubicBezTo>
                  <a:pt x="2579223" y="-44770"/>
                  <a:pt x="2762173" y="38050"/>
                  <a:pt x="3147218" y="0"/>
                </a:cubicBezTo>
                <a:cubicBezTo>
                  <a:pt x="3169760" y="174854"/>
                  <a:pt x="3144563" y="285637"/>
                  <a:pt x="3147218" y="471642"/>
                </a:cubicBezTo>
                <a:cubicBezTo>
                  <a:pt x="3149873" y="657647"/>
                  <a:pt x="3097775" y="848074"/>
                  <a:pt x="3147218" y="943284"/>
                </a:cubicBezTo>
                <a:cubicBezTo>
                  <a:pt x="3196661" y="1038494"/>
                  <a:pt x="3145698" y="1299472"/>
                  <a:pt x="3147218" y="1433792"/>
                </a:cubicBezTo>
                <a:cubicBezTo>
                  <a:pt x="3148738" y="1568112"/>
                  <a:pt x="3103173" y="1765757"/>
                  <a:pt x="3147218" y="1886568"/>
                </a:cubicBezTo>
                <a:cubicBezTo>
                  <a:pt x="3024734" y="1929396"/>
                  <a:pt x="2727933" y="1855913"/>
                  <a:pt x="2622682" y="1886568"/>
                </a:cubicBezTo>
                <a:cubicBezTo>
                  <a:pt x="2517431" y="1917223"/>
                  <a:pt x="2196877" y="1880987"/>
                  <a:pt x="2035201" y="1886568"/>
                </a:cubicBezTo>
                <a:cubicBezTo>
                  <a:pt x="1873525" y="1892149"/>
                  <a:pt x="1657441" y="1854984"/>
                  <a:pt x="1479192" y="1886568"/>
                </a:cubicBezTo>
                <a:cubicBezTo>
                  <a:pt x="1300943" y="1918152"/>
                  <a:pt x="1258957" y="1858014"/>
                  <a:pt x="1049073" y="1886568"/>
                </a:cubicBezTo>
                <a:cubicBezTo>
                  <a:pt x="839189" y="1915122"/>
                  <a:pt x="698916" y="1835443"/>
                  <a:pt x="556009" y="1886568"/>
                </a:cubicBezTo>
                <a:cubicBezTo>
                  <a:pt x="413102" y="1937693"/>
                  <a:pt x="255948" y="1822904"/>
                  <a:pt x="0" y="1886568"/>
                </a:cubicBezTo>
                <a:cubicBezTo>
                  <a:pt x="-28694" y="1667376"/>
                  <a:pt x="29961" y="1579823"/>
                  <a:pt x="0" y="1433792"/>
                </a:cubicBezTo>
                <a:cubicBezTo>
                  <a:pt x="-29961" y="1287761"/>
                  <a:pt x="56781" y="1134409"/>
                  <a:pt x="0" y="924418"/>
                </a:cubicBezTo>
                <a:cubicBezTo>
                  <a:pt x="-56781" y="714427"/>
                  <a:pt x="45864" y="620016"/>
                  <a:pt x="0" y="452776"/>
                </a:cubicBezTo>
                <a:cubicBezTo>
                  <a:pt x="-45864" y="285536"/>
                  <a:pt x="37101" y="103275"/>
                  <a:pt x="0" y="0"/>
                </a:cubicBezTo>
                <a:close/>
              </a:path>
              <a:path w="3147218" h="1886568" stroke="0" extrusionOk="0">
                <a:moveTo>
                  <a:pt x="0" y="0"/>
                </a:moveTo>
                <a:cubicBezTo>
                  <a:pt x="217580" y="-43875"/>
                  <a:pt x="376149" y="56657"/>
                  <a:pt x="524536" y="0"/>
                </a:cubicBezTo>
                <a:cubicBezTo>
                  <a:pt x="672923" y="-56657"/>
                  <a:pt x="919504" y="949"/>
                  <a:pt x="1112017" y="0"/>
                </a:cubicBezTo>
                <a:cubicBezTo>
                  <a:pt x="1304530" y="-949"/>
                  <a:pt x="1361813" y="34770"/>
                  <a:pt x="1542137" y="0"/>
                </a:cubicBezTo>
                <a:cubicBezTo>
                  <a:pt x="1722461" y="-34770"/>
                  <a:pt x="1891395" y="277"/>
                  <a:pt x="2035201" y="0"/>
                </a:cubicBezTo>
                <a:cubicBezTo>
                  <a:pt x="2179007" y="-277"/>
                  <a:pt x="2360003" y="58466"/>
                  <a:pt x="2591209" y="0"/>
                </a:cubicBezTo>
                <a:cubicBezTo>
                  <a:pt x="2822415" y="-58466"/>
                  <a:pt x="2956965" y="12681"/>
                  <a:pt x="3147218" y="0"/>
                </a:cubicBezTo>
                <a:cubicBezTo>
                  <a:pt x="3179420" y="194416"/>
                  <a:pt x="3118503" y="318206"/>
                  <a:pt x="3147218" y="509373"/>
                </a:cubicBezTo>
                <a:cubicBezTo>
                  <a:pt x="3175933" y="700540"/>
                  <a:pt x="3109351" y="860005"/>
                  <a:pt x="3147218" y="999881"/>
                </a:cubicBezTo>
                <a:cubicBezTo>
                  <a:pt x="3185085" y="1139757"/>
                  <a:pt x="3102124" y="1221084"/>
                  <a:pt x="3147218" y="1414926"/>
                </a:cubicBezTo>
                <a:cubicBezTo>
                  <a:pt x="3192312" y="1608768"/>
                  <a:pt x="3123026" y="1771465"/>
                  <a:pt x="3147218" y="1886568"/>
                </a:cubicBezTo>
                <a:cubicBezTo>
                  <a:pt x="3044250" y="1935067"/>
                  <a:pt x="2792652" y="1846258"/>
                  <a:pt x="2654154" y="1886568"/>
                </a:cubicBezTo>
                <a:cubicBezTo>
                  <a:pt x="2515656" y="1926878"/>
                  <a:pt x="2359051" y="1862041"/>
                  <a:pt x="2066673" y="1886568"/>
                </a:cubicBezTo>
                <a:cubicBezTo>
                  <a:pt x="1774295" y="1911095"/>
                  <a:pt x="1830809" y="1853057"/>
                  <a:pt x="1605081" y="1886568"/>
                </a:cubicBezTo>
                <a:cubicBezTo>
                  <a:pt x="1379353" y="1920079"/>
                  <a:pt x="1285358" y="1827513"/>
                  <a:pt x="1112017" y="1886568"/>
                </a:cubicBezTo>
                <a:cubicBezTo>
                  <a:pt x="938676" y="1945623"/>
                  <a:pt x="771852" y="1826896"/>
                  <a:pt x="587481" y="1886568"/>
                </a:cubicBezTo>
                <a:cubicBezTo>
                  <a:pt x="403110" y="1946240"/>
                  <a:pt x="153569" y="1846805"/>
                  <a:pt x="0" y="1886568"/>
                </a:cubicBezTo>
                <a:cubicBezTo>
                  <a:pt x="-24196" y="1665063"/>
                  <a:pt x="15364" y="1515775"/>
                  <a:pt x="0" y="1377195"/>
                </a:cubicBezTo>
                <a:cubicBezTo>
                  <a:pt x="-15364" y="1238615"/>
                  <a:pt x="20906" y="1091531"/>
                  <a:pt x="0" y="943284"/>
                </a:cubicBezTo>
                <a:cubicBezTo>
                  <a:pt x="-20906" y="795037"/>
                  <a:pt x="14640" y="573123"/>
                  <a:pt x="0" y="452776"/>
                </a:cubicBezTo>
                <a:cubicBezTo>
                  <a:pt x="-14640" y="332429"/>
                  <a:pt x="27988" y="162904"/>
                  <a:pt x="0" y="0"/>
                </a:cubicBezTo>
                <a:close/>
              </a:path>
            </a:pathLst>
          </a:custGeom>
          <a:ln>
            <a:solidFill>
              <a:schemeClr val="tx1"/>
            </a:solidFill>
            <a:extLst>
              <a:ext uri="{C807C97D-BFC1-408E-A445-0C87EB9F89A2}">
                <ask:lineSketchStyleProps xmlns:ask="http://schemas.microsoft.com/office/drawing/2018/sketchyshapes" sd="481711788">
                  <a:prstGeom prst="rect">
                    <a:avLst/>
                  </a:prstGeom>
                  <ask:type>
                    <ask:lineSketchScribble/>
                  </ask:type>
                </ask:lineSketchStyleProps>
              </a:ext>
            </a:extLst>
          </a:ln>
        </p:spPr>
      </p:pic>
      <p:pic>
        <p:nvPicPr>
          <p:cNvPr id="13" name="Picture 12">
            <a:extLst>
              <a:ext uri="{FF2B5EF4-FFF2-40B4-BE49-F238E27FC236}">
                <a16:creationId xmlns:a16="http://schemas.microsoft.com/office/drawing/2014/main" id="{F77CBF2E-BFA8-7935-4318-F5876DB06085}"/>
              </a:ext>
            </a:extLst>
          </p:cNvPr>
          <p:cNvPicPr>
            <a:picLocks noChangeAspect="1"/>
          </p:cNvPicPr>
          <p:nvPr/>
        </p:nvPicPr>
        <p:blipFill>
          <a:blip r:embed="rId6"/>
          <a:stretch>
            <a:fillRect/>
          </a:stretch>
        </p:blipFill>
        <p:spPr>
          <a:xfrm>
            <a:off x="3887748" y="2791988"/>
            <a:ext cx="2284971" cy="3983391"/>
          </a:xfrm>
          <a:custGeom>
            <a:avLst/>
            <a:gdLst>
              <a:gd name="connsiteX0" fmla="*/ 0 w 3910691"/>
              <a:gd name="connsiteY0" fmla="*/ 0 h 2045246"/>
              <a:gd name="connsiteX1" fmla="*/ 558670 w 3910691"/>
              <a:gd name="connsiteY1" fmla="*/ 0 h 2045246"/>
              <a:gd name="connsiteX2" fmla="*/ 1039126 w 3910691"/>
              <a:gd name="connsiteY2" fmla="*/ 0 h 2045246"/>
              <a:gd name="connsiteX3" fmla="*/ 1597797 w 3910691"/>
              <a:gd name="connsiteY3" fmla="*/ 0 h 2045246"/>
              <a:gd name="connsiteX4" fmla="*/ 2156467 w 3910691"/>
              <a:gd name="connsiteY4" fmla="*/ 0 h 2045246"/>
              <a:gd name="connsiteX5" fmla="*/ 2715137 w 3910691"/>
              <a:gd name="connsiteY5" fmla="*/ 0 h 2045246"/>
              <a:gd name="connsiteX6" fmla="*/ 3234700 w 3910691"/>
              <a:gd name="connsiteY6" fmla="*/ 0 h 2045246"/>
              <a:gd name="connsiteX7" fmla="*/ 3910691 w 3910691"/>
              <a:gd name="connsiteY7" fmla="*/ 0 h 2045246"/>
              <a:gd name="connsiteX8" fmla="*/ 3910691 w 3910691"/>
              <a:gd name="connsiteY8" fmla="*/ 449954 h 2045246"/>
              <a:gd name="connsiteX9" fmla="*/ 3910691 w 3910691"/>
              <a:gd name="connsiteY9" fmla="*/ 961266 h 2045246"/>
              <a:gd name="connsiteX10" fmla="*/ 3910691 w 3910691"/>
              <a:gd name="connsiteY10" fmla="*/ 1472577 h 2045246"/>
              <a:gd name="connsiteX11" fmla="*/ 3910691 w 3910691"/>
              <a:gd name="connsiteY11" fmla="*/ 2045246 h 2045246"/>
              <a:gd name="connsiteX12" fmla="*/ 3391128 w 3910691"/>
              <a:gd name="connsiteY12" fmla="*/ 2045246 h 2045246"/>
              <a:gd name="connsiteX13" fmla="*/ 2871565 w 3910691"/>
              <a:gd name="connsiteY13" fmla="*/ 2045246 h 2045246"/>
              <a:gd name="connsiteX14" fmla="*/ 2273787 w 3910691"/>
              <a:gd name="connsiteY14" fmla="*/ 2045246 h 2045246"/>
              <a:gd name="connsiteX15" fmla="*/ 1754224 w 3910691"/>
              <a:gd name="connsiteY15" fmla="*/ 2045246 h 2045246"/>
              <a:gd name="connsiteX16" fmla="*/ 1156447 w 3910691"/>
              <a:gd name="connsiteY16" fmla="*/ 2045246 h 2045246"/>
              <a:gd name="connsiteX17" fmla="*/ 519563 w 3910691"/>
              <a:gd name="connsiteY17" fmla="*/ 2045246 h 2045246"/>
              <a:gd name="connsiteX18" fmla="*/ 0 w 3910691"/>
              <a:gd name="connsiteY18" fmla="*/ 2045246 h 2045246"/>
              <a:gd name="connsiteX19" fmla="*/ 0 w 3910691"/>
              <a:gd name="connsiteY19" fmla="*/ 1554387 h 2045246"/>
              <a:gd name="connsiteX20" fmla="*/ 0 w 3910691"/>
              <a:gd name="connsiteY20" fmla="*/ 1043075 h 2045246"/>
              <a:gd name="connsiteX21" fmla="*/ 0 w 3910691"/>
              <a:gd name="connsiteY21" fmla="*/ 572669 h 2045246"/>
              <a:gd name="connsiteX22" fmla="*/ 0 w 3910691"/>
              <a:gd name="connsiteY22" fmla="*/ 0 h 2045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910691" h="2045246" fill="none" extrusionOk="0">
                <a:moveTo>
                  <a:pt x="0" y="0"/>
                </a:moveTo>
                <a:cubicBezTo>
                  <a:pt x="266120" y="-30876"/>
                  <a:pt x="392659" y="13537"/>
                  <a:pt x="558670" y="0"/>
                </a:cubicBezTo>
                <a:cubicBezTo>
                  <a:pt x="724681" y="-13537"/>
                  <a:pt x="798912" y="37123"/>
                  <a:pt x="1039126" y="0"/>
                </a:cubicBezTo>
                <a:cubicBezTo>
                  <a:pt x="1279340" y="-37123"/>
                  <a:pt x="1374799" y="54168"/>
                  <a:pt x="1597797" y="0"/>
                </a:cubicBezTo>
                <a:cubicBezTo>
                  <a:pt x="1820795" y="-54168"/>
                  <a:pt x="1938752" y="27222"/>
                  <a:pt x="2156467" y="0"/>
                </a:cubicBezTo>
                <a:cubicBezTo>
                  <a:pt x="2374182" y="-27222"/>
                  <a:pt x="2456668" y="22152"/>
                  <a:pt x="2715137" y="0"/>
                </a:cubicBezTo>
                <a:cubicBezTo>
                  <a:pt x="2973606" y="-22152"/>
                  <a:pt x="3000225" y="19097"/>
                  <a:pt x="3234700" y="0"/>
                </a:cubicBezTo>
                <a:cubicBezTo>
                  <a:pt x="3469175" y="-19097"/>
                  <a:pt x="3623872" y="30735"/>
                  <a:pt x="3910691" y="0"/>
                </a:cubicBezTo>
                <a:cubicBezTo>
                  <a:pt x="3951710" y="143635"/>
                  <a:pt x="3880191" y="236802"/>
                  <a:pt x="3910691" y="449954"/>
                </a:cubicBezTo>
                <a:cubicBezTo>
                  <a:pt x="3941191" y="663106"/>
                  <a:pt x="3864185" y="740663"/>
                  <a:pt x="3910691" y="961266"/>
                </a:cubicBezTo>
                <a:cubicBezTo>
                  <a:pt x="3957197" y="1181869"/>
                  <a:pt x="3855227" y="1242763"/>
                  <a:pt x="3910691" y="1472577"/>
                </a:cubicBezTo>
                <a:cubicBezTo>
                  <a:pt x="3966155" y="1702391"/>
                  <a:pt x="3853334" y="1908672"/>
                  <a:pt x="3910691" y="2045246"/>
                </a:cubicBezTo>
                <a:cubicBezTo>
                  <a:pt x="3802795" y="2046576"/>
                  <a:pt x="3565725" y="2032335"/>
                  <a:pt x="3391128" y="2045246"/>
                </a:cubicBezTo>
                <a:cubicBezTo>
                  <a:pt x="3216531" y="2058157"/>
                  <a:pt x="3090381" y="2010541"/>
                  <a:pt x="2871565" y="2045246"/>
                </a:cubicBezTo>
                <a:cubicBezTo>
                  <a:pt x="2652749" y="2079951"/>
                  <a:pt x="2394357" y="2012840"/>
                  <a:pt x="2273787" y="2045246"/>
                </a:cubicBezTo>
                <a:cubicBezTo>
                  <a:pt x="2153217" y="2077652"/>
                  <a:pt x="1920260" y="2023713"/>
                  <a:pt x="1754224" y="2045246"/>
                </a:cubicBezTo>
                <a:cubicBezTo>
                  <a:pt x="1588188" y="2066779"/>
                  <a:pt x="1409216" y="2043700"/>
                  <a:pt x="1156447" y="2045246"/>
                </a:cubicBezTo>
                <a:cubicBezTo>
                  <a:pt x="903678" y="2046792"/>
                  <a:pt x="779330" y="1999173"/>
                  <a:pt x="519563" y="2045246"/>
                </a:cubicBezTo>
                <a:cubicBezTo>
                  <a:pt x="259796" y="2091319"/>
                  <a:pt x="132503" y="2008570"/>
                  <a:pt x="0" y="2045246"/>
                </a:cubicBezTo>
                <a:cubicBezTo>
                  <a:pt x="-4608" y="1847283"/>
                  <a:pt x="31449" y="1699637"/>
                  <a:pt x="0" y="1554387"/>
                </a:cubicBezTo>
                <a:cubicBezTo>
                  <a:pt x="-31449" y="1409137"/>
                  <a:pt x="58876" y="1204554"/>
                  <a:pt x="0" y="1043075"/>
                </a:cubicBezTo>
                <a:cubicBezTo>
                  <a:pt x="-58876" y="881596"/>
                  <a:pt x="39209" y="674774"/>
                  <a:pt x="0" y="572669"/>
                </a:cubicBezTo>
                <a:cubicBezTo>
                  <a:pt x="-39209" y="470564"/>
                  <a:pt x="21822" y="275777"/>
                  <a:pt x="0" y="0"/>
                </a:cubicBezTo>
                <a:close/>
              </a:path>
              <a:path w="3910691" h="2045246" stroke="0" extrusionOk="0">
                <a:moveTo>
                  <a:pt x="0" y="0"/>
                </a:moveTo>
                <a:cubicBezTo>
                  <a:pt x="215748" y="-57998"/>
                  <a:pt x="442240" y="26795"/>
                  <a:pt x="558670" y="0"/>
                </a:cubicBezTo>
                <a:cubicBezTo>
                  <a:pt x="675100" y="-26795"/>
                  <a:pt x="947112" y="16345"/>
                  <a:pt x="1195554" y="0"/>
                </a:cubicBezTo>
                <a:cubicBezTo>
                  <a:pt x="1443996" y="-16345"/>
                  <a:pt x="1429225" y="41646"/>
                  <a:pt x="1636904" y="0"/>
                </a:cubicBezTo>
                <a:cubicBezTo>
                  <a:pt x="1844583" y="-41646"/>
                  <a:pt x="1911351" y="53876"/>
                  <a:pt x="2156467" y="0"/>
                </a:cubicBezTo>
                <a:cubicBezTo>
                  <a:pt x="2401583" y="-53876"/>
                  <a:pt x="2471390" y="8764"/>
                  <a:pt x="2754244" y="0"/>
                </a:cubicBezTo>
                <a:cubicBezTo>
                  <a:pt x="3037098" y="-8764"/>
                  <a:pt x="3232570" y="15041"/>
                  <a:pt x="3391128" y="0"/>
                </a:cubicBezTo>
                <a:cubicBezTo>
                  <a:pt x="3549686" y="-15041"/>
                  <a:pt x="3698835" y="15011"/>
                  <a:pt x="3910691" y="0"/>
                </a:cubicBezTo>
                <a:cubicBezTo>
                  <a:pt x="3930107" y="173314"/>
                  <a:pt x="3891274" y="257376"/>
                  <a:pt x="3910691" y="470407"/>
                </a:cubicBezTo>
                <a:cubicBezTo>
                  <a:pt x="3930108" y="683438"/>
                  <a:pt x="3905240" y="744532"/>
                  <a:pt x="3910691" y="920361"/>
                </a:cubicBezTo>
                <a:cubicBezTo>
                  <a:pt x="3916142" y="1096190"/>
                  <a:pt x="3903688" y="1265433"/>
                  <a:pt x="3910691" y="1411220"/>
                </a:cubicBezTo>
                <a:cubicBezTo>
                  <a:pt x="3917694" y="1557007"/>
                  <a:pt x="3910413" y="1783683"/>
                  <a:pt x="3910691" y="2045246"/>
                </a:cubicBezTo>
                <a:cubicBezTo>
                  <a:pt x="3745639" y="2062522"/>
                  <a:pt x="3455211" y="2013615"/>
                  <a:pt x="3312914" y="2045246"/>
                </a:cubicBezTo>
                <a:cubicBezTo>
                  <a:pt x="3170617" y="2076877"/>
                  <a:pt x="2944763" y="2022068"/>
                  <a:pt x="2832458" y="2045246"/>
                </a:cubicBezTo>
                <a:cubicBezTo>
                  <a:pt x="2720153" y="2068424"/>
                  <a:pt x="2460216" y="2020996"/>
                  <a:pt x="2312894" y="2045246"/>
                </a:cubicBezTo>
                <a:cubicBezTo>
                  <a:pt x="2165572" y="2069496"/>
                  <a:pt x="1997400" y="1998723"/>
                  <a:pt x="1754224" y="2045246"/>
                </a:cubicBezTo>
                <a:cubicBezTo>
                  <a:pt x="1511048" y="2091769"/>
                  <a:pt x="1407967" y="2015513"/>
                  <a:pt x="1273768" y="2045246"/>
                </a:cubicBezTo>
                <a:cubicBezTo>
                  <a:pt x="1139569" y="2074979"/>
                  <a:pt x="874618" y="2027191"/>
                  <a:pt x="636884" y="2045246"/>
                </a:cubicBezTo>
                <a:cubicBezTo>
                  <a:pt x="399150" y="2063301"/>
                  <a:pt x="253614" y="2043246"/>
                  <a:pt x="0" y="2045246"/>
                </a:cubicBezTo>
                <a:cubicBezTo>
                  <a:pt x="-2061" y="1928318"/>
                  <a:pt x="20078" y="1779029"/>
                  <a:pt x="0" y="1554387"/>
                </a:cubicBezTo>
                <a:cubicBezTo>
                  <a:pt x="-20078" y="1329745"/>
                  <a:pt x="6638" y="1294027"/>
                  <a:pt x="0" y="1063528"/>
                </a:cubicBezTo>
                <a:cubicBezTo>
                  <a:pt x="-6638" y="833029"/>
                  <a:pt x="9440" y="725276"/>
                  <a:pt x="0" y="593121"/>
                </a:cubicBezTo>
                <a:cubicBezTo>
                  <a:pt x="-9440" y="460966"/>
                  <a:pt x="44540" y="245381"/>
                  <a:pt x="0" y="0"/>
                </a:cubicBezTo>
                <a:close/>
              </a:path>
            </a:pathLst>
          </a:custGeom>
          <a:ln>
            <a:solidFill>
              <a:schemeClr val="tx1"/>
            </a:solidFill>
            <a:extLst>
              <a:ext uri="{C807C97D-BFC1-408E-A445-0C87EB9F89A2}">
                <ask:lineSketchStyleProps xmlns:ask="http://schemas.microsoft.com/office/drawing/2018/sketchyshapes" sd="481711788">
                  <a:prstGeom prst="rect">
                    <a:avLst/>
                  </a:prstGeom>
                  <ask:type>
                    <ask:lineSketchScribble/>
                  </ask:type>
                </ask:lineSketchStyleProps>
              </a:ext>
            </a:extLst>
          </a:ln>
        </p:spPr>
      </p:pic>
    </p:spTree>
    <p:extLst>
      <p:ext uri="{BB962C8B-B14F-4D97-AF65-F5344CB8AC3E}">
        <p14:creationId xmlns:p14="http://schemas.microsoft.com/office/powerpoint/2010/main" val="5267544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BDA0DCE4-BC8F-0BD0-055A-CDEB87756EBB}"/>
              </a:ext>
            </a:extLst>
          </p:cNvPr>
          <p:cNvSpPr/>
          <p:nvPr/>
        </p:nvSpPr>
        <p:spPr>
          <a:xfrm>
            <a:off x="0" y="0"/>
            <a:ext cx="12192000" cy="5197642"/>
          </a:xfrm>
          <a:prstGeom prst="rect">
            <a:avLst/>
          </a:prstGeom>
          <a:solidFill>
            <a:schemeClr val="bg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36" name="Picture 35">
            <a:extLst>
              <a:ext uri="{FF2B5EF4-FFF2-40B4-BE49-F238E27FC236}">
                <a16:creationId xmlns:a16="http://schemas.microsoft.com/office/drawing/2014/main" id="{B61A40FE-8C07-F99D-7238-3E6DB0A6C2FE}"/>
              </a:ext>
            </a:extLst>
          </p:cNvPr>
          <p:cNvPicPr>
            <a:picLocks noChangeAspect="1"/>
          </p:cNvPicPr>
          <p:nvPr/>
        </p:nvPicPr>
        <p:blipFill>
          <a:blip r:embed="rId2"/>
          <a:stretch>
            <a:fillRect/>
          </a:stretch>
        </p:blipFill>
        <p:spPr>
          <a:xfrm>
            <a:off x="4922779" y="5370276"/>
            <a:ext cx="3886646" cy="1443843"/>
          </a:xfrm>
          <a:custGeom>
            <a:avLst/>
            <a:gdLst>
              <a:gd name="connsiteX0" fmla="*/ 0 w 3886646"/>
              <a:gd name="connsiteY0" fmla="*/ 0 h 1443843"/>
              <a:gd name="connsiteX1" fmla="*/ 516369 w 3886646"/>
              <a:gd name="connsiteY1" fmla="*/ 0 h 1443843"/>
              <a:gd name="connsiteX2" fmla="*/ 955004 w 3886646"/>
              <a:gd name="connsiteY2" fmla="*/ 0 h 1443843"/>
              <a:gd name="connsiteX3" fmla="*/ 1432507 w 3886646"/>
              <a:gd name="connsiteY3" fmla="*/ 0 h 1443843"/>
              <a:gd name="connsiteX4" fmla="*/ 2065475 w 3886646"/>
              <a:gd name="connsiteY4" fmla="*/ 0 h 1443843"/>
              <a:gd name="connsiteX5" fmla="*/ 2542977 w 3886646"/>
              <a:gd name="connsiteY5" fmla="*/ 0 h 1443843"/>
              <a:gd name="connsiteX6" fmla="*/ 3059346 w 3886646"/>
              <a:gd name="connsiteY6" fmla="*/ 0 h 1443843"/>
              <a:gd name="connsiteX7" fmla="*/ 3886646 w 3886646"/>
              <a:gd name="connsiteY7" fmla="*/ 0 h 1443843"/>
              <a:gd name="connsiteX8" fmla="*/ 3886646 w 3886646"/>
              <a:gd name="connsiteY8" fmla="*/ 452404 h 1443843"/>
              <a:gd name="connsiteX9" fmla="*/ 3886646 w 3886646"/>
              <a:gd name="connsiteY9" fmla="*/ 919247 h 1443843"/>
              <a:gd name="connsiteX10" fmla="*/ 3886646 w 3886646"/>
              <a:gd name="connsiteY10" fmla="*/ 1443843 h 1443843"/>
              <a:gd name="connsiteX11" fmla="*/ 3448010 w 3886646"/>
              <a:gd name="connsiteY11" fmla="*/ 1443843 h 1443843"/>
              <a:gd name="connsiteX12" fmla="*/ 2931642 w 3886646"/>
              <a:gd name="connsiteY12" fmla="*/ 1443843 h 1443843"/>
              <a:gd name="connsiteX13" fmla="*/ 2415273 w 3886646"/>
              <a:gd name="connsiteY13" fmla="*/ 1443843 h 1443843"/>
              <a:gd name="connsiteX14" fmla="*/ 1821171 w 3886646"/>
              <a:gd name="connsiteY14" fmla="*/ 1443843 h 1443843"/>
              <a:gd name="connsiteX15" fmla="*/ 1382536 w 3886646"/>
              <a:gd name="connsiteY15" fmla="*/ 1443843 h 1443843"/>
              <a:gd name="connsiteX16" fmla="*/ 866167 w 3886646"/>
              <a:gd name="connsiteY16" fmla="*/ 1443843 h 1443843"/>
              <a:gd name="connsiteX17" fmla="*/ 0 w 3886646"/>
              <a:gd name="connsiteY17" fmla="*/ 1443843 h 1443843"/>
              <a:gd name="connsiteX18" fmla="*/ 0 w 3886646"/>
              <a:gd name="connsiteY18" fmla="*/ 933685 h 1443843"/>
              <a:gd name="connsiteX19" fmla="*/ 0 w 3886646"/>
              <a:gd name="connsiteY19" fmla="*/ 423527 h 1443843"/>
              <a:gd name="connsiteX20" fmla="*/ 0 w 3886646"/>
              <a:gd name="connsiteY20" fmla="*/ 0 h 1443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886646" h="1443843" fill="none" extrusionOk="0">
                <a:moveTo>
                  <a:pt x="0" y="0"/>
                </a:moveTo>
                <a:cubicBezTo>
                  <a:pt x="189461" y="-35234"/>
                  <a:pt x="395579" y="27444"/>
                  <a:pt x="516369" y="0"/>
                </a:cubicBezTo>
                <a:cubicBezTo>
                  <a:pt x="637159" y="-27444"/>
                  <a:pt x="760628" y="46284"/>
                  <a:pt x="955004" y="0"/>
                </a:cubicBezTo>
                <a:cubicBezTo>
                  <a:pt x="1149381" y="-46284"/>
                  <a:pt x="1227552" y="25412"/>
                  <a:pt x="1432507" y="0"/>
                </a:cubicBezTo>
                <a:cubicBezTo>
                  <a:pt x="1637462" y="-25412"/>
                  <a:pt x="1826197" y="21457"/>
                  <a:pt x="2065475" y="0"/>
                </a:cubicBezTo>
                <a:cubicBezTo>
                  <a:pt x="2304753" y="-21457"/>
                  <a:pt x="2438846" y="30771"/>
                  <a:pt x="2542977" y="0"/>
                </a:cubicBezTo>
                <a:cubicBezTo>
                  <a:pt x="2647108" y="-30771"/>
                  <a:pt x="2937428" y="8334"/>
                  <a:pt x="3059346" y="0"/>
                </a:cubicBezTo>
                <a:cubicBezTo>
                  <a:pt x="3181264" y="-8334"/>
                  <a:pt x="3513443" y="18298"/>
                  <a:pt x="3886646" y="0"/>
                </a:cubicBezTo>
                <a:cubicBezTo>
                  <a:pt x="3914069" y="165920"/>
                  <a:pt x="3838258" y="331812"/>
                  <a:pt x="3886646" y="452404"/>
                </a:cubicBezTo>
                <a:cubicBezTo>
                  <a:pt x="3935034" y="572996"/>
                  <a:pt x="3834066" y="807210"/>
                  <a:pt x="3886646" y="919247"/>
                </a:cubicBezTo>
                <a:cubicBezTo>
                  <a:pt x="3939226" y="1031284"/>
                  <a:pt x="3846035" y="1214554"/>
                  <a:pt x="3886646" y="1443843"/>
                </a:cubicBezTo>
                <a:cubicBezTo>
                  <a:pt x="3677285" y="1488727"/>
                  <a:pt x="3607430" y="1419079"/>
                  <a:pt x="3448010" y="1443843"/>
                </a:cubicBezTo>
                <a:cubicBezTo>
                  <a:pt x="3288590" y="1468607"/>
                  <a:pt x="3131902" y="1427316"/>
                  <a:pt x="2931642" y="1443843"/>
                </a:cubicBezTo>
                <a:cubicBezTo>
                  <a:pt x="2731382" y="1460370"/>
                  <a:pt x="2621916" y="1440738"/>
                  <a:pt x="2415273" y="1443843"/>
                </a:cubicBezTo>
                <a:cubicBezTo>
                  <a:pt x="2208630" y="1446948"/>
                  <a:pt x="1967013" y="1413457"/>
                  <a:pt x="1821171" y="1443843"/>
                </a:cubicBezTo>
                <a:cubicBezTo>
                  <a:pt x="1675329" y="1474229"/>
                  <a:pt x="1521591" y="1396641"/>
                  <a:pt x="1382536" y="1443843"/>
                </a:cubicBezTo>
                <a:cubicBezTo>
                  <a:pt x="1243481" y="1491045"/>
                  <a:pt x="1060403" y="1384803"/>
                  <a:pt x="866167" y="1443843"/>
                </a:cubicBezTo>
                <a:cubicBezTo>
                  <a:pt x="671931" y="1502883"/>
                  <a:pt x="423534" y="1415796"/>
                  <a:pt x="0" y="1443843"/>
                </a:cubicBezTo>
                <a:cubicBezTo>
                  <a:pt x="-6807" y="1234944"/>
                  <a:pt x="58360" y="1161198"/>
                  <a:pt x="0" y="933685"/>
                </a:cubicBezTo>
                <a:cubicBezTo>
                  <a:pt x="-58360" y="706172"/>
                  <a:pt x="41753" y="607974"/>
                  <a:pt x="0" y="423527"/>
                </a:cubicBezTo>
                <a:cubicBezTo>
                  <a:pt x="-41753" y="239080"/>
                  <a:pt x="30879" y="193410"/>
                  <a:pt x="0" y="0"/>
                </a:cubicBezTo>
                <a:close/>
              </a:path>
              <a:path w="3886646" h="1443843" stroke="0" extrusionOk="0">
                <a:moveTo>
                  <a:pt x="0" y="0"/>
                </a:moveTo>
                <a:cubicBezTo>
                  <a:pt x="175287" y="-49361"/>
                  <a:pt x="307627" y="60874"/>
                  <a:pt x="516369" y="0"/>
                </a:cubicBezTo>
                <a:cubicBezTo>
                  <a:pt x="725111" y="-60874"/>
                  <a:pt x="886953" y="45395"/>
                  <a:pt x="1032737" y="0"/>
                </a:cubicBezTo>
                <a:cubicBezTo>
                  <a:pt x="1178521" y="-45395"/>
                  <a:pt x="1316397" y="41286"/>
                  <a:pt x="1549106" y="0"/>
                </a:cubicBezTo>
                <a:cubicBezTo>
                  <a:pt x="1781815" y="-41286"/>
                  <a:pt x="1882679" y="20600"/>
                  <a:pt x="2065475" y="0"/>
                </a:cubicBezTo>
                <a:cubicBezTo>
                  <a:pt x="2248271" y="-20600"/>
                  <a:pt x="2432805" y="35964"/>
                  <a:pt x="2620710" y="0"/>
                </a:cubicBezTo>
                <a:cubicBezTo>
                  <a:pt x="2808616" y="-35964"/>
                  <a:pt x="2936580" y="49795"/>
                  <a:pt x="3098212" y="0"/>
                </a:cubicBezTo>
                <a:cubicBezTo>
                  <a:pt x="3259844" y="-49795"/>
                  <a:pt x="3592781" y="81143"/>
                  <a:pt x="3886646" y="0"/>
                </a:cubicBezTo>
                <a:cubicBezTo>
                  <a:pt x="3905186" y="113994"/>
                  <a:pt x="3856424" y="347530"/>
                  <a:pt x="3886646" y="437966"/>
                </a:cubicBezTo>
                <a:cubicBezTo>
                  <a:pt x="3916868" y="528402"/>
                  <a:pt x="3841234" y="744161"/>
                  <a:pt x="3886646" y="890370"/>
                </a:cubicBezTo>
                <a:cubicBezTo>
                  <a:pt x="3932058" y="1036579"/>
                  <a:pt x="3832298" y="1188791"/>
                  <a:pt x="3886646" y="1443843"/>
                </a:cubicBezTo>
                <a:cubicBezTo>
                  <a:pt x="3671484" y="1485348"/>
                  <a:pt x="3556997" y="1426790"/>
                  <a:pt x="3448010" y="1443843"/>
                </a:cubicBezTo>
                <a:cubicBezTo>
                  <a:pt x="3339023" y="1460896"/>
                  <a:pt x="2962444" y="1375594"/>
                  <a:pt x="2815042" y="1443843"/>
                </a:cubicBezTo>
                <a:cubicBezTo>
                  <a:pt x="2667640" y="1512092"/>
                  <a:pt x="2480409" y="1381306"/>
                  <a:pt x="2220941" y="1443843"/>
                </a:cubicBezTo>
                <a:cubicBezTo>
                  <a:pt x="1961473" y="1506380"/>
                  <a:pt x="1852914" y="1383180"/>
                  <a:pt x="1587973" y="1443843"/>
                </a:cubicBezTo>
                <a:cubicBezTo>
                  <a:pt x="1323032" y="1504506"/>
                  <a:pt x="1124504" y="1390568"/>
                  <a:pt x="993871" y="1443843"/>
                </a:cubicBezTo>
                <a:cubicBezTo>
                  <a:pt x="863238" y="1497118"/>
                  <a:pt x="216749" y="1411093"/>
                  <a:pt x="0" y="1443843"/>
                </a:cubicBezTo>
                <a:cubicBezTo>
                  <a:pt x="-8796" y="1240496"/>
                  <a:pt x="37679" y="1105937"/>
                  <a:pt x="0" y="948124"/>
                </a:cubicBezTo>
                <a:cubicBezTo>
                  <a:pt x="-37679" y="790311"/>
                  <a:pt x="42957" y="595506"/>
                  <a:pt x="0" y="495719"/>
                </a:cubicBezTo>
                <a:cubicBezTo>
                  <a:pt x="-42957" y="395932"/>
                  <a:pt x="37895" y="205871"/>
                  <a:pt x="0" y="0"/>
                </a:cubicBezTo>
                <a:close/>
              </a:path>
            </a:pathLst>
          </a:custGeom>
          <a:ln>
            <a:solidFill>
              <a:schemeClr val="tx1"/>
            </a:solidFill>
            <a:extLst>
              <a:ext uri="{C807C97D-BFC1-408E-A445-0C87EB9F89A2}">
                <ask:lineSketchStyleProps xmlns:ask="http://schemas.microsoft.com/office/drawing/2018/sketchyshapes" sd="47590592">
                  <a:prstGeom prst="rect">
                    <a:avLst/>
                  </a:prstGeom>
                  <ask:type>
                    <ask:lineSketchScribble/>
                  </ask:type>
                </ask:lineSketchStyleProps>
              </a:ext>
            </a:extLst>
          </a:ln>
        </p:spPr>
      </p:pic>
      <p:sp>
        <p:nvSpPr>
          <p:cNvPr id="5" name="Title 4">
            <a:extLst>
              <a:ext uri="{FF2B5EF4-FFF2-40B4-BE49-F238E27FC236}">
                <a16:creationId xmlns:a16="http://schemas.microsoft.com/office/drawing/2014/main" id="{C8CA6368-5CF7-2926-B66A-1280784ACC0F}"/>
              </a:ext>
            </a:extLst>
          </p:cNvPr>
          <p:cNvSpPr>
            <a:spLocks noGrp="1"/>
          </p:cNvSpPr>
          <p:nvPr>
            <p:ph type="title"/>
          </p:nvPr>
        </p:nvSpPr>
        <p:spPr/>
        <p:txBody>
          <a:bodyPr/>
          <a:lstStyle/>
          <a:p>
            <a:r>
              <a:rPr lang="en-CA" dirty="0"/>
              <a:t>AI Persuasion</a:t>
            </a:r>
          </a:p>
        </p:txBody>
      </p:sp>
      <p:sp>
        <p:nvSpPr>
          <p:cNvPr id="28" name="TextBox 27">
            <a:extLst>
              <a:ext uri="{FF2B5EF4-FFF2-40B4-BE49-F238E27FC236}">
                <a16:creationId xmlns:a16="http://schemas.microsoft.com/office/drawing/2014/main" id="{7812A8AA-3198-079F-F893-7112EF5E594C}"/>
              </a:ext>
            </a:extLst>
          </p:cNvPr>
          <p:cNvSpPr txBox="1"/>
          <p:nvPr/>
        </p:nvSpPr>
        <p:spPr>
          <a:xfrm>
            <a:off x="838200" y="3723705"/>
            <a:ext cx="6094854" cy="1323439"/>
          </a:xfrm>
          <a:prstGeom prst="rect">
            <a:avLst/>
          </a:prstGeom>
          <a:noFill/>
        </p:spPr>
        <p:txBody>
          <a:bodyPr wrap="square">
            <a:spAutoFit/>
          </a:bodyPr>
          <a:lstStyle/>
          <a:p>
            <a:pPr algn="ctr"/>
            <a:r>
              <a:rPr lang="en-US" sz="2000" b="0" i="1" dirty="0">
                <a:solidFill>
                  <a:srgbClr val="494E52"/>
                </a:solidFill>
                <a:effectLst/>
              </a:rPr>
              <a:t>Imagine every time you searched online or accessed information via your digital assistant, the information was presented to you exactly in the form mostly likely alter your consumer preferences or political opinions</a:t>
            </a:r>
            <a:endParaRPr lang="en-CA" sz="2000" i="1" dirty="0"/>
          </a:p>
        </p:txBody>
      </p:sp>
      <p:sp>
        <p:nvSpPr>
          <p:cNvPr id="30" name="TextBox 29">
            <a:extLst>
              <a:ext uri="{FF2B5EF4-FFF2-40B4-BE49-F238E27FC236}">
                <a16:creationId xmlns:a16="http://schemas.microsoft.com/office/drawing/2014/main" id="{303FBC0A-811F-DA0C-C1CB-016350453D05}"/>
              </a:ext>
            </a:extLst>
          </p:cNvPr>
          <p:cNvSpPr txBox="1"/>
          <p:nvPr/>
        </p:nvSpPr>
        <p:spPr>
          <a:xfrm>
            <a:off x="7479780" y="3785259"/>
            <a:ext cx="3474125" cy="1200329"/>
          </a:xfrm>
          <a:prstGeom prst="rect">
            <a:avLst/>
          </a:prstGeom>
          <a:solidFill>
            <a:schemeClr val="bg1">
              <a:lumMod val="95000"/>
            </a:schemeClr>
          </a:solidFill>
        </p:spPr>
        <p:txBody>
          <a:bodyPr wrap="square">
            <a:spAutoFit/>
          </a:bodyPr>
          <a:lstStyle/>
          <a:p>
            <a:r>
              <a:rPr lang="en-US" dirty="0">
                <a:solidFill>
                  <a:srgbClr val="494E52"/>
                </a:solidFill>
              </a:rPr>
              <a:t>T</a:t>
            </a:r>
            <a:r>
              <a:rPr lang="en-US" b="0" i="0" dirty="0">
                <a:solidFill>
                  <a:srgbClr val="494E52"/>
                </a:solidFill>
                <a:effectLst/>
              </a:rPr>
              <a:t>he existence of such capabilities incentivizes authoritarian capture of online information access platforms</a:t>
            </a:r>
            <a:endParaRPr lang="en-CA" dirty="0"/>
          </a:p>
        </p:txBody>
      </p:sp>
      <p:pic>
        <p:nvPicPr>
          <p:cNvPr id="32" name="Picture 31">
            <a:extLst>
              <a:ext uri="{FF2B5EF4-FFF2-40B4-BE49-F238E27FC236}">
                <a16:creationId xmlns:a16="http://schemas.microsoft.com/office/drawing/2014/main" id="{BBC17EF7-56F5-6B0E-3F4D-51D8C9BC0065}"/>
              </a:ext>
            </a:extLst>
          </p:cNvPr>
          <p:cNvPicPr>
            <a:picLocks noChangeAspect="1"/>
          </p:cNvPicPr>
          <p:nvPr/>
        </p:nvPicPr>
        <p:blipFill>
          <a:blip r:embed="rId3"/>
          <a:stretch>
            <a:fillRect/>
          </a:stretch>
        </p:blipFill>
        <p:spPr>
          <a:xfrm>
            <a:off x="124357" y="5569660"/>
            <a:ext cx="3761270" cy="703722"/>
          </a:xfrm>
          <a:custGeom>
            <a:avLst/>
            <a:gdLst>
              <a:gd name="connsiteX0" fmla="*/ 0 w 3761270"/>
              <a:gd name="connsiteY0" fmla="*/ 0 h 703722"/>
              <a:gd name="connsiteX1" fmla="*/ 537324 w 3761270"/>
              <a:gd name="connsiteY1" fmla="*/ 0 h 703722"/>
              <a:gd name="connsiteX2" fmla="*/ 1149874 w 3761270"/>
              <a:gd name="connsiteY2" fmla="*/ 0 h 703722"/>
              <a:gd name="connsiteX3" fmla="*/ 1687198 w 3761270"/>
              <a:gd name="connsiteY3" fmla="*/ 0 h 703722"/>
              <a:gd name="connsiteX4" fmla="*/ 2224523 w 3761270"/>
              <a:gd name="connsiteY4" fmla="*/ 0 h 703722"/>
              <a:gd name="connsiteX5" fmla="*/ 2686621 w 3761270"/>
              <a:gd name="connsiteY5" fmla="*/ 0 h 703722"/>
              <a:gd name="connsiteX6" fmla="*/ 3261558 w 3761270"/>
              <a:gd name="connsiteY6" fmla="*/ 0 h 703722"/>
              <a:gd name="connsiteX7" fmla="*/ 3761270 w 3761270"/>
              <a:gd name="connsiteY7" fmla="*/ 0 h 703722"/>
              <a:gd name="connsiteX8" fmla="*/ 3761270 w 3761270"/>
              <a:gd name="connsiteY8" fmla="*/ 358898 h 703722"/>
              <a:gd name="connsiteX9" fmla="*/ 3761270 w 3761270"/>
              <a:gd name="connsiteY9" fmla="*/ 703722 h 703722"/>
              <a:gd name="connsiteX10" fmla="*/ 3261558 w 3761270"/>
              <a:gd name="connsiteY10" fmla="*/ 703722 h 703722"/>
              <a:gd name="connsiteX11" fmla="*/ 2724234 w 3761270"/>
              <a:gd name="connsiteY11" fmla="*/ 703722 h 703722"/>
              <a:gd name="connsiteX12" fmla="*/ 2224523 w 3761270"/>
              <a:gd name="connsiteY12" fmla="*/ 703722 h 703722"/>
              <a:gd name="connsiteX13" fmla="*/ 1762424 w 3761270"/>
              <a:gd name="connsiteY13" fmla="*/ 703722 h 703722"/>
              <a:gd name="connsiteX14" fmla="*/ 1337937 w 3761270"/>
              <a:gd name="connsiteY14" fmla="*/ 703722 h 703722"/>
              <a:gd name="connsiteX15" fmla="*/ 763000 w 3761270"/>
              <a:gd name="connsiteY15" fmla="*/ 703722 h 703722"/>
              <a:gd name="connsiteX16" fmla="*/ 0 w 3761270"/>
              <a:gd name="connsiteY16" fmla="*/ 703722 h 703722"/>
              <a:gd name="connsiteX17" fmla="*/ 0 w 3761270"/>
              <a:gd name="connsiteY17" fmla="*/ 351861 h 703722"/>
              <a:gd name="connsiteX18" fmla="*/ 0 w 3761270"/>
              <a:gd name="connsiteY18" fmla="*/ 0 h 703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761270" h="703722" fill="none" extrusionOk="0">
                <a:moveTo>
                  <a:pt x="0" y="0"/>
                </a:moveTo>
                <a:cubicBezTo>
                  <a:pt x="238596" y="-1328"/>
                  <a:pt x="392633" y="48769"/>
                  <a:pt x="537324" y="0"/>
                </a:cubicBezTo>
                <a:cubicBezTo>
                  <a:pt x="682015" y="-48769"/>
                  <a:pt x="974575" y="42059"/>
                  <a:pt x="1149874" y="0"/>
                </a:cubicBezTo>
                <a:cubicBezTo>
                  <a:pt x="1325173" y="-42059"/>
                  <a:pt x="1553787" y="27192"/>
                  <a:pt x="1687198" y="0"/>
                </a:cubicBezTo>
                <a:cubicBezTo>
                  <a:pt x="1820609" y="-27192"/>
                  <a:pt x="2086167" y="57411"/>
                  <a:pt x="2224523" y="0"/>
                </a:cubicBezTo>
                <a:cubicBezTo>
                  <a:pt x="2362879" y="-57411"/>
                  <a:pt x="2466717" y="18190"/>
                  <a:pt x="2686621" y="0"/>
                </a:cubicBezTo>
                <a:cubicBezTo>
                  <a:pt x="2906525" y="-18190"/>
                  <a:pt x="2977176" y="43816"/>
                  <a:pt x="3261558" y="0"/>
                </a:cubicBezTo>
                <a:cubicBezTo>
                  <a:pt x="3545940" y="-43816"/>
                  <a:pt x="3544529" y="39715"/>
                  <a:pt x="3761270" y="0"/>
                </a:cubicBezTo>
                <a:cubicBezTo>
                  <a:pt x="3800248" y="103593"/>
                  <a:pt x="3723315" y="208273"/>
                  <a:pt x="3761270" y="358898"/>
                </a:cubicBezTo>
                <a:cubicBezTo>
                  <a:pt x="3799225" y="509523"/>
                  <a:pt x="3754023" y="565204"/>
                  <a:pt x="3761270" y="703722"/>
                </a:cubicBezTo>
                <a:cubicBezTo>
                  <a:pt x="3610508" y="729921"/>
                  <a:pt x="3501687" y="677685"/>
                  <a:pt x="3261558" y="703722"/>
                </a:cubicBezTo>
                <a:cubicBezTo>
                  <a:pt x="3021429" y="729759"/>
                  <a:pt x="2914368" y="644808"/>
                  <a:pt x="2724234" y="703722"/>
                </a:cubicBezTo>
                <a:cubicBezTo>
                  <a:pt x="2534100" y="762636"/>
                  <a:pt x="2401288" y="657911"/>
                  <a:pt x="2224523" y="703722"/>
                </a:cubicBezTo>
                <a:cubicBezTo>
                  <a:pt x="2047758" y="749533"/>
                  <a:pt x="1932766" y="675708"/>
                  <a:pt x="1762424" y="703722"/>
                </a:cubicBezTo>
                <a:cubicBezTo>
                  <a:pt x="1592082" y="731736"/>
                  <a:pt x="1505947" y="685069"/>
                  <a:pt x="1337937" y="703722"/>
                </a:cubicBezTo>
                <a:cubicBezTo>
                  <a:pt x="1169927" y="722375"/>
                  <a:pt x="890361" y="695767"/>
                  <a:pt x="763000" y="703722"/>
                </a:cubicBezTo>
                <a:cubicBezTo>
                  <a:pt x="635639" y="711677"/>
                  <a:pt x="330411" y="620370"/>
                  <a:pt x="0" y="703722"/>
                </a:cubicBezTo>
                <a:cubicBezTo>
                  <a:pt x="-13918" y="617463"/>
                  <a:pt x="32630" y="453744"/>
                  <a:pt x="0" y="351861"/>
                </a:cubicBezTo>
                <a:cubicBezTo>
                  <a:pt x="-32630" y="249978"/>
                  <a:pt x="39365" y="121301"/>
                  <a:pt x="0" y="0"/>
                </a:cubicBezTo>
                <a:close/>
              </a:path>
              <a:path w="3761270" h="703722" stroke="0" extrusionOk="0">
                <a:moveTo>
                  <a:pt x="0" y="0"/>
                </a:moveTo>
                <a:cubicBezTo>
                  <a:pt x="157701" y="-48965"/>
                  <a:pt x="370338" y="59735"/>
                  <a:pt x="499712" y="0"/>
                </a:cubicBezTo>
                <a:cubicBezTo>
                  <a:pt x="629086" y="-59735"/>
                  <a:pt x="805977" y="32709"/>
                  <a:pt x="1037036" y="0"/>
                </a:cubicBezTo>
                <a:cubicBezTo>
                  <a:pt x="1268095" y="-32709"/>
                  <a:pt x="1370911" y="664"/>
                  <a:pt x="1649586" y="0"/>
                </a:cubicBezTo>
                <a:cubicBezTo>
                  <a:pt x="1928261" y="-664"/>
                  <a:pt x="1983464" y="31297"/>
                  <a:pt x="2224523" y="0"/>
                </a:cubicBezTo>
                <a:cubicBezTo>
                  <a:pt x="2465582" y="-31297"/>
                  <a:pt x="2575177" y="13896"/>
                  <a:pt x="2724234" y="0"/>
                </a:cubicBezTo>
                <a:cubicBezTo>
                  <a:pt x="2873291" y="-13896"/>
                  <a:pt x="2979478" y="49022"/>
                  <a:pt x="3223946" y="0"/>
                </a:cubicBezTo>
                <a:cubicBezTo>
                  <a:pt x="3468414" y="-49022"/>
                  <a:pt x="3555241" y="18376"/>
                  <a:pt x="3761270" y="0"/>
                </a:cubicBezTo>
                <a:cubicBezTo>
                  <a:pt x="3770293" y="91916"/>
                  <a:pt x="3751163" y="199546"/>
                  <a:pt x="3761270" y="337787"/>
                </a:cubicBezTo>
                <a:cubicBezTo>
                  <a:pt x="3771377" y="476028"/>
                  <a:pt x="3753481" y="621355"/>
                  <a:pt x="3761270" y="703722"/>
                </a:cubicBezTo>
                <a:cubicBezTo>
                  <a:pt x="3502668" y="761502"/>
                  <a:pt x="3351244" y="644306"/>
                  <a:pt x="3148720" y="703722"/>
                </a:cubicBezTo>
                <a:cubicBezTo>
                  <a:pt x="2946196" y="763138"/>
                  <a:pt x="2805900" y="669094"/>
                  <a:pt x="2686621" y="703722"/>
                </a:cubicBezTo>
                <a:cubicBezTo>
                  <a:pt x="2567342" y="738350"/>
                  <a:pt x="2447070" y="653401"/>
                  <a:pt x="2224523" y="703722"/>
                </a:cubicBezTo>
                <a:cubicBezTo>
                  <a:pt x="2001976" y="754043"/>
                  <a:pt x="1881767" y="660369"/>
                  <a:pt x="1724811" y="703722"/>
                </a:cubicBezTo>
                <a:cubicBezTo>
                  <a:pt x="1567855" y="747075"/>
                  <a:pt x="1416466" y="655490"/>
                  <a:pt x="1262712" y="703722"/>
                </a:cubicBezTo>
                <a:cubicBezTo>
                  <a:pt x="1108958" y="751954"/>
                  <a:pt x="875679" y="664764"/>
                  <a:pt x="687775" y="703722"/>
                </a:cubicBezTo>
                <a:cubicBezTo>
                  <a:pt x="499871" y="742680"/>
                  <a:pt x="339145" y="693302"/>
                  <a:pt x="0" y="703722"/>
                </a:cubicBezTo>
                <a:cubicBezTo>
                  <a:pt x="-38191" y="624460"/>
                  <a:pt x="3118" y="512725"/>
                  <a:pt x="0" y="372973"/>
                </a:cubicBezTo>
                <a:cubicBezTo>
                  <a:pt x="-3118" y="233221"/>
                  <a:pt x="43409" y="102978"/>
                  <a:pt x="0" y="0"/>
                </a:cubicBezTo>
                <a:close/>
              </a:path>
            </a:pathLst>
          </a:custGeom>
          <a:ln>
            <a:solidFill>
              <a:schemeClr val="tx1"/>
            </a:solidFill>
            <a:extLst>
              <a:ext uri="{C807C97D-BFC1-408E-A445-0C87EB9F89A2}">
                <ask:lineSketchStyleProps xmlns:ask="http://schemas.microsoft.com/office/drawing/2018/sketchyshapes" sd="2817191736">
                  <a:prstGeom prst="rect">
                    <a:avLst/>
                  </a:prstGeom>
                  <ask:type>
                    <ask:lineSketchScribble/>
                  </ask:type>
                </ask:lineSketchStyleProps>
              </a:ext>
            </a:extLst>
          </a:ln>
        </p:spPr>
      </p:pic>
      <p:pic>
        <p:nvPicPr>
          <p:cNvPr id="34" name="Picture 33">
            <a:extLst>
              <a:ext uri="{FF2B5EF4-FFF2-40B4-BE49-F238E27FC236}">
                <a16:creationId xmlns:a16="http://schemas.microsoft.com/office/drawing/2014/main" id="{5DDC104A-7EFE-17AA-8FAE-167E8E5A8492}"/>
              </a:ext>
            </a:extLst>
          </p:cNvPr>
          <p:cNvPicPr>
            <a:picLocks noChangeAspect="1"/>
          </p:cNvPicPr>
          <p:nvPr/>
        </p:nvPicPr>
        <p:blipFill>
          <a:blip r:embed="rId4"/>
          <a:stretch>
            <a:fillRect/>
          </a:stretch>
        </p:blipFill>
        <p:spPr>
          <a:xfrm>
            <a:off x="1771229" y="6015358"/>
            <a:ext cx="3292123" cy="1144558"/>
          </a:xfrm>
          <a:custGeom>
            <a:avLst/>
            <a:gdLst>
              <a:gd name="connsiteX0" fmla="*/ 0 w 3292123"/>
              <a:gd name="connsiteY0" fmla="*/ 0 h 1144558"/>
              <a:gd name="connsiteX1" fmla="*/ 548687 w 3292123"/>
              <a:gd name="connsiteY1" fmla="*/ 0 h 1144558"/>
              <a:gd name="connsiteX2" fmla="*/ 1064453 w 3292123"/>
              <a:gd name="connsiteY2" fmla="*/ 0 h 1144558"/>
              <a:gd name="connsiteX3" fmla="*/ 1580219 w 3292123"/>
              <a:gd name="connsiteY3" fmla="*/ 0 h 1144558"/>
              <a:gd name="connsiteX4" fmla="*/ 2030143 w 3292123"/>
              <a:gd name="connsiteY4" fmla="*/ 0 h 1144558"/>
              <a:gd name="connsiteX5" fmla="*/ 2512987 w 3292123"/>
              <a:gd name="connsiteY5" fmla="*/ 0 h 1144558"/>
              <a:gd name="connsiteX6" fmla="*/ 3292123 w 3292123"/>
              <a:gd name="connsiteY6" fmla="*/ 0 h 1144558"/>
              <a:gd name="connsiteX7" fmla="*/ 3292123 w 3292123"/>
              <a:gd name="connsiteY7" fmla="*/ 549388 h 1144558"/>
              <a:gd name="connsiteX8" fmla="*/ 3292123 w 3292123"/>
              <a:gd name="connsiteY8" fmla="*/ 1144558 h 1144558"/>
              <a:gd name="connsiteX9" fmla="*/ 2842200 w 3292123"/>
              <a:gd name="connsiteY9" fmla="*/ 1144558 h 1144558"/>
              <a:gd name="connsiteX10" fmla="*/ 2359355 w 3292123"/>
              <a:gd name="connsiteY10" fmla="*/ 1144558 h 1144558"/>
              <a:gd name="connsiteX11" fmla="*/ 1744825 w 3292123"/>
              <a:gd name="connsiteY11" fmla="*/ 1144558 h 1144558"/>
              <a:gd name="connsiteX12" fmla="*/ 1196138 w 3292123"/>
              <a:gd name="connsiteY12" fmla="*/ 1144558 h 1144558"/>
              <a:gd name="connsiteX13" fmla="*/ 614530 w 3292123"/>
              <a:gd name="connsiteY13" fmla="*/ 1144558 h 1144558"/>
              <a:gd name="connsiteX14" fmla="*/ 0 w 3292123"/>
              <a:gd name="connsiteY14" fmla="*/ 1144558 h 1144558"/>
              <a:gd name="connsiteX15" fmla="*/ 0 w 3292123"/>
              <a:gd name="connsiteY15" fmla="*/ 606616 h 1144558"/>
              <a:gd name="connsiteX16" fmla="*/ 0 w 3292123"/>
              <a:gd name="connsiteY16" fmla="*/ 0 h 114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92123" h="1144558" fill="none" extrusionOk="0">
                <a:moveTo>
                  <a:pt x="0" y="0"/>
                </a:moveTo>
                <a:cubicBezTo>
                  <a:pt x="179945" y="-34128"/>
                  <a:pt x="380525" y="4904"/>
                  <a:pt x="548687" y="0"/>
                </a:cubicBezTo>
                <a:cubicBezTo>
                  <a:pt x="716849" y="-4904"/>
                  <a:pt x="918464" y="23027"/>
                  <a:pt x="1064453" y="0"/>
                </a:cubicBezTo>
                <a:cubicBezTo>
                  <a:pt x="1210442" y="-23027"/>
                  <a:pt x="1455725" y="31659"/>
                  <a:pt x="1580219" y="0"/>
                </a:cubicBezTo>
                <a:cubicBezTo>
                  <a:pt x="1704713" y="-31659"/>
                  <a:pt x="1923525" y="15116"/>
                  <a:pt x="2030143" y="0"/>
                </a:cubicBezTo>
                <a:cubicBezTo>
                  <a:pt x="2136761" y="-15116"/>
                  <a:pt x="2414831" y="37701"/>
                  <a:pt x="2512987" y="0"/>
                </a:cubicBezTo>
                <a:cubicBezTo>
                  <a:pt x="2611143" y="-37701"/>
                  <a:pt x="3027326" y="91689"/>
                  <a:pt x="3292123" y="0"/>
                </a:cubicBezTo>
                <a:cubicBezTo>
                  <a:pt x="3298091" y="111659"/>
                  <a:pt x="3235453" y="405773"/>
                  <a:pt x="3292123" y="549388"/>
                </a:cubicBezTo>
                <a:cubicBezTo>
                  <a:pt x="3348793" y="693003"/>
                  <a:pt x="3221229" y="1019761"/>
                  <a:pt x="3292123" y="1144558"/>
                </a:cubicBezTo>
                <a:cubicBezTo>
                  <a:pt x="3134286" y="1165684"/>
                  <a:pt x="2966197" y="1108073"/>
                  <a:pt x="2842200" y="1144558"/>
                </a:cubicBezTo>
                <a:cubicBezTo>
                  <a:pt x="2718203" y="1181043"/>
                  <a:pt x="2481262" y="1137904"/>
                  <a:pt x="2359355" y="1144558"/>
                </a:cubicBezTo>
                <a:cubicBezTo>
                  <a:pt x="2237449" y="1151212"/>
                  <a:pt x="2037354" y="1136234"/>
                  <a:pt x="1744825" y="1144558"/>
                </a:cubicBezTo>
                <a:cubicBezTo>
                  <a:pt x="1452296" y="1152882"/>
                  <a:pt x="1357094" y="1118355"/>
                  <a:pt x="1196138" y="1144558"/>
                </a:cubicBezTo>
                <a:cubicBezTo>
                  <a:pt x="1035182" y="1170761"/>
                  <a:pt x="782523" y="1075423"/>
                  <a:pt x="614530" y="1144558"/>
                </a:cubicBezTo>
                <a:cubicBezTo>
                  <a:pt x="446537" y="1213693"/>
                  <a:pt x="207367" y="1129565"/>
                  <a:pt x="0" y="1144558"/>
                </a:cubicBezTo>
                <a:cubicBezTo>
                  <a:pt x="-4245" y="929296"/>
                  <a:pt x="40759" y="813926"/>
                  <a:pt x="0" y="606616"/>
                </a:cubicBezTo>
                <a:cubicBezTo>
                  <a:pt x="-40759" y="399306"/>
                  <a:pt x="41597" y="266453"/>
                  <a:pt x="0" y="0"/>
                </a:cubicBezTo>
                <a:close/>
              </a:path>
              <a:path w="3292123" h="1144558" stroke="0" extrusionOk="0">
                <a:moveTo>
                  <a:pt x="0" y="0"/>
                </a:moveTo>
                <a:cubicBezTo>
                  <a:pt x="194053" y="-46661"/>
                  <a:pt x="321359" y="45767"/>
                  <a:pt x="581608" y="0"/>
                </a:cubicBezTo>
                <a:cubicBezTo>
                  <a:pt x="841857" y="-45767"/>
                  <a:pt x="934589" y="46959"/>
                  <a:pt x="1031532" y="0"/>
                </a:cubicBezTo>
                <a:cubicBezTo>
                  <a:pt x="1128475" y="-46959"/>
                  <a:pt x="1289220" y="22434"/>
                  <a:pt x="1514377" y="0"/>
                </a:cubicBezTo>
                <a:cubicBezTo>
                  <a:pt x="1739535" y="-22434"/>
                  <a:pt x="1817989" y="50952"/>
                  <a:pt x="1964300" y="0"/>
                </a:cubicBezTo>
                <a:cubicBezTo>
                  <a:pt x="2110611" y="-50952"/>
                  <a:pt x="2386727" y="49401"/>
                  <a:pt x="2578830" y="0"/>
                </a:cubicBezTo>
                <a:cubicBezTo>
                  <a:pt x="2770933" y="-49401"/>
                  <a:pt x="2985038" y="21081"/>
                  <a:pt x="3292123" y="0"/>
                </a:cubicBezTo>
                <a:cubicBezTo>
                  <a:pt x="3339608" y="248025"/>
                  <a:pt x="3227245" y="424090"/>
                  <a:pt x="3292123" y="549388"/>
                </a:cubicBezTo>
                <a:cubicBezTo>
                  <a:pt x="3357001" y="674686"/>
                  <a:pt x="3225306" y="973561"/>
                  <a:pt x="3292123" y="1144558"/>
                </a:cubicBezTo>
                <a:cubicBezTo>
                  <a:pt x="3164530" y="1153731"/>
                  <a:pt x="3019144" y="1084503"/>
                  <a:pt x="2776357" y="1144558"/>
                </a:cubicBezTo>
                <a:cubicBezTo>
                  <a:pt x="2533570" y="1204613"/>
                  <a:pt x="2430081" y="1114687"/>
                  <a:pt x="2161827" y="1144558"/>
                </a:cubicBezTo>
                <a:cubicBezTo>
                  <a:pt x="1893573" y="1174429"/>
                  <a:pt x="1861069" y="1095436"/>
                  <a:pt x="1580219" y="1144558"/>
                </a:cubicBezTo>
                <a:cubicBezTo>
                  <a:pt x="1299369" y="1193680"/>
                  <a:pt x="1270054" y="1086514"/>
                  <a:pt x="1064453" y="1144558"/>
                </a:cubicBezTo>
                <a:cubicBezTo>
                  <a:pt x="858852" y="1202602"/>
                  <a:pt x="691946" y="1134880"/>
                  <a:pt x="581608" y="1144558"/>
                </a:cubicBezTo>
                <a:cubicBezTo>
                  <a:pt x="471270" y="1154236"/>
                  <a:pt x="127772" y="1123880"/>
                  <a:pt x="0" y="1144558"/>
                </a:cubicBezTo>
                <a:cubicBezTo>
                  <a:pt x="-48428" y="941814"/>
                  <a:pt x="59908" y="818048"/>
                  <a:pt x="0" y="549388"/>
                </a:cubicBezTo>
                <a:cubicBezTo>
                  <a:pt x="-59908" y="280728"/>
                  <a:pt x="44230" y="274039"/>
                  <a:pt x="0" y="0"/>
                </a:cubicBezTo>
                <a:close/>
              </a:path>
            </a:pathLst>
          </a:custGeom>
          <a:ln>
            <a:solidFill>
              <a:schemeClr val="tx1"/>
            </a:solidFill>
            <a:extLst>
              <a:ext uri="{C807C97D-BFC1-408E-A445-0C87EB9F89A2}">
                <ask:lineSketchStyleProps xmlns:ask="http://schemas.microsoft.com/office/drawing/2018/sketchyshapes" sd="605285794">
                  <a:prstGeom prst="rect">
                    <a:avLst/>
                  </a:prstGeom>
                  <ask:type>
                    <ask:lineSketchScribble/>
                  </ask:type>
                </ask:lineSketchStyleProps>
              </a:ext>
            </a:extLst>
          </a:ln>
        </p:spPr>
      </p:pic>
      <p:pic>
        <p:nvPicPr>
          <p:cNvPr id="38" name="Picture 37">
            <a:extLst>
              <a:ext uri="{FF2B5EF4-FFF2-40B4-BE49-F238E27FC236}">
                <a16:creationId xmlns:a16="http://schemas.microsoft.com/office/drawing/2014/main" id="{71BEB79D-795A-D8D7-BF85-651F9489C8E2}"/>
              </a:ext>
            </a:extLst>
          </p:cNvPr>
          <p:cNvPicPr>
            <a:picLocks noChangeAspect="1"/>
          </p:cNvPicPr>
          <p:nvPr/>
        </p:nvPicPr>
        <p:blipFill>
          <a:blip r:embed="rId5"/>
          <a:stretch>
            <a:fillRect/>
          </a:stretch>
        </p:blipFill>
        <p:spPr>
          <a:xfrm>
            <a:off x="8626591" y="5701553"/>
            <a:ext cx="3215279" cy="1201180"/>
          </a:xfrm>
          <a:custGeom>
            <a:avLst/>
            <a:gdLst>
              <a:gd name="connsiteX0" fmla="*/ 0 w 3215279"/>
              <a:gd name="connsiteY0" fmla="*/ 0 h 1201180"/>
              <a:gd name="connsiteX1" fmla="*/ 535880 w 3215279"/>
              <a:gd name="connsiteY1" fmla="*/ 0 h 1201180"/>
              <a:gd name="connsiteX2" fmla="*/ 1103912 w 3215279"/>
              <a:gd name="connsiteY2" fmla="*/ 0 h 1201180"/>
              <a:gd name="connsiteX3" fmla="*/ 1639792 w 3215279"/>
              <a:gd name="connsiteY3" fmla="*/ 0 h 1201180"/>
              <a:gd name="connsiteX4" fmla="*/ 2207825 w 3215279"/>
              <a:gd name="connsiteY4" fmla="*/ 0 h 1201180"/>
              <a:gd name="connsiteX5" fmla="*/ 3215279 w 3215279"/>
              <a:gd name="connsiteY5" fmla="*/ 0 h 1201180"/>
              <a:gd name="connsiteX6" fmla="*/ 3215279 w 3215279"/>
              <a:gd name="connsiteY6" fmla="*/ 424417 h 1201180"/>
              <a:gd name="connsiteX7" fmla="*/ 3215279 w 3215279"/>
              <a:gd name="connsiteY7" fmla="*/ 836822 h 1201180"/>
              <a:gd name="connsiteX8" fmla="*/ 3215279 w 3215279"/>
              <a:gd name="connsiteY8" fmla="*/ 1201180 h 1201180"/>
              <a:gd name="connsiteX9" fmla="*/ 2775858 w 3215279"/>
              <a:gd name="connsiteY9" fmla="*/ 1201180 h 1201180"/>
              <a:gd name="connsiteX10" fmla="*/ 2207825 w 3215279"/>
              <a:gd name="connsiteY10" fmla="*/ 1201180 h 1201180"/>
              <a:gd name="connsiteX11" fmla="*/ 1704098 w 3215279"/>
              <a:gd name="connsiteY11" fmla="*/ 1201180 h 1201180"/>
              <a:gd name="connsiteX12" fmla="*/ 1264676 w 3215279"/>
              <a:gd name="connsiteY12" fmla="*/ 1201180 h 1201180"/>
              <a:gd name="connsiteX13" fmla="*/ 825255 w 3215279"/>
              <a:gd name="connsiteY13" fmla="*/ 1201180 h 1201180"/>
              <a:gd name="connsiteX14" fmla="*/ 0 w 3215279"/>
              <a:gd name="connsiteY14" fmla="*/ 1201180 h 1201180"/>
              <a:gd name="connsiteX15" fmla="*/ 0 w 3215279"/>
              <a:gd name="connsiteY15" fmla="*/ 788775 h 1201180"/>
              <a:gd name="connsiteX16" fmla="*/ 0 w 3215279"/>
              <a:gd name="connsiteY16" fmla="*/ 364358 h 1201180"/>
              <a:gd name="connsiteX17" fmla="*/ 0 w 3215279"/>
              <a:gd name="connsiteY17" fmla="*/ 0 h 1201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15279" h="1201180" fill="none" extrusionOk="0">
                <a:moveTo>
                  <a:pt x="0" y="0"/>
                </a:moveTo>
                <a:cubicBezTo>
                  <a:pt x="148516" y="-42304"/>
                  <a:pt x="391410" y="32530"/>
                  <a:pt x="535880" y="0"/>
                </a:cubicBezTo>
                <a:cubicBezTo>
                  <a:pt x="680350" y="-32530"/>
                  <a:pt x="977149" y="63464"/>
                  <a:pt x="1103912" y="0"/>
                </a:cubicBezTo>
                <a:cubicBezTo>
                  <a:pt x="1230675" y="-63464"/>
                  <a:pt x="1456539" y="33965"/>
                  <a:pt x="1639792" y="0"/>
                </a:cubicBezTo>
                <a:cubicBezTo>
                  <a:pt x="1823045" y="-33965"/>
                  <a:pt x="2051004" y="63593"/>
                  <a:pt x="2207825" y="0"/>
                </a:cubicBezTo>
                <a:cubicBezTo>
                  <a:pt x="2364646" y="-63593"/>
                  <a:pt x="2899900" y="84629"/>
                  <a:pt x="3215279" y="0"/>
                </a:cubicBezTo>
                <a:cubicBezTo>
                  <a:pt x="3248447" y="86441"/>
                  <a:pt x="3173843" y="321788"/>
                  <a:pt x="3215279" y="424417"/>
                </a:cubicBezTo>
                <a:cubicBezTo>
                  <a:pt x="3256715" y="527046"/>
                  <a:pt x="3214118" y="734853"/>
                  <a:pt x="3215279" y="836822"/>
                </a:cubicBezTo>
                <a:cubicBezTo>
                  <a:pt x="3216440" y="938791"/>
                  <a:pt x="3214805" y="1050119"/>
                  <a:pt x="3215279" y="1201180"/>
                </a:cubicBezTo>
                <a:cubicBezTo>
                  <a:pt x="3120378" y="1252451"/>
                  <a:pt x="2905697" y="1155811"/>
                  <a:pt x="2775858" y="1201180"/>
                </a:cubicBezTo>
                <a:cubicBezTo>
                  <a:pt x="2646019" y="1246549"/>
                  <a:pt x="2421387" y="1160818"/>
                  <a:pt x="2207825" y="1201180"/>
                </a:cubicBezTo>
                <a:cubicBezTo>
                  <a:pt x="1994263" y="1241542"/>
                  <a:pt x="1873583" y="1181232"/>
                  <a:pt x="1704098" y="1201180"/>
                </a:cubicBezTo>
                <a:cubicBezTo>
                  <a:pt x="1534613" y="1221128"/>
                  <a:pt x="1359566" y="1173643"/>
                  <a:pt x="1264676" y="1201180"/>
                </a:cubicBezTo>
                <a:cubicBezTo>
                  <a:pt x="1169786" y="1228717"/>
                  <a:pt x="930063" y="1170962"/>
                  <a:pt x="825255" y="1201180"/>
                </a:cubicBezTo>
                <a:cubicBezTo>
                  <a:pt x="720447" y="1231398"/>
                  <a:pt x="351420" y="1135462"/>
                  <a:pt x="0" y="1201180"/>
                </a:cubicBezTo>
                <a:cubicBezTo>
                  <a:pt x="-46970" y="1076106"/>
                  <a:pt x="38283" y="971902"/>
                  <a:pt x="0" y="788775"/>
                </a:cubicBezTo>
                <a:cubicBezTo>
                  <a:pt x="-38283" y="605648"/>
                  <a:pt x="37349" y="571166"/>
                  <a:pt x="0" y="364358"/>
                </a:cubicBezTo>
                <a:cubicBezTo>
                  <a:pt x="-37349" y="157550"/>
                  <a:pt x="42728" y="90441"/>
                  <a:pt x="0" y="0"/>
                </a:cubicBezTo>
                <a:close/>
              </a:path>
              <a:path w="3215279" h="1201180" stroke="0" extrusionOk="0">
                <a:moveTo>
                  <a:pt x="0" y="0"/>
                </a:moveTo>
                <a:cubicBezTo>
                  <a:pt x="102500" y="-46064"/>
                  <a:pt x="300271" y="52140"/>
                  <a:pt x="439421" y="0"/>
                </a:cubicBezTo>
                <a:cubicBezTo>
                  <a:pt x="578571" y="-52140"/>
                  <a:pt x="785708" y="67695"/>
                  <a:pt x="1039607" y="0"/>
                </a:cubicBezTo>
                <a:cubicBezTo>
                  <a:pt x="1293506" y="-67695"/>
                  <a:pt x="1348423" y="5313"/>
                  <a:pt x="1511181" y="0"/>
                </a:cubicBezTo>
                <a:cubicBezTo>
                  <a:pt x="1673939" y="-5313"/>
                  <a:pt x="1878650" y="24947"/>
                  <a:pt x="2111367" y="0"/>
                </a:cubicBezTo>
                <a:cubicBezTo>
                  <a:pt x="2344084" y="-24947"/>
                  <a:pt x="2480352" y="21203"/>
                  <a:pt x="2711552" y="0"/>
                </a:cubicBezTo>
                <a:cubicBezTo>
                  <a:pt x="2942752" y="-21203"/>
                  <a:pt x="3101815" y="38094"/>
                  <a:pt x="3215279" y="0"/>
                </a:cubicBezTo>
                <a:cubicBezTo>
                  <a:pt x="3246519" y="99674"/>
                  <a:pt x="3207132" y="261686"/>
                  <a:pt x="3215279" y="376370"/>
                </a:cubicBezTo>
                <a:cubicBezTo>
                  <a:pt x="3223426" y="491054"/>
                  <a:pt x="3214100" y="593222"/>
                  <a:pt x="3215279" y="800787"/>
                </a:cubicBezTo>
                <a:cubicBezTo>
                  <a:pt x="3216458" y="1008352"/>
                  <a:pt x="3170204" y="1034399"/>
                  <a:pt x="3215279" y="1201180"/>
                </a:cubicBezTo>
                <a:cubicBezTo>
                  <a:pt x="3053140" y="1239944"/>
                  <a:pt x="2947670" y="1191765"/>
                  <a:pt x="2775858" y="1201180"/>
                </a:cubicBezTo>
                <a:cubicBezTo>
                  <a:pt x="2604046" y="1210595"/>
                  <a:pt x="2427650" y="1164549"/>
                  <a:pt x="2175672" y="1201180"/>
                </a:cubicBezTo>
                <a:cubicBezTo>
                  <a:pt x="1923694" y="1237811"/>
                  <a:pt x="1725271" y="1161869"/>
                  <a:pt x="1607640" y="1201180"/>
                </a:cubicBezTo>
                <a:cubicBezTo>
                  <a:pt x="1490009" y="1240491"/>
                  <a:pt x="1336543" y="1163245"/>
                  <a:pt x="1136065" y="1201180"/>
                </a:cubicBezTo>
                <a:cubicBezTo>
                  <a:pt x="935588" y="1239115"/>
                  <a:pt x="774676" y="1179268"/>
                  <a:pt x="568033" y="1201180"/>
                </a:cubicBezTo>
                <a:cubicBezTo>
                  <a:pt x="361390" y="1223092"/>
                  <a:pt x="261185" y="1160250"/>
                  <a:pt x="0" y="1201180"/>
                </a:cubicBezTo>
                <a:cubicBezTo>
                  <a:pt x="-28907" y="1039927"/>
                  <a:pt x="27155" y="958486"/>
                  <a:pt x="0" y="836822"/>
                </a:cubicBezTo>
                <a:cubicBezTo>
                  <a:pt x="-27155" y="715158"/>
                  <a:pt x="32269" y="542654"/>
                  <a:pt x="0" y="412405"/>
                </a:cubicBezTo>
                <a:cubicBezTo>
                  <a:pt x="-32269" y="282156"/>
                  <a:pt x="44265" y="126549"/>
                  <a:pt x="0" y="0"/>
                </a:cubicBezTo>
                <a:close/>
              </a:path>
            </a:pathLst>
          </a:custGeom>
          <a:ln>
            <a:solidFill>
              <a:schemeClr val="tx1"/>
            </a:solidFill>
            <a:extLst>
              <a:ext uri="{C807C97D-BFC1-408E-A445-0C87EB9F89A2}">
                <ask:lineSketchStyleProps xmlns:ask="http://schemas.microsoft.com/office/drawing/2018/sketchyshapes" sd="2984356317">
                  <a:prstGeom prst="rect">
                    <a:avLst/>
                  </a:prstGeom>
                  <ask:type>
                    <ask:lineSketchScribble/>
                  </ask:type>
                </ask:lineSketchStyleProps>
              </a:ext>
            </a:extLst>
          </a:ln>
        </p:spPr>
      </p:pic>
      <p:grpSp>
        <p:nvGrpSpPr>
          <p:cNvPr id="40" name="Group 39">
            <a:extLst>
              <a:ext uri="{FF2B5EF4-FFF2-40B4-BE49-F238E27FC236}">
                <a16:creationId xmlns:a16="http://schemas.microsoft.com/office/drawing/2014/main" id="{F4A10EE2-B909-46B6-0BF4-F3A783D27CF0}"/>
              </a:ext>
            </a:extLst>
          </p:cNvPr>
          <p:cNvGrpSpPr/>
          <p:nvPr/>
        </p:nvGrpSpPr>
        <p:grpSpPr>
          <a:xfrm>
            <a:off x="250647" y="1540550"/>
            <a:ext cx="11690706" cy="2114730"/>
            <a:chOff x="314191" y="1540550"/>
            <a:chExt cx="11690706" cy="2114730"/>
          </a:xfrm>
        </p:grpSpPr>
        <p:grpSp>
          <p:nvGrpSpPr>
            <p:cNvPr id="41" name="Group 40">
              <a:extLst>
                <a:ext uri="{FF2B5EF4-FFF2-40B4-BE49-F238E27FC236}">
                  <a16:creationId xmlns:a16="http://schemas.microsoft.com/office/drawing/2014/main" id="{D8477621-0A60-E5AF-FA94-5ECE1756A6CA}"/>
                </a:ext>
              </a:extLst>
            </p:cNvPr>
            <p:cNvGrpSpPr/>
            <p:nvPr/>
          </p:nvGrpSpPr>
          <p:grpSpPr>
            <a:xfrm>
              <a:off x="314191" y="1540550"/>
              <a:ext cx="2172560" cy="2114730"/>
              <a:chOff x="376433" y="1540551"/>
              <a:chExt cx="2172560" cy="2114730"/>
            </a:xfrm>
          </p:grpSpPr>
          <p:pic>
            <p:nvPicPr>
              <p:cNvPr id="54" name="Graphic 53" descr="Database outline">
                <a:extLst>
                  <a:ext uri="{FF2B5EF4-FFF2-40B4-BE49-F238E27FC236}">
                    <a16:creationId xmlns:a16="http://schemas.microsoft.com/office/drawing/2014/main" id="{B4E515E8-64D1-DE80-BB00-21AB39B566C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05513" y="1540551"/>
                <a:ext cx="914400" cy="914400"/>
              </a:xfrm>
              <a:prstGeom prst="rect">
                <a:avLst/>
              </a:prstGeom>
            </p:spPr>
          </p:pic>
          <p:sp>
            <p:nvSpPr>
              <p:cNvPr id="55" name="TextBox 54">
                <a:extLst>
                  <a:ext uri="{FF2B5EF4-FFF2-40B4-BE49-F238E27FC236}">
                    <a16:creationId xmlns:a16="http://schemas.microsoft.com/office/drawing/2014/main" id="{AEA70D68-D394-6BC8-2312-5EBB9CDC9B92}"/>
                  </a:ext>
                </a:extLst>
              </p:cNvPr>
              <p:cNvSpPr txBox="1"/>
              <p:nvPr/>
            </p:nvSpPr>
            <p:spPr>
              <a:xfrm>
                <a:off x="376433" y="2454952"/>
                <a:ext cx="2172560" cy="1200329"/>
              </a:xfrm>
              <a:prstGeom prst="rect">
                <a:avLst/>
              </a:prstGeom>
              <a:noFill/>
            </p:spPr>
            <p:txBody>
              <a:bodyPr wrap="square" rtlCol="0">
                <a:spAutoFit/>
              </a:bodyPr>
              <a:lstStyle/>
              <a:p>
                <a:pPr algn="ctr"/>
                <a:r>
                  <a:rPr lang="en-US" dirty="0"/>
                  <a:t>Massive amounts of user behavior data from surveillance capitalism</a:t>
                </a:r>
                <a:endParaRPr lang="en-CA" dirty="0"/>
              </a:p>
            </p:txBody>
          </p:sp>
        </p:grpSp>
        <p:grpSp>
          <p:nvGrpSpPr>
            <p:cNvPr id="42" name="Group 41">
              <a:extLst>
                <a:ext uri="{FF2B5EF4-FFF2-40B4-BE49-F238E27FC236}">
                  <a16:creationId xmlns:a16="http://schemas.microsoft.com/office/drawing/2014/main" id="{20838DEF-7719-DB3F-002C-DB136439E9E6}"/>
                </a:ext>
              </a:extLst>
            </p:cNvPr>
            <p:cNvGrpSpPr/>
            <p:nvPr/>
          </p:nvGrpSpPr>
          <p:grpSpPr>
            <a:xfrm>
              <a:off x="3102755" y="1540552"/>
              <a:ext cx="2545640" cy="2114728"/>
              <a:chOff x="3102755" y="1540552"/>
              <a:chExt cx="2545640" cy="2114728"/>
            </a:xfrm>
          </p:grpSpPr>
          <p:pic>
            <p:nvPicPr>
              <p:cNvPr id="52" name="Graphic 51" descr="Factory outline">
                <a:extLst>
                  <a:ext uri="{FF2B5EF4-FFF2-40B4-BE49-F238E27FC236}">
                    <a16:creationId xmlns:a16="http://schemas.microsoft.com/office/drawing/2014/main" id="{AE0BD0C1-E2B7-50CE-9F89-08FCA2E95A8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918375" y="1540552"/>
                <a:ext cx="914400" cy="914400"/>
              </a:xfrm>
              <a:prstGeom prst="rect">
                <a:avLst/>
              </a:prstGeom>
            </p:spPr>
          </p:pic>
          <p:sp>
            <p:nvSpPr>
              <p:cNvPr id="53" name="TextBox 52">
                <a:extLst>
                  <a:ext uri="{FF2B5EF4-FFF2-40B4-BE49-F238E27FC236}">
                    <a16:creationId xmlns:a16="http://schemas.microsoft.com/office/drawing/2014/main" id="{B918C1A0-5849-51D0-1F45-56D294DF9F84}"/>
                  </a:ext>
                </a:extLst>
              </p:cNvPr>
              <p:cNvSpPr txBox="1"/>
              <p:nvPr/>
            </p:nvSpPr>
            <p:spPr>
              <a:xfrm>
                <a:off x="3102755" y="2454951"/>
                <a:ext cx="2545640" cy="1200329"/>
              </a:xfrm>
              <a:prstGeom prst="rect">
                <a:avLst/>
              </a:prstGeom>
              <a:noFill/>
            </p:spPr>
            <p:txBody>
              <a:bodyPr wrap="square" rtlCol="0">
                <a:spAutoFit/>
              </a:bodyPr>
              <a:lstStyle/>
              <a:p>
                <a:pPr algn="ctr"/>
                <a:r>
                  <a:rPr lang="en-US" dirty="0"/>
                  <a:t>Generative AI’s capability to produce persuasive language and visualizations</a:t>
                </a:r>
                <a:endParaRPr lang="en-CA" dirty="0"/>
              </a:p>
            </p:txBody>
          </p:sp>
        </p:grpSp>
        <p:grpSp>
          <p:nvGrpSpPr>
            <p:cNvPr id="43" name="Group 42">
              <a:extLst>
                <a:ext uri="{FF2B5EF4-FFF2-40B4-BE49-F238E27FC236}">
                  <a16:creationId xmlns:a16="http://schemas.microsoft.com/office/drawing/2014/main" id="{0687E1CA-45D1-203C-578A-8B40E5DFE0C7}"/>
                </a:ext>
              </a:extLst>
            </p:cNvPr>
            <p:cNvGrpSpPr/>
            <p:nvPr/>
          </p:nvGrpSpPr>
          <p:grpSpPr>
            <a:xfrm>
              <a:off x="9459257" y="1540551"/>
              <a:ext cx="2545640" cy="2114729"/>
              <a:chOff x="8504211" y="1540551"/>
              <a:chExt cx="2545640" cy="2114729"/>
            </a:xfrm>
          </p:grpSpPr>
          <p:pic>
            <p:nvPicPr>
              <p:cNvPr id="50" name="Graphic 49" descr="Puppet outline">
                <a:extLst>
                  <a:ext uri="{FF2B5EF4-FFF2-40B4-BE49-F238E27FC236}">
                    <a16:creationId xmlns:a16="http://schemas.microsoft.com/office/drawing/2014/main" id="{10CA2854-553A-01C0-0584-1C0488C7BC90}"/>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319831" y="1540551"/>
                <a:ext cx="914400" cy="914400"/>
              </a:xfrm>
              <a:prstGeom prst="rect">
                <a:avLst/>
              </a:prstGeom>
            </p:spPr>
          </p:pic>
          <p:sp>
            <p:nvSpPr>
              <p:cNvPr id="51" name="TextBox 50">
                <a:extLst>
                  <a:ext uri="{FF2B5EF4-FFF2-40B4-BE49-F238E27FC236}">
                    <a16:creationId xmlns:a16="http://schemas.microsoft.com/office/drawing/2014/main" id="{D9B5D412-F008-882A-4B3B-6D67EC862E0C}"/>
                  </a:ext>
                </a:extLst>
              </p:cNvPr>
              <p:cNvSpPr txBox="1"/>
              <p:nvPr/>
            </p:nvSpPr>
            <p:spPr>
              <a:xfrm>
                <a:off x="8504211" y="2454951"/>
                <a:ext cx="2545640" cy="1200329"/>
              </a:xfrm>
              <a:prstGeom prst="rect">
                <a:avLst/>
              </a:prstGeom>
              <a:noFill/>
            </p:spPr>
            <p:txBody>
              <a:bodyPr wrap="square" rtlCol="0">
                <a:spAutoFit/>
              </a:bodyPr>
              <a:lstStyle/>
              <a:p>
                <a:pPr algn="ctr"/>
                <a:r>
                  <a:rPr lang="en-US" dirty="0"/>
                  <a:t>Effective tools for mass manipulation of public consumer preferences and political opinion</a:t>
                </a:r>
                <a:endParaRPr lang="en-CA" dirty="0"/>
              </a:p>
            </p:txBody>
          </p:sp>
        </p:grpSp>
        <p:grpSp>
          <p:nvGrpSpPr>
            <p:cNvPr id="44" name="Group 43">
              <a:extLst>
                <a:ext uri="{FF2B5EF4-FFF2-40B4-BE49-F238E27FC236}">
                  <a16:creationId xmlns:a16="http://schemas.microsoft.com/office/drawing/2014/main" id="{A27EDD2D-96B5-F86E-3854-1C6A55F558AB}"/>
                </a:ext>
              </a:extLst>
            </p:cNvPr>
            <p:cNvGrpSpPr/>
            <p:nvPr/>
          </p:nvGrpSpPr>
          <p:grpSpPr>
            <a:xfrm>
              <a:off x="6281006" y="1540550"/>
              <a:ext cx="2545640" cy="1976229"/>
              <a:chOff x="5386537" y="1540551"/>
              <a:chExt cx="2545640" cy="1976229"/>
            </a:xfrm>
          </p:grpSpPr>
          <p:pic>
            <p:nvPicPr>
              <p:cNvPr id="48" name="Graphic 47" descr="Compass outline">
                <a:extLst>
                  <a:ext uri="{FF2B5EF4-FFF2-40B4-BE49-F238E27FC236}">
                    <a16:creationId xmlns:a16="http://schemas.microsoft.com/office/drawing/2014/main" id="{F9794349-808B-6665-E69A-9ADCD9C1DE1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202157" y="1540551"/>
                <a:ext cx="914400" cy="914400"/>
              </a:xfrm>
              <a:prstGeom prst="rect">
                <a:avLst/>
              </a:prstGeom>
            </p:spPr>
          </p:pic>
          <p:sp>
            <p:nvSpPr>
              <p:cNvPr id="49" name="TextBox 48">
                <a:extLst>
                  <a:ext uri="{FF2B5EF4-FFF2-40B4-BE49-F238E27FC236}">
                    <a16:creationId xmlns:a16="http://schemas.microsoft.com/office/drawing/2014/main" id="{2567D90C-7D13-E3D8-4739-1F76A2636C3A}"/>
                  </a:ext>
                </a:extLst>
              </p:cNvPr>
              <p:cNvSpPr txBox="1"/>
              <p:nvPr/>
            </p:nvSpPr>
            <p:spPr>
              <a:xfrm>
                <a:off x="5386537" y="2593450"/>
                <a:ext cx="2545640" cy="923330"/>
              </a:xfrm>
              <a:prstGeom prst="rect">
                <a:avLst/>
              </a:prstGeom>
              <a:noFill/>
            </p:spPr>
            <p:txBody>
              <a:bodyPr wrap="square" rtlCol="0">
                <a:spAutoFit/>
              </a:bodyPr>
              <a:lstStyle/>
              <a:p>
                <a:pPr algn="ctr"/>
                <a:r>
                  <a:rPr lang="en-US" dirty="0"/>
                  <a:t>Our ability to align generative AI models towards specific values</a:t>
                </a:r>
                <a:endParaRPr lang="en-CA" dirty="0"/>
              </a:p>
            </p:txBody>
          </p:sp>
        </p:grpSp>
        <p:sp>
          <p:nvSpPr>
            <p:cNvPr id="45" name="Cross 44">
              <a:extLst>
                <a:ext uri="{FF2B5EF4-FFF2-40B4-BE49-F238E27FC236}">
                  <a16:creationId xmlns:a16="http://schemas.microsoft.com/office/drawing/2014/main" id="{B820E643-03CD-FB07-553E-7134FF23E0F6}"/>
                </a:ext>
              </a:extLst>
            </p:cNvPr>
            <p:cNvSpPr/>
            <p:nvPr/>
          </p:nvSpPr>
          <p:spPr>
            <a:xfrm>
              <a:off x="2712555" y="2231506"/>
              <a:ext cx="446888" cy="446888"/>
            </a:xfrm>
            <a:prstGeom prst="plus">
              <a:avLst>
                <a:gd name="adj" fmla="val 41923"/>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CA" dirty="0"/>
            </a:p>
          </p:txBody>
        </p:sp>
        <p:sp>
          <p:nvSpPr>
            <p:cNvPr id="46" name="Cross 45">
              <a:extLst>
                <a:ext uri="{FF2B5EF4-FFF2-40B4-BE49-F238E27FC236}">
                  <a16:creationId xmlns:a16="http://schemas.microsoft.com/office/drawing/2014/main" id="{931A3A36-2415-69EC-9AA6-09FF1C8B038C}"/>
                </a:ext>
              </a:extLst>
            </p:cNvPr>
            <p:cNvSpPr/>
            <p:nvPr/>
          </p:nvSpPr>
          <p:spPr>
            <a:xfrm>
              <a:off x="5748690" y="2231506"/>
              <a:ext cx="446888" cy="446888"/>
            </a:xfrm>
            <a:prstGeom prst="plus">
              <a:avLst>
                <a:gd name="adj" fmla="val 41923"/>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CA"/>
            </a:p>
          </p:txBody>
        </p:sp>
        <p:sp>
          <p:nvSpPr>
            <p:cNvPr id="47" name="Equals 46">
              <a:extLst>
                <a:ext uri="{FF2B5EF4-FFF2-40B4-BE49-F238E27FC236}">
                  <a16:creationId xmlns:a16="http://schemas.microsoft.com/office/drawing/2014/main" id="{94487A26-B983-CAD8-DE1A-08DB3F47FF84}"/>
                </a:ext>
              </a:extLst>
            </p:cNvPr>
            <p:cNvSpPr/>
            <p:nvPr/>
          </p:nvSpPr>
          <p:spPr>
            <a:xfrm>
              <a:off x="8832754" y="2063064"/>
              <a:ext cx="531187" cy="783772"/>
            </a:xfrm>
            <a:prstGeom prst="mathEqual">
              <a:avLst>
                <a:gd name="adj1" fmla="val 9484"/>
                <a:gd name="adj2" fmla="val 11760"/>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CA">
                <a:solidFill>
                  <a:schemeClr val="tx1"/>
                </a:solidFill>
              </a:endParaRPr>
            </a:p>
          </p:txBody>
        </p:sp>
      </p:grpSp>
      <p:grpSp>
        <p:nvGrpSpPr>
          <p:cNvPr id="65" name="Group 64">
            <a:extLst>
              <a:ext uri="{FF2B5EF4-FFF2-40B4-BE49-F238E27FC236}">
                <a16:creationId xmlns:a16="http://schemas.microsoft.com/office/drawing/2014/main" id="{0FD0CF62-0DE5-3576-2DC1-5DA4CB1BC41E}"/>
              </a:ext>
            </a:extLst>
          </p:cNvPr>
          <p:cNvGrpSpPr/>
          <p:nvPr/>
        </p:nvGrpSpPr>
        <p:grpSpPr>
          <a:xfrm>
            <a:off x="4767807" y="63863"/>
            <a:ext cx="7199034" cy="1779806"/>
            <a:chOff x="4767807" y="63863"/>
            <a:chExt cx="7199034" cy="1779806"/>
          </a:xfrm>
        </p:grpSpPr>
        <p:pic>
          <p:nvPicPr>
            <p:cNvPr id="57" name="Picture 56">
              <a:extLst>
                <a:ext uri="{FF2B5EF4-FFF2-40B4-BE49-F238E27FC236}">
                  <a16:creationId xmlns:a16="http://schemas.microsoft.com/office/drawing/2014/main" id="{3F68738C-F790-13BB-CF04-26A9B8F5FAE1}"/>
                </a:ext>
              </a:extLst>
            </p:cNvPr>
            <p:cNvPicPr>
              <a:picLocks noChangeAspect="1"/>
            </p:cNvPicPr>
            <p:nvPr/>
          </p:nvPicPr>
          <p:blipFill>
            <a:blip r:embed="rId14"/>
            <a:stretch>
              <a:fillRect/>
            </a:stretch>
          </p:blipFill>
          <p:spPr>
            <a:xfrm>
              <a:off x="5559362" y="63863"/>
              <a:ext cx="6407479" cy="1187511"/>
            </a:xfrm>
            <a:prstGeom prst="rect">
              <a:avLst/>
            </a:prstGeom>
            <a:ln>
              <a:noFill/>
            </a:ln>
            <a:effectLst>
              <a:softEdge rad="101600"/>
            </a:effectLst>
          </p:spPr>
        </p:pic>
        <p:sp>
          <p:nvSpPr>
            <p:cNvPr id="60" name="Oval 59">
              <a:extLst>
                <a:ext uri="{FF2B5EF4-FFF2-40B4-BE49-F238E27FC236}">
                  <a16:creationId xmlns:a16="http://schemas.microsoft.com/office/drawing/2014/main" id="{1C38C85E-4435-3208-C771-CF348AD65C79}"/>
                </a:ext>
              </a:extLst>
            </p:cNvPr>
            <p:cNvSpPr/>
            <p:nvPr/>
          </p:nvSpPr>
          <p:spPr>
            <a:xfrm>
              <a:off x="4952868" y="1555768"/>
              <a:ext cx="180101" cy="180101"/>
            </a:xfrm>
            <a:prstGeom prst="ellipse">
              <a:avLst/>
            </a:prstGeom>
            <a:noFill/>
            <a:ln w="3175"/>
          </p:spPr>
          <p:style>
            <a:lnRef idx="2">
              <a:schemeClr val="dk1"/>
            </a:lnRef>
            <a:fillRef idx="1">
              <a:schemeClr val="lt1"/>
            </a:fillRef>
            <a:effectRef idx="0">
              <a:schemeClr val="dk1"/>
            </a:effectRef>
            <a:fontRef idx="minor">
              <a:schemeClr val="dk1"/>
            </a:fontRef>
          </p:style>
          <p:txBody>
            <a:bodyPr rtlCol="0" anchor="ctr"/>
            <a:lstStyle/>
            <a:p>
              <a:pPr algn="ctr"/>
              <a:endParaRPr lang="en-CA"/>
            </a:p>
          </p:txBody>
        </p:sp>
        <p:sp>
          <p:nvSpPr>
            <p:cNvPr id="61" name="Oval 60">
              <a:extLst>
                <a:ext uri="{FF2B5EF4-FFF2-40B4-BE49-F238E27FC236}">
                  <a16:creationId xmlns:a16="http://schemas.microsoft.com/office/drawing/2014/main" id="{CDE8EC06-1D79-E850-2F01-D916A4F2C951}"/>
                </a:ext>
              </a:extLst>
            </p:cNvPr>
            <p:cNvSpPr/>
            <p:nvPr/>
          </p:nvSpPr>
          <p:spPr>
            <a:xfrm>
              <a:off x="5171910" y="1203811"/>
              <a:ext cx="324585" cy="324585"/>
            </a:xfrm>
            <a:prstGeom prst="ellipse">
              <a:avLst/>
            </a:prstGeom>
            <a:noFill/>
            <a:ln w="3175"/>
          </p:spPr>
          <p:style>
            <a:lnRef idx="2">
              <a:schemeClr val="dk1"/>
            </a:lnRef>
            <a:fillRef idx="1">
              <a:schemeClr val="lt1"/>
            </a:fillRef>
            <a:effectRef idx="0">
              <a:schemeClr val="dk1"/>
            </a:effectRef>
            <a:fontRef idx="minor">
              <a:schemeClr val="dk1"/>
            </a:fontRef>
          </p:style>
          <p:txBody>
            <a:bodyPr rtlCol="0" anchor="ctr"/>
            <a:lstStyle/>
            <a:p>
              <a:pPr algn="ctr"/>
              <a:endParaRPr lang="en-CA"/>
            </a:p>
          </p:txBody>
        </p:sp>
        <p:sp>
          <p:nvSpPr>
            <p:cNvPr id="63" name="Oval 62">
              <a:extLst>
                <a:ext uri="{FF2B5EF4-FFF2-40B4-BE49-F238E27FC236}">
                  <a16:creationId xmlns:a16="http://schemas.microsoft.com/office/drawing/2014/main" id="{09D326BC-EE2A-BD93-794B-F1384DBC497C}"/>
                </a:ext>
              </a:extLst>
            </p:cNvPr>
            <p:cNvSpPr/>
            <p:nvPr/>
          </p:nvSpPr>
          <p:spPr>
            <a:xfrm>
              <a:off x="4767807" y="1752195"/>
              <a:ext cx="91474" cy="91474"/>
            </a:xfrm>
            <a:prstGeom prst="ellipse">
              <a:avLst/>
            </a:prstGeom>
            <a:noFill/>
            <a:ln w="3175"/>
          </p:spPr>
          <p:style>
            <a:lnRef idx="2">
              <a:schemeClr val="dk1"/>
            </a:lnRef>
            <a:fillRef idx="1">
              <a:schemeClr val="lt1"/>
            </a:fillRef>
            <a:effectRef idx="0">
              <a:schemeClr val="dk1"/>
            </a:effectRef>
            <a:fontRef idx="minor">
              <a:schemeClr val="dk1"/>
            </a:fontRef>
          </p:style>
          <p:txBody>
            <a:bodyPr rtlCol="0" anchor="ctr"/>
            <a:lstStyle/>
            <a:p>
              <a:pPr algn="ctr"/>
              <a:endParaRPr lang="en-CA"/>
            </a:p>
          </p:txBody>
        </p:sp>
        <p:sp>
          <p:nvSpPr>
            <p:cNvPr id="64" name="TextBox 63">
              <a:extLst>
                <a:ext uri="{FF2B5EF4-FFF2-40B4-BE49-F238E27FC236}">
                  <a16:creationId xmlns:a16="http://schemas.microsoft.com/office/drawing/2014/main" id="{596B9743-16BA-4519-D28C-8460183F1699}"/>
                </a:ext>
              </a:extLst>
            </p:cNvPr>
            <p:cNvSpPr txBox="1"/>
            <p:nvPr/>
          </p:nvSpPr>
          <p:spPr>
            <a:xfrm>
              <a:off x="6275360" y="1225969"/>
              <a:ext cx="4975481" cy="461665"/>
            </a:xfrm>
            <a:prstGeom prst="rect">
              <a:avLst/>
            </a:prstGeom>
            <a:noFill/>
          </p:spPr>
          <p:txBody>
            <a:bodyPr wrap="square">
              <a:spAutoFit/>
            </a:bodyPr>
            <a:lstStyle/>
            <a:p>
              <a:pPr algn="ctr"/>
              <a:r>
                <a:rPr lang="en-US" sz="1200" dirty="0"/>
                <a:t>Yom-Tov, Dumais, &amp; Guo. </a:t>
              </a:r>
              <a:r>
                <a:rPr lang="en-US" sz="1200" dirty="0">
                  <a:hlinkClick r:id="rId15"/>
                </a:rPr>
                <a:t>Promoting Civil Discourse Through Search Engine Diversity</a:t>
              </a:r>
              <a:r>
                <a:rPr lang="en-US" sz="1200" dirty="0"/>
                <a:t>. In SSCR, 2014.</a:t>
              </a:r>
              <a:endParaRPr lang="en-CA" sz="1200" dirty="0"/>
            </a:p>
          </p:txBody>
        </p:sp>
      </p:grpSp>
    </p:spTree>
    <p:extLst>
      <p:ext uri="{BB962C8B-B14F-4D97-AF65-F5344CB8AC3E}">
        <p14:creationId xmlns:p14="http://schemas.microsoft.com/office/powerpoint/2010/main" val="1879259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5"/>
                                        </p:tgtEl>
                                        <p:attrNameLst>
                                          <p:attrName>style.visibility</p:attrName>
                                        </p:attrNameLst>
                                      </p:cBhvr>
                                      <p:to>
                                        <p:strVal val="visible"/>
                                      </p:to>
                                    </p:set>
                                    <p:animEffect transition="in" filter="wipe(down)">
                                      <p:cBhvr>
                                        <p:cTn id="7" dur="500"/>
                                        <p:tgtEl>
                                          <p:spTgt spid="6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nodeType="clickEffect">
                                  <p:stCondLst>
                                    <p:cond delay="0"/>
                                  </p:stCondLst>
                                  <p:childTnLst>
                                    <p:set>
                                      <p:cBhvr>
                                        <p:cTn id="11" dur="1" fill="hold">
                                          <p:stCondLst>
                                            <p:cond delay="0"/>
                                          </p:stCondLst>
                                        </p:cTn>
                                        <p:tgtEl>
                                          <p:spTgt spid="65"/>
                                        </p:tgtEl>
                                        <p:attrNameLst>
                                          <p:attrName>style.visibility</p:attrName>
                                        </p:attrNameLst>
                                      </p:cBhvr>
                                      <p:to>
                                        <p:strVal val="hidden"/>
                                      </p:to>
                                    </p:set>
                                  </p:childTnLst>
                                </p:cTn>
                              </p:par>
                              <p:par>
                                <p:cTn id="12" presetID="1" presetClass="entr" presetSubtype="0" fill="hold" grpId="0" nodeType="withEffect">
                                  <p:stCondLst>
                                    <p:cond delay="0"/>
                                  </p:stCondLst>
                                  <p:childTnLst>
                                    <p:set>
                                      <p:cBhvr>
                                        <p:cTn id="13" dur="1" fill="hold">
                                          <p:stCondLst>
                                            <p:cond delay="0"/>
                                          </p:stCondLst>
                                        </p:cTn>
                                        <p:tgtEl>
                                          <p:spTgt spid="28"/>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30"/>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36"/>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32"/>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34"/>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3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91199AF-19AE-80A4-2AE6-EC2D02EABDAE}"/>
              </a:ext>
            </a:extLst>
          </p:cNvPr>
          <p:cNvPicPr>
            <a:picLocks noChangeAspect="1"/>
          </p:cNvPicPr>
          <p:nvPr/>
        </p:nvPicPr>
        <p:blipFill>
          <a:blip r:embed="rId2"/>
          <a:stretch>
            <a:fillRect/>
          </a:stretch>
        </p:blipFill>
        <p:spPr>
          <a:xfrm>
            <a:off x="1396758" y="1295290"/>
            <a:ext cx="9398483" cy="4267419"/>
          </a:xfrm>
          <a:prstGeom prst="rect">
            <a:avLst/>
          </a:prstGeom>
        </p:spPr>
      </p:pic>
      <p:sp>
        <p:nvSpPr>
          <p:cNvPr id="5" name="TextBox 4">
            <a:extLst>
              <a:ext uri="{FF2B5EF4-FFF2-40B4-BE49-F238E27FC236}">
                <a16:creationId xmlns:a16="http://schemas.microsoft.com/office/drawing/2014/main" id="{4EDD1E26-12AE-6C1F-D566-169FD72133C5}"/>
              </a:ext>
            </a:extLst>
          </p:cNvPr>
          <p:cNvSpPr txBox="1"/>
          <p:nvPr/>
        </p:nvSpPr>
        <p:spPr>
          <a:xfrm>
            <a:off x="0" y="6581001"/>
            <a:ext cx="12192000" cy="276999"/>
          </a:xfrm>
          <a:prstGeom prst="rect">
            <a:avLst/>
          </a:prstGeom>
          <a:noFill/>
        </p:spPr>
        <p:txBody>
          <a:bodyPr wrap="square" anchor="b">
            <a:spAutoFit/>
          </a:bodyPr>
          <a:lstStyle/>
          <a:p>
            <a:pPr algn="ctr"/>
            <a:r>
              <a:rPr lang="en-US" sz="1200" dirty="0"/>
              <a:t>Mitra. </a:t>
            </a:r>
            <a:r>
              <a:rPr lang="en-US" sz="1200" dirty="0">
                <a:hlinkClick r:id="rId3"/>
              </a:rPr>
              <a:t>AI as politic of class exploitation</a:t>
            </a:r>
            <a:r>
              <a:rPr lang="en-US" sz="1200" dirty="0"/>
              <a:t>. Blog post, 2025.</a:t>
            </a:r>
            <a:endParaRPr lang="en-CA" sz="1200" dirty="0"/>
          </a:p>
        </p:txBody>
      </p:sp>
    </p:spTree>
    <p:extLst>
      <p:ext uri="{BB962C8B-B14F-4D97-AF65-F5344CB8AC3E}">
        <p14:creationId xmlns:p14="http://schemas.microsoft.com/office/powerpoint/2010/main" val="13525988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D226CA1-68BD-9CB4-6444-9E2A2FABB8FE}"/>
              </a:ext>
            </a:extLst>
          </p:cNvPr>
          <p:cNvSpPr>
            <a:spLocks noGrp="1"/>
          </p:cNvSpPr>
          <p:nvPr>
            <p:ph type="title"/>
          </p:nvPr>
        </p:nvSpPr>
        <p:spPr>
          <a:xfrm>
            <a:off x="126586" y="69494"/>
            <a:ext cx="6224067" cy="1325563"/>
          </a:xfrm>
        </p:spPr>
        <p:txBody>
          <a:bodyPr>
            <a:normAutofit/>
          </a:bodyPr>
          <a:lstStyle/>
          <a:p>
            <a:r>
              <a:rPr lang="en-CA" sz="6000" dirty="0"/>
              <a:t>Big Tech</a:t>
            </a:r>
            <a:r>
              <a:rPr lang="en-CA" sz="6000" dirty="0">
                <a:solidFill>
                  <a:schemeClr val="bg1">
                    <a:lumMod val="75000"/>
                  </a:schemeClr>
                </a:solidFill>
              </a:rPr>
              <a:t>nofascism</a:t>
            </a:r>
          </a:p>
        </p:txBody>
      </p:sp>
      <p:pic>
        <p:nvPicPr>
          <p:cNvPr id="7" name="Picture 6">
            <a:extLst>
              <a:ext uri="{FF2B5EF4-FFF2-40B4-BE49-F238E27FC236}">
                <a16:creationId xmlns:a16="http://schemas.microsoft.com/office/drawing/2014/main" id="{F73F2476-8403-C04F-A397-C08952ADBCDF}"/>
              </a:ext>
            </a:extLst>
          </p:cNvPr>
          <p:cNvPicPr>
            <a:picLocks noChangeAspect="1"/>
          </p:cNvPicPr>
          <p:nvPr/>
        </p:nvPicPr>
        <p:blipFill>
          <a:blip r:embed="rId2"/>
          <a:stretch>
            <a:fillRect/>
          </a:stretch>
        </p:blipFill>
        <p:spPr>
          <a:xfrm>
            <a:off x="222837" y="1399505"/>
            <a:ext cx="5373242" cy="2612170"/>
          </a:xfrm>
          <a:prstGeom prst="rect">
            <a:avLst/>
          </a:prstGeom>
          <a:ln>
            <a:solidFill>
              <a:schemeClr val="tx1">
                <a:lumMod val="75000"/>
                <a:lumOff val="25000"/>
              </a:schemeClr>
            </a:solidFill>
          </a:ln>
          <a:effectLst>
            <a:outerShdw blurRad="292100" dist="139700" dir="2700000" algn="tl" rotWithShape="0">
              <a:srgbClr val="333333">
                <a:alpha val="65000"/>
              </a:srgbClr>
            </a:outerShdw>
          </a:effectLst>
        </p:spPr>
      </p:pic>
      <p:pic>
        <p:nvPicPr>
          <p:cNvPr id="9" name="Picture 8">
            <a:extLst>
              <a:ext uri="{FF2B5EF4-FFF2-40B4-BE49-F238E27FC236}">
                <a16:creationId xmlns:a16="http://schemas.microsoft.com/office/drawing/2014/main" id="{CC8A279E-0028-6AD8-091F-97096908361D}"/>
              </a:ext>
            </a:extLst>
          </p:cNvPr>
          <p:cNvPicPr>
            <a:picLocks noChangeAspect="1"/>
          </p:cNvPicPr>
          <p:nvPr/>
        </p:nvPicPr>
        <p:blipFill>
          <a:blip r:embed="rId3"/>
          <a:stretch>
            <a:fillRect/>
          </a:stretch>
        </p:blipFill>
        <p:spPr>
          <a:xfrm>
            <a:off x="6096000" y="112531"/>
            <a:ext cx="5315455" cy="2986119"/>
          </a:xfrm>
          <a:prstGeom prst="rect">
            <a:avLst/>
          </a:prstGeom>
          <a:ln>
            <a:solidFill>
              <a:schemeClr val="tx1">
                <a:lumMod val="75000"/>
                <a:lumOff val="25000"/>
              </a:schemeClr>
            </a:solidFill>
          </a:ln>
          <a:effectLst>
            <a:outerShdw blurRad="292100" dist="139700" dir="2700000" algn="tl" rotWithShape="0">
              <a:srgbClr val="333333">
                <a:alpha val="65000"/>
              </a:srgbClr>
            </a:outerShdw>
          </a:effectLst>
        </p:spPr>
      </p:pic>
      <p:pic>
        <p:nvPicPr>
          <p:cNvPr id="11" name="Picture 10">
            <a:extLst>
              <a:ext uri="{FF2B5EF4-FFF2-40B4-BE49-F238E27FC236}">
                <a16:creationId xmlns:a16="http://schemas.microsoft.com/office/drawing/2014/main" id="{A5C82184-2205-1C55-8420-A1D15018329B}"/>
              </a:ext>
            </a:extLst>
          </p:cNvPr>
          <p:cNvPicPr>
            <a:picLocks noChangeAspect="1"/>
          </p:cNvPicPr>
          <p:nvPr/>
        </p:nvPicPr>
        <p:blipFill>
          <a:blip r:embed="rId4"/>
          <a:stretch>
            <a:fillRect/>
          </a:stretch>
        </p:blipFill>
        <p:spPr>
          <a:xfrm>
            <a:off x="66887" y="3704351"/>
            <a:ext cx="3159874" cy="2286639"/>
          </a:xfrm>
          <a:prstGeom prst="rect">
            <a:avLst/>
          </a:prstGeom>
          <a:ln>
            <a:solidFill>
              <a:schemeClr val="tx1">
                <a:lumMod val="75000"/>
                <a:lumOff val="25000"/>
              </a:schemeClr>
            </a:solidFill>
          </a:ln>
          <a:effectLst>
            <a:outerShdw blurRad="292100" dist="139700" dir="2700000" algn="tl" rotWithShape="0">
              <a:srgbClr val="333333">
                <a:alpha val="65000"/>
              </a:srgbClr>
            </a:outerShdw>
          </a:effectLst>
        </p:spPr>
      </p:pic>
      <p:pic>
        <p:nvPicPr>
          <p:cNvPr id="13" name="Picture 12">
            <a:extLst>
              <a:ext uri="{FF2B5EF4-FFF2-40B4-BE49-F238E27FC236}">
                <a16:creationId xmlns:a16="http://schemas.microsoft.com/office/drawing/2014/main" id="{6C61CDE1-4B6B-F83E-E6D0-59BE951D2766}"/>
              </a:ext>
            </a:extLst>
          </p:cNvPr>
          <p:cNvPicPr>
            <a:picLocks noChangeAspect="1"/>
          </p:cNvPicPr>
          <p:nvPr/>
        </p:nvPicPr>
        <p:blipFill>
          <a:blip r:embed="rId5"/>
          <a:stretch>
            <a:fillRect/>
          </a:stretch>
        </p:blipFill>
        <p:spPr>
          <a:xfrm>
            <a:off x="3607906" y="2509233"/>
            <a:ext cx="2967983" cy="2575393"/>
          </a:xfrm>
          <a:prstGeom prst="rect">
            <a:avLst/>
          </a:prstGeom>
          <a:ln>
            <a:solidFill>
              <a:schemeClr val="tx1">
                <a:lumMod val="75000"/>
                <a:lumOff val="25000"/>
              </a:schemeClr>
            </a:solidFill>
          </a:ln>
          <a:effectLst>
            <a:outerShdw blurRad="292100" dist="139700" dir="2700000" algn="tl" rotWithShape="0">
              <a:srgbClr val="333333">
                <a:alpha val="65000"/>
              </a:srgbClr>
            </a:outerShdw>
          </a:effectLst>
        </p:spPr>
      </p:pic>
      <p:pic>
        <p:nvPicPr>
          <p:cNvPr id="15" name="Picture 14">
            <a:extLst>
              <a:ext uri="{FF2B5EF4-FFF2-40B4-BE49-F238E27FC236}">
                <a16:creationId xmlns:a16="http://schemas.microsoft.com/office/drawing/2014/main" id="{0C1CEDB9-9B50-68C9-9E4E-B9FC1F357E9C}"/>
              </a:ext>
            </a:extLst>
          </p:cNvPr>
          <p:cNvPicPr>
            <a:picLocks noChangeAspect="1"/>
          </p:cNvPicPr>
          <p:nvPr/>
        </p:nvPicPr>
        <p:blipFill>
          <a:blip r:embed="rId6"/>
          <a:stretch>
            <a:fillRect/>
          </a:stretch>
        </p:blipFill>
        <p:spPr>
          <a:xfrm>
            <a:off x="8014665" y="-47625"/>
            <a:ext cx="4134062" cy="1320868"/>
          </a:xfrm>
          <a:prstGeom prst="rect">
            <a:avLst/>
          </a:prstGeom>
          <a:ln>
            <a:solidFill>
              <a:schemeClr val="tx1">
                <a:lumMod val="75000"/>
                <a:lumOff val="25000"/>
              </a:schemeClr>
            </a:solidFill>
          </a:ln>
          <a:effectLst>
            <a:outerShdw blurRad="292100" dist="139700" dir="2700000" algn="tl" rotWithShape="0">
              <a:srgbClr val="333333">
                <a:alpha val="65000"/>
              </a:srgbClr>
            </a:outerShdw>
          </a:effectLst>
        </p:spPr>
      </p:pic>
      <p:pic>
        <p:nvPicPr>
          <p:cNvPr id="18" name="Picture 17">
            <a:extLst>
              <a:ext uri="{FF2B5EF4-FFF2-40B4-BE49-F238E27FC236}">
                <a16:creationId xmlns:a16="http://schemas.microsoft.com/office/drawing/2014/main" id="{B28EAA21-6254-ED36-447A-BF20F6972D46}"/>
              </a:ext>
            </a:extLst>
          </p:cNvPr>
          <p:cNvPicPr>
            <a:picLocks noChangeAspect="1"/>
          </p:cNvPicPr>
          <p:nvPr/>
        </p:nvPicPr>
        <p:blipFill>
          <a:blip r:embed="rId7"/>
          <a:stretch>
            <a:fillRect/>
          </a:stretch>
        </p:blipFill>
        <p:spPr>
          <a:xfrm>
            <a:off x="7258064" y="2080693"/>
            <a:ext cx="2475676" cy="3247316"/>
          </a:xfrm>
          <a:prstGeom prst="rect">
            <a:avLst/>
          </a:prstGeom>
          <a:ln>
            <a:solidFill>
              <a:schemeClr val="tx1">
                <a:lumMod val="75000"/>
                <a:lumOff val="25000"/>
              </a:schemeClr>
            </a:solidFill>
          </a:ln>
          <a:effectLst>
            <a:outerShdw blurRad="292100" dist="139700" dir="2700000" algn="tl" rotWithShape="0">
              <a:srgbClr val="333333">
                <a:alpha val="65000"/>
              </a:srgbClr>
            </a:outerShdw>
          </a:effectLst>
        </p:spPr>
      </p:pic>
      <p:pic>
        <p:nvPicPr>
          <p:cNvPr id="20" name="Picture 19">
            <a:extLst>
              <a:ext uri="{FF2B5EF4-FFF2-40B4-BE49-F238E27FC236}">
                <a16:creationId xmlns:a16="http://schemas.microsoft.com/office/drawing/2014/main" id="{A2FF5039-A676-CB37-AC3E-43BEF51C3B5F}"/>
              </a:ext>
            </a:extLst>
          </p:cNvPr>
          <p:cNvPicPr>
            <a:picLocks noChangeAspect="1"/>
          </p:cNvPicPr>
          <p:nvPr/>
        </p:nvPicPr>
        <p:blipFill>
          <a:blip r:embed="rId8"/>
          <a:stretch>
            <a:fillRect/>
          </a:stretch>
        </p:blipFill>
        <p:spPr>
          <a:xfrm>
            <a:off x="8843858" y="4348767"/>
            <a:ext cx="2475676" cy="2603431"/>
          </a:xfrm>
          <a:prstGeom prst="rect">
            <a:avLst/>
          </a:prstGeom>
          <a:ln>
            <a:solidFill>
              <a:schemeClr val="tx1">
                <a:lumMod val="75000"/>
                <a:lumOff val="25000"/>
              </a:schemeClr>
            </a:solidFill>
          </a:ln>
          <a:effectLst>
            <a:outerShdw blurRad="292100" dist="139700" dir="2700000" algn="tl" rotWithShape="0">
              <a:srgbClr val="333333">
                <a:alpha val="65000"/>
              </a:srgbClr>
            </a:outerShdw>
          </a:effectLst>
        </p:spPr>
      </p:pic>
      <p:pic>
        <p:nvPicPr>
          <p:cNvPr id="21" name="Picture 20">
            <a:extLst>
              <a:ext uri="{FF2B5EF4-FFF2-40B4-BE49-F238E27FC236}">
                <a16:creationId xmlns:a16="http://schemas.microsoft.com/office/drawing/2014/main" id="{B20B1CBD-3F35-E37E-EE57-C586C4BE4277}"/>
              </a:ext>
            </a:extLst>
          </p:cNvPr>
          <p:cNvPicPr>
            <a:picLocks noChangeAspect="1"/>
          </p:cNvPicPr>
          <p:nvPr/>
        </p:nvPicPr>
        <p:blipFill>
          <a:blip r:embed="rId9"/>
          <a:stretch>
            <a:fillRect/>
          </a:stretch>
        </p:blipFill>
        <p:spPr>
          <a:xfrm>
            <a:off x="222837" y="5466001"/>
            <a:ext cx="2715141" cy="1627564"/>
          </a:xfrm>
          <a:prstGeom prst="rect">
            <a:avLst/>
          </a:prstGeom>
          <a:ln>
            <a:solidFill>
              <a:schemeClr val="tx1">
                <a:lumMod val="75000"/>
                <a:lumOff val="25000"/>
              </a:schemeClr>
            </a:solidFill>
          </a:ln>
          <a:effectLst>
            <a:outerShdw blurRad="292100" dist="139700" dir="2700000" algn="tl" rotWithShape="0">
              <a:srgbClr val="333333">
                <a:alpha val="65000"/>
              </a:srgbClr>
            </a:outerShdw>
          </a:effectLst>
        </p:spPr>
      </p:pic>
      <p:pic>
        <p:nvPicPr>
          <p:cNvPr id="23" name="Picture 22">
            <a:extLst>
              <a:ext uri="{FF2B5EF4-FFF2-40B4-BE49-F238E27FC236}">
                <a16:creationId xmlns:a16="http://schemas.microsoft.com/office/drawing/2014/main" id="{2E68DF73-F526-E458-313A-E9D037A3596C}"/>
              </a:ext>
            </a:extLst>
          </p:cNvPr>
          <p:cNvPicPr>
            <a:picLocks noChangeAspect="1"/>
          </p:cNvPicPr>
          <p:nvPr/>
        </p:nvPicPr>
        <p:blipFill>
          <a:blip r:embed="rId10"/>
          <a:stretch>
            <a:fillRect/>
          </a:stretch>
        </p:blipFill>
        <p:spPr>
          <a:xfrm>
            <a:off x="3076325" y="4348767"/>
            <a:ext cx="3752469" cy="2689859"/>
          </a:xfrm>
          <a:prstGeom prst="rect">
            <a:avLst/>
          </a:prstGeom>
          <a:ln>
            <a:solidFill>
              <a:schemeClr val="tx1">
                <a:lumMod val="75000"/>
                <a:lumOff val="25000"/>
              </a:schemeClr>
            </a:solidFill>
          </a:ln>
          <a:effectLst>
            <a:outerShdw blurRad="292100" dist="139700" dir="2700000" algn="tl" rotWithShape="0">
              <a:srgbClr val="333333">
                <a:alpha val="65000"/>
              </a:srgbClr>
            </a:outerShdw>
          </a:effectLst>
        </p:spPr>
      </p:pic>
      <p:pic>
        <p:nvPicPr>
          <p:cNvPr id="26" name="Picture 2">
            <a:extLst>
              <a:ext uri="{FF2B5EF4-FFF2-40B4-BE49-F238E27FC236}">
                <a16:creationId xmlns:a16="http://schemas.microsoft.com/office/drawing/2014/main" id="{99E26E76-5855-1D32-FDAA-E6FE495DE341}"/>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960958" y="3258806"/>
            <a:ext cx="2024249" cy="3054403"/>
          </a:xfrm>
          <a:prstGeom prst="rect">
            <a:avLst/>
          </a:prstGeom>
          <a:ln>
            <a:solidFill>
              <a:schemeClr val="tx1">
                <a:lumMod val="75000"/>
                <a:lumOff val="25000"/>
              </a:schemeClr>
            </a:solid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28" name="Picture 27">
            <a:extLst>
              <a:ext uri="{FF2B5EF4-FFF2-40B4-BE49-F238E27FC236}">
                <a16:creationId xmlns:a16="http://schemas.microsoft.com/office/drawing/2014/main" id="{5668C51A-0F2D-DA0B-5AF9-FC24F40C1BB8}"/>
              </a:ext>
            </a:extLst>
          </p:cNvPr>
          <p:cNvPicPr>
            <a:picLocks noChangeAspect="1"/>
          </p:cNvPicPr>
          <p:nvPr/>
        </p:nvPicPr>
        <p:blipFill>
          <a:blip r:embed="rId12"/>
          <a:stretch>
            <a:fillRect/>
          </a:stretch>
        </p:blipFill>
        <p:spPr>
          <a:xfrm>
            <a:off x="5603232" y="3888251"/>
            <a:ext cx="3330322" cy="3001821"/>
          </a:xfrm>
          <a:prstGeom prst="rect">
            <a:avLst/>
          </a:prstGeom>
          <a:ln>
            <a:solidFill>
              <a:schemeClr val="tx1">
                <a:lumMod val="75000"/>
                <a:lumOff val="25000"/>
              </a:schemeClr>
            </a:solidFill>
          </a:ln>
          <a:effectLst>
            <a:outerShdw blurRad="292100" dist="139700" dir="2700000" algn="tl" rotWithShape="0">
              <a:srgbClr val="333333">
                <a:alpha val="65000"/>
              </a:srgbClr>
            </a:outerShdw>
          </a:effectLst>
        </p:spPr>
      </p:pic>
      <p:pic>
        <p:nvPicPr>
          <p:cNvPr id="25" name="Picture 24">
            <a:extLst>
              <a:ext uri="{FF2B5EF4-FFF2-40B4-BE49-F238E27FC236}">
                <a16:creationId xmlns:a16="http://schemas.microsoft.com/office/drawing/2014/main" id="{6C96F57E-FA65-D95A-7B73-342EF7315783}"/>
              </a:ext>
            </a:extLst>
          </p:cNvPr>
          <p:cNvPicPr>
            <a:picLocks noChangeAspect="1"/>
          </p:cNvPicPr>
          <p:nvPr/>
        </p:nvPicPr>
        <p:blipFill>
          <a:blip r:embed="rId13"/>
          <a:srcRect l="436" r="1036" b="1641"/>
          <a:stretch>
            <a:fillRect/>
          </a:stretch>
        </p:blipFill>
        <p:spPr>
          <a:xfrm>
            <a:off x="5359043" y="3125831"/>
            <a:ext cx="2798200" cy="2276455"/>
          </a:xfrm>
          <a:prstGeom prst="rect">
            <a:avLst/>
          </a:prstGeom>
          <a:ln>
            <a:solidFill>
              <a:schemeClr val="tx1">
                <a:lumMod val="75000"/>
                <a:lumOff val="25000"/>
              </a:schemeClr>
            </a:solid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255165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Effect transition="in" filter="fade">
                                      <p:cBhvr>
                                        <p:cTn id="9" dur="1000"/>
                                        <p:tgtEl>
                                          <p:spTgt spid="7"/>
                                        </p:tgtEl>
                                      </p:cBhvr>
                                    </p:animEffect>
                                  </p:childTnLst>
                                </p:cTn>
                              </p:par>
                            </p:childTnLst>
                          </p:cTn>
                        </p:par>
                        <p:par>
                          <p:cTn id="10" fill="hold">
                            <p:stCondLst>
                              <p:cond delay="1000"/>
                            </p:stCondLst>
                            <p:childTnLst>
                              <p:par>
                                <p:cTn id="11" presetID="53" presetClass="entr" presetSubtype="16" fill="hold" nodeType="after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p:cTn id="13" dur="1000" fill="hold"/>
                                        <p:tgtEl>
                                          <p:spTgt spid="9"/>
                                        </p:tgtEl>
                                        <p:attrNameLst>
                                          <p:attrName>ppt_w</p:attrName>
                                        </p:attrNameLst>
                                      </p:cBhvr>
                                      <p:tavLst>
                                        <p:tav tm="0">
                                          <p:val>
                                            <p:fltVal val="0"/>
                                          </p:val>
                                        </p:tav>
                                        <p:tav tm="100000">
                                          <p:val>
                                            <p:strVal val="#ppt_w"/>
                                          </p:val>
                                        </p:tav>
                                      </p:tavLst>
                                    </p:anim>
                                    <p:anim calcmode="lin" valueType="num">
                                      <p:cBhvr>
                                        <p:cTn id="14" dur="1000" fill="hold"/>
                                        <p:tgtEl>
                                          <p:spTgt spid="9"/>
                                        </p:tgtEl>
                                        <p:attrNameLst>
                                          <p:attrName>ppt_h</p:attrName>
                                        </p:attrNameLst>
                                      </p:cBhvr>
                                      <p:tavLst>
                                        <p:tav tm="0">
                                          <p:val>
                                            <p:fltVal val="0"/>
                                          </p:val>
                                        </p:tav>
                                        <p:tav tm="100000">
                                          <p:val>
                                            <p:strVal val="#ppt_h"/>
                                          </p:val>
                                        </p:tav>
                                      </p:tavLst>
                                    </p:anim>
                                    <p:animEffect transition="in" filter="fade">
                                      <p:cBhvr>
                                        <p:cTn id="15" dur="1000"/>
                                        <p:tgtEl>
                                          <p:spTgt spid="9"/>
                                        </p:tgtEl>
                                      </p:cBhvr>
                                    </p:animEffect>
                                  </p:childTnLst>
                                </p:cTn>
                              </p:par>
                            </p:childTnLst>
                          </p:cTn>
                        </p:par>
                        <p:par>
                          <p:cTn id="16" fill="hold">
                            <p:stCondLst>
                              <p:cond delay="2000"/>
                            </p:stCondLst>
                            <p:childTnLst>
                              <p:par>
                                <p:cTn id="17" presetID="53" presetClass="entr" presetSubtype="16" fill="hold" nodeType="after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p:cTn id="19" dur="1000" fill="hold"/>
                                        <p:tgtEl>
                                          <p:spTgt spid="11"/>
                                        </p:tgtEl>
                                        <p:attrNameLst>
                                          <p:attrName>ppt_w</p:attrName>
                                        </p:attrNameLst>
                                      </p:cBhvr>
                                      <p:tavLst>
                                        <p:tav tm="0">
                                          <p:val>
                                            <p:fltVal val="0"/>
                                          </p:val>
                                        </p:tav>
                                        <p:tav tm="100000">
                                          <p:val>
                                            <p:strVal val="#ppt_w"/>
                                          </p:val>
                                        </p:tav>
                                      </p:tavLst>
                                    </p:anim>
                                    <p:anim calcmode="lin" valueType="num">
                                      <p:cBhvr>
                                        <p:cTn id="20" dur="1000" fill="hold"/>
                                        <p:tgtEl>
                                          <p:spTgt spid="11"/>
                                        </p:tgtEl>
                                        <p:attrNameLst>
                                          <p:attrName>ppt_h</p:attrName>
                                        </p:attrNameLst>
                                      </p:cBhvr>
                                      <p:tavLst>
                                        <p:tav tm="0">
                                          <p:val>
                                            <p:fltVal val="0"/>
                                          </p:val>
                                        </p:tav>
                                        <p:tav tm="100000">
                                          <p:val>
                                            <p:strVal val="#ppt_h"/>
                                          </p:val>
                                        </p:tav>
                                      </p:tavLst>
                                    </p:anim>
                                    <p:animEffect transition="in" filter="fade">
                                      <p:cBhvr>
                                        <p:cTn id="21" dur="1000"/>
                                        <p:tgtEl>
                                          <p:spTgt spid="11"/>
                                        </p:tgtEl>
                                      </p:cBhvr>
                                    </p:animEffect>
                                  </p:childTnLst>
                                </p:cTn>
                              </p:par>
                            </p:childTnLst>
                          </p:cTn>
                        </p:par>
                        <p:par>
                          <p:cTn id="22" fill="hold">
                            <p:stCondLst>
                              <p:cond delay="3000"/>
                            </p:stCondLst>
                            <p:childTnLst>
                              <p:par>
                                <p:cTn id="23" presetID="53" presetClass="entr" presetSubtype="16" fill="hold" nodeType="after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p:cTn id="25" dur="1000" fill="hold"/>
                                        <p:tgtEl>
                                          <p:spTgt spid="13"/>
                                        </p:tgtEl>
                                        <p:attrNameLst>
                                          <p:attrName>ppt_w</p:attrName>
                                        </p:attrNameLst>
                                      </p:cBhvr>
                                      <p:tavLst>
                                        <p:tav tm="0">
                                          <p:val>
                                            <p:fltVal val="0"/>
                                          </p:val>
                                        </p:tav>
                                        <p:tav tm="100000">
                                          <p:val>
                                            <p:strVal val="#ppt_w"/>
                                          </p:val>
                                        </p:tav>
                                      </p:tavLst>
                                    </p:anim>
                                    <p:anim calcmode="lin" valueType="num">
                                      <p:cBhvr>
                                        <p:cTn id="26" dur="1000" fill="hold"/>
                                        <p:tgtEl>
                                          <p:spTgt spid="13"/>
                                        </p:tgtEl>
                                        <p:attrNameLst>
                                          <p:attrName>ppt_h</p:attrName>
                                        </p:attrNameLst>
                                      </p:cBhvr>
                                      <p:tavLst>
                                        <p:tav tm="0">
                                          <p:val>
                                            <p:fltVal val="0"/>
                                          </p:val>
                                        </p:tav>
                                        <p:tav tm="100000">
                                          <p:val>
                                            <p:strVal val="#ppt_h"/>
                                          </p:val>
                                        </p:tav>
                                      </p:tavLst>
                                    </p:anim>
                                    <p:animEffect transition="in" filter="fade">
                                      <p:cBhvr>
                                        <p:cTn id="27" dur="1000"/>
                                        <p:tgtEl>
                                          <p:spTgt spid="13"/>
                                        </p:tgtEl>
                                      </p:cBhvr>
                                    </p:animEffect>
                                  </p:childTnLst>
                                </p:cTn>
                              </p:par>
                            </p:childTnLst>
                          </p:cTn>
                        </p:par>
                        <p:par>
                          <p:cTn id="28" fill="hold">
                            <p:stCondLst>
                              <p:cond delay="4000"/>
                            </p:stCondLst>
                            <p:childTnLst>
                              <p:par>
                                <p:cTn id="29" presetID="53" presetClass="entr" presetSubtype="16" fill="hold" nodeType="afterEffect">
                                  <p:stCondLst>
                                    <p:cond delay="0"/>
                                  </p:stCondLst>
                                  <p:childTnLst>
                                    <p:set>
                                      <p:cBhvr>
                                        <p:cTn id="30" dur="1" fill="hold">
                                          <p:stCondLst>
                                            <p:cond delay="0"/>
                                          </p:stCondLst>
                                        </p:cTn>
                                        <p:tgtEl>
                                          <p:spTgt spid="18"/>
                                        </p:tgtEl>
                                        <p:attrNameLst>
                                          <p:attrName>style.visibility</p:attrName>
                                        </p:attrNameLst>
                                      </p:cBhvr>
                                      <p:to>
                                        <p:strVal val="visible"/>
                                      </p:to>
                                    </p:set>
                                    <p:anim calcmode="lin" valueType="num">
                                      <p:cBhvr>
                                        <p:cTn id="31" dur="1000" fill="hold"/>
                                        <p:tgtEl>
                                          <p:spTgt spid="18"/>
                                        </p:tgtEl>
                                        <p:attrNameLst>
                                          <p:attrName>ppt_w</p:attrName>
                                        </p:attrNameLst>
                                      </p:cBhvr>
                                      <p:tavLst>
                                        <p:tav tm="0">
                                          <p:val>
                                            <p:fltVal val="0"/>
                                          </p:val>
                                        </p:tav>
                                        <p:tav tm="100000">
                                          <p:val>
                                            <p:strVal val="#ppt_w"/>
                                          </p:val>
                                        </p:tav>
                                      </p:tavLst>
                                    </p:anim>
                                    <p:anim calcmode="lin" valueType="num">
                                      <p:cBhvr>
                                        <p:cTn id="32" dur="1000" fill="hold"/>
                                        <p:tgtEl>
                                          <p:spTgt spid="18"/>
                                        </p:tgtEl>
                                        <p:attrNameLst>
                                          <p:attrName>ppt_h</p:attrName>
                                        </p:attrNameLst>
                                      </p:cBhvr>
                                      <p:tavLst>
                                        <p:tav tm="0">
                                          <p:val>
                                            <p:fltVal val="0"/>
                                          </p:val>
                                        </p:tav>
                                        <p:tav tm="100000">
                                          <p:val>
                                            <p:strVal val="#ppt_h"/>
                                          </p:val>
                                        </p:tav>
                                      </p:tavLst>
                                    </p:anim>
                                    <p:animEffect transition="in" filter="fade">
                                      <p:cBhvr>
                                        <p:cTn id="33" dur="1000"/>
                                        <p:tgtEl>
                                          <p:spTgt spid="18"/>
                                        </p:tgtEl>
                                      </p:cBhvr>
                                    </p:animEffect>
                                  </p:childTnLst>
                                </p:cTn>
                              </p:par>
                            </p:childTnLst>
                          </p:cTn>
                        </p:par>
                        <p:par>
                          <p:cTn id="34" fill="hold">
                            <p:stCondLst>
                              <p:cond delay="5000"/>
                            </p:stCondLst>
                            <p:childTnLst>
                              <p:par>
                                <p:cTn id="35" presetID="53" presetClass="entr" presetSubtype="16" fill="hold" nodeType="afterEffect">
                                  <p:stCondLst>
                                    <p:cond delay="0"/>
                                  </p:stCondLst>
                                  <p:childTnLst>
                                    <p:set>
                                      <p:cBhvr>
                                        <p:cTn id="36" dur="1" fill="hold">
                                          <p:stCondLst>
                                            <p:cond delay="0"/>
                                          </p:stCondLst>
                                        </p:cTn>
                                        <p:tgtEl>
                                          <p:spTgt spid="23"/>
                                        </p:tgtEl>
                                        <p:attrNameLst>
                                          <p:attrName>style.visibility</p:attrName>
                                        </p:attrNameLst>
                                      </p:cBhvr>
                                      <p:to>
                                        <p:strVal val="visible"/>
                                      </p:to>
                                    </p:set>
                                    <p:anim calcmode="lin" valueType="num">
                                      <p:cBhvr>
                                        <p:cTn id="37" dur="1000" fill="hold"/>
                                        <p:tgtEl>
                                          <p:spTgt spid="23"/>
                                        </p:tgtEl>
                                        <p:attrNameLst>
                                          <p:attrName>ppt_w</p:attrName>
                                        </p:attrNameLst>
                                      </p:cBhvr>
                                      <p:tavLst>
                                        <p:tav tm="0">
                                          <p:val>
                                            <p:fltVal val="0"/>
                                          </p:val>
                                        </p:tav>
                                        <p:tav tm="100000">
                                          <p:val>
                                            <p:strVal val="#ppt_w"/>
                                          </p:val>
                                        </p:tav>
                                      </p:tavLst>
                                    </p:anim>
                                    <p:anim calcmode="lin" valueType="num">
                                      <p:cBhvr>
                                        <p:cTn id="38" dur="1000" fill="hold"/>
                                        <p:tgtEl>
                                          <p:spTgt spid="23"/>
                                        </p:tgtEl>
                                        <p:attrNameLst>
                                          <p:attrName>ppt_h</p:attrName>
                                        </p:attrNameLst>
                                      </p:cBhvr>
                                      <p:tavLst>
                                        <p:tav tm="0">
                                          <p:val>
                                            <p:fltVal val="0"/>
                                          </p:val>
                                        </p:tav>
                                        <p:tav tm="100000">
                                          <p:val>
                                            <p:strVal val="#ppt_h"/>
                                          </p:val>
                                        </p:tav>
                                      </p:tavLst>
                                    </p:anim>
                                    <p:animEffect transition="in" filter="fade">
                                      <p:cBhvr>
                                        <p:cTn id="39" dur="1000"/>
                                        <p:tgtEl>
                                          <p:spTgt spid="23"/>
                                        </p:tgtEl>
                                      </p:cBhvr>
                                    </p:animEffect>
                                  </p:childTnLst>
                                </p:cTn>
                              </p:par>
                            </p:childTnLst>
                          </p:cTn>
                        </p:par>
                        <p:par>
                          <p:cTn id="40" fill="hold">
                            <p:stCondLst>
                              <p:cond delay="6000"/>
                            </p:stCondLst>
                            <p:childTnLst>
                              <p:par>
                                <p:cTn id="41" presetID="53" presetClass="entr" presetSubtype="16" fill="hold" nodeType="afterEffect">
                                  <p:stCondLst>
                                    <p:cond delay="0"/>
                                  </p:stCondLst>
                                  <p:childTnLst>
                                    <p:set>
                                      <p:cBhvr>
                                        <p:cTn id="42" dur="1" fill="hold">
                                          <p:stCondLst>
                                            <p:cond delay="0"/>
                                          </p:stCondLst>
                                        </p:cTn>
                                        <p:tgtEl>
                                          <p:spTgt spid="15"/>
                                        </p:tgtEl>
                                        <p:attrNameLst>
                                          <p:attrName>style.visibility</p:attrName>
                                        </p:attrNameLst>
                                      </p:cBhvr>
                                      <p:to>
                                        <p:strVal val="visible"/>
                                      </p:to>
                                    </p:set>
                                    <p:anim calcmode="lin" valueType="num">
                                      <p:cBhvr>
                                        <p:cTn id="43" dur="1000" fill="hold"/>
                                        <p:tgtEl>
                                          <p:spTgt spid="15"/>
                                        </p:tgtEl>
                                        <p:attrNameLst>
                                          <p:attrName>ppt_w</p:attrName>
                                        </p:attrNameLst>
                                      </p:cBhvr>
                                      <p:tavLst>
                                        <p:tav tm="0">
                                          <p:val>
                                            <p:fltVal val="0"/>
                                          </p:val>
                                        </p:tav>
                                        <p:tav tm="100000">
                                          <p:val>
                                            <p:strVal val="#ppt_w"/>
                                          </p:val>
                                        </p:tav>
                                      </p:tavLst>
                                    </p:anim>
                                    <p:anim calcmode="lin" valueType="num">
                                      <p:cBhvr>
                                        <p:cTn id="44" dur="1000" fill="hold"/>
                                        <p:tgtEl>
                                          <p:spTgt spid="15"/>
                                        </p:tgtEl>
                                        <p:attrNameLst>
                                          <p:attrName>ppt_h</p:attrName>
                                        </p:attrNameLst>
                                      </p:cBhvr>
                                      <p:tavLst>
                                        <p:tav tm="0">
                                          <p:val>
                                            <p:fltVal val="0"/>
                                          </p:val>
                                        </p:tav>
                                        <p:tav tm="100000">
                                          <p:val>
                                            <p:strVal val="#ppt_h"/>
                                          </p:val>
                                        </p:tav>
                                      </p:tavLst>
                                    </p:anim>
                                    <p:animEffect transition="in" filter="fade">
                                      <p:cBhvr>
                                        <p:cTn id="45" dur="1000"/>
                                        <p:tgtEl>
                                          <p:spTgt spid="15"/>
                                        </p:tgtEl>
                                      </p:cBhvr>
                                    </p:animEffect>
                                  </p:childTnLst>
                                </p:cTn>
                              </p:par>
                            </p:childTnLst>
                          </p:cTn>
                        </p:par>
                        <p:par>
                          <p:cTn id="46" fill="hold">
                            <p:stCondLst>
                              <p:cond delay="7000"/>
                            </p:stCondLst>
                            <p:childTnLst>
                              <p:par>
                                <p:cTn id="47" presetID="53" presetClass="entr" presetSubtype="16" fill="hold" nodeType="afterEffect">
                                  <p:stCondLst>
                                    <p:cond delay="0"/>
                                  </p:stCondLst>
                                  <p:childTnLst>
                                    <p:set>
                                      <p:cBhvr>
                                        <p:cTn id="48" dur="1" fill="hold">
                                          <p:stCondLst>
                                            <p:cond delay="0"/>
                                          </p:stCondLst>
                                        </p:cTn>
                                        <p:tgtEl>
                                          <p:spTgt spid="21"/>
                                        </p:tgtEl>
                                        <p:attrNameLst>
                                          <p:attrName>style.visibility</p:attrName>
                                        </p:attrNameLst>
                                      </p:cBhvr>
                                      <p:to>
                                        <p:strVal val="visible"/>
                                      </p:to>
                                    </p:set>
                                    <p:anim calcmode="lin" valueType="num">
                                      <p:cBhvr>
                                        <p:cTn id="49" dur="1000" fill="hold"/>
                                        <p:tgtEl>
                                          <p:spTgt spid="21"/>
                                        </p:tgtEl>
                                        <p:attrNameLst>
                                          <p:attrName>ppt_w</p:attrName>
                                        </p:attrNameLst>
                                      </p:cBhvr>
                                      <p:tavLst>
                                        <p:tav tm="0">
                                          <p:val>
                                            <p:fltVal val="0"/>
                                          </p:val>
                                        </p:tav>
                                        <p:tav tm="100000">
                                          <p:val>
                                            <p:strVal val="#ppt_w"/>
                                          </p:val>
                                        </p:tav>
                                      </p:tavLst>
                                    </p:anim>
                                    <p:anim calcmode="lin" valueType="num">
                                      <p:cBhvr>
                                        <p:cTn id="50" dur="1000" fill="hold"/>
                                        <p:tgtEl>
                                          <p:spTgt spid="21"/>
                                        </p:tgtEl>
                                        <p:attrNameLst>
                                          <p:attrName>ppt_h</p:attrName>
                                        </p:attrNameLst>
                                      </p:cBhvr>
                                      <p:tavLst>
                                        <p:tav tm="0">
                                          <p:val>
                                            <p:fltVal val="0"/>
                                          </p:val>
                                        </p:tav>
                                        <p:tav tm="100000">
                                          <p:val>
                                            <p:strVal val="#ppt_h"/>
                                          </p:val>
                                        </p:tav>
                                      </p:tavLst>
                                    </p:anim>
                                    <p:animEffect transition="in" filter="fade">
                                      <p:cBhvr>
                                        <p:cTn id="51" dur="1000"/>
                                        <p:tgtEl>
                                          <p:spTgt spid="21"/>
                                        </p:tgtEl>
                                      </p:cBhvr>
                                    </p:animEffect>
                                  </p:childTnLst>
                                </p:cTn>
                              </p:par>
                            </p:childTnLst>
                          </p:cTn>
                        </p:par>
                        <p:par>
                          <p:cTn id="52" fill="hold">
                            <p:stCondLst>
                              <p:cond delay="8000"/>
                            </p:stCondLst>
                            <p:childTnLst>
                              <p:par>
                                <p:cTn id="53" presetID="53" presetClass="entr" presetSubtype="16" fill="hold" nodeType="afterEffect">
                                  <p:stCondLst>
                                    <p:cond delay="0"/>
                                  </p:stCondLst>
                                  <p:childTnLst>
                                    <p:set>
                                      <p:cBhvr>
                                        <p:cTn id="54" dur="1" fill="hold">
                                          <p:stCondLst>
                                            <p:cond delay="0"/>
                                          </p:stCondLst>
                                        </p:cTn>
                                        <p:tgtEl>
                                          <p:spTgt spid="20"/>
                                        </p:tgtEl>
                                        <p:attrNameLst>
                                          <p:attrName>style.visibility</p:attrName>
                                        </p:attrNameLst>
                                      </p:cBhvr>
                                      <p:to>
                                        <p:strVal val="visible"/>
                                      </p:to>
                                    </p:set>
                                    <p:anim calcmode="lin" valueType="num">
                                      <p:cBhvr>
                                        <p:cTn id="55" dur="1000" fill="hold"/>
                                        <p:tgtEl>
                                          <p:spTgt spid="20"/>
                                        </p:tgtEl>
                                        <p:attrNameLst>
                                          <p:attrName>ppt_w</p:attrName>
                                        </p:attrNameLst>
                                      </p:cBhvr>
                                      <p:tavLst>
                                        <p:tav tm="0">
                                          <p:val>
                                            <p:fltVal val="0"/>
                                          </p:val>
                                        </p:tav>
                                        <p:tav tm="100000">
                                          <p:val>
                                            <p:strVal val="#ppt_w"/>
                                          </p:val>
                                        </p:tav>
                                      </p:tavLst>
                                    </p:anim>
                                    <p:anim calcmode="lin" valueType="num">
                                      <p:cBhvr>
                                        <p:cTn id="56" dur="1000" fill="hold"/>
                                        <p:tgtEl>
                                          <p:spTgt spid="20"/>
                                        </p:tgtEl>
                                        <p:attrNameLst>
                                          <p:attrName>ppt_h</p:attrName>
                                        </p:attrNameLst>
                                      </p:cBhvr>
                                      <p:tavLst>
                                        <p:tav tm="0">
                                          <p:val>
                                            <p:fltVal val="0"/>
                                          </p:val>
                                        </p:tav>
                                        <p:tav tm="100000">
                                          <p:val>
                                            <p:strVal val="#ppt_h"/>
                                          </p:val>
                                        </p:tav>
                                      </p:tavLst>
                                    </p:anim>
                                    <p:animEffect transition="in" filter="fade">
                                      <p:cBhvr>
                                        <p:cTn id="57" dur="1000"/>
                                        <p:tgtEl>
                                          <p:spTgt spid="20"/>
                                        </p:tgtEl>
                                      </p:cBhvr>
                                    </p:animEffect>
                                  </p:childTnLst>
                                </p:cTn>
                              </p:par>
                            </p:childTnLst>
                          </p:cTn>
                        </p:par>
                        <p:par>
                          <p:cTn id="58" fill="hold">
                            <p:stCondLst>
                              <p:cond delay="9000"/>
                            </p:stCondLst>
                            <p:childTnLst>
                              <p:par>
                                <p:cTn id="59" presetID="53" presetClass="entr" presetSubtype="16" fill="hold" nodeType="afterEffect">
                                  <p:stCondLst>
                                    <p:cond delay="0"/>
                                  </p:stCondLst>
                                  <p:childTnLst>
                                    <p:set>
                                      <p:cBhvr>
                                        <p:cTn id="60" dur="1" fill="hold">
                                          <p:stCondLst>
                                            <p:cond delay="0"/>
                                          </p:stCondLst>
                                        </p:cTn>
                                        <p:tgtEl>
                                          <p:spTgt spid="28"/>
                                        </p:tgtEl>
                                        <p:attrNameLst>
                                          <p:attrName>style.visibility</p:attrName>
                                        </p:attrNameLst>
                                      </p:cBhvr>
                                      <p:to>
                                        <p:strVal val="visible"/>
                                      </p:to>
                                    </p:set>
                                    <p:anim calcmode="lin" valueType="num">
                                      <p:cBhvr>
                                        <p:cTn id="61" dur="1000" fill="hold"/>
                                        <p:tgtEl>
                                          <p:spTgt spid="28"/>
                                        </p:tgtEl>
                                        <p:attrNameLst>
                                          <p:attrName>ppt_w</p:attrName>
                                        </p:attrNameLst>
                                      </p:cBhvr>
                                      <p:tavLst>
                                        <p:tav tm="0">
                                          <p:val>
                                            <p:fltVal val="0"/>
                                          </p:val>
                                        </p:tav>
                                        <p:tav tm="100000">
                                          <p:val>
                                            <p:strVal val="#ppt_w"/>
                                          </p:val>
                                        </p:tav>
                                      </p:tavLst>
                                    </p:anim>
                                    <p:anim calcmode="lin" valueType="num">
                                      <p:cBhvr>
                                        <p:cTn id="62" dur="1000" fill="hold"/>
                                        <p:tgtEl>
                                          <p:spTgt spid="28"/>
                                        </p:tgtEl>
                                        <p:attrNameLst>
                                          <p:attrName>ppt_h</p:attrName>
                                        </p:attrNameLst>
                                      </p:cBhvr>
                                      <p:tavLst>
                                        <p:tav tm="0">
                                          <p:val>
                                            <p:fltVal val="0"/>
                                          </p:val>
                                        </p:tav>
                                        <p:tav tm="100000">
                                          <p:val>
                                            <p:strVal val="#ppt_h"/>
                                          </p:val>
                                        </p:tav>
                                      </p:tavLst>
                                    </p:anim>
                                    <p:animEffect transition="in" filter="fade">
                                      <p:cBhvr>
                                        <p:cTn id="63" dur="1000"/>
                                        <p:tgtEl>
                                          <p:spTgt spid="28"/>
                                        </p:tgtEl>
                                      </p:cBhvr>
                                    </p:animEffect>
                                  </p:childTnLst>
                                </p:cTn>
                              </p:par>
                            </p:childTnLst>
                          </p:cTn>
                        </p:par>
                        <p:par>
                          <p:cTn id="64" fill="hold">
                            <p:stCondLst>
                              <p:cond delay="10000"/>
                            </p:stCondLst>
                            <p:childTnLst>
                              <p:par>
                                <p:cTn id="65" presetID="53" presetClass="entr" presetSubtype="16" fill="hold" nodeType="afterEffect">
                                  <p:stCondLst>
                                    <p:cond delay="0"/>
                                  </p:stCondLst>
                                  <p:childTnLst>
                                    <p:set>
                                      <p:cBhvr>
                                        <p:cTn id="66" dur="1" fill="hold">
                                          <p:stCondLst>
                                            <p:cond delay="0"/>
                                          </p:stCondLst>
                                        </p:cTn>
                                        <p:tgtEl>
                                          <p:spTgt spid="25"/>
                                        </p:tgtEl>
                                        <p:attrNameLst>
                                          <p:attrName>style.visibility</p:attrName>
                                        </p:attrNameLst>
                                      </p:cBhvr>
                                      <p:to>
                                        <p:strVal val="visible"/>
                                      </p:to>
                                    </p:set>
                                    <p:anim calcmode="lin" valueType="num">
                                      <p:cBhvr>
                                        <p:cTn id="67" dur="1000" fill="hold"/>
                                        <p:tgtEl>
                                          <p:spTgt spid="25"/>
                                        </p:tgtEl>
                                        <p:attrNameLst>
                                          <p:attrName>ppt_w</p:attrName>
                                        </p:attrNameLst>
                                      </p:cBhvr>
                                      <p:tavLst>
                                        <p:tav tm="0">
                                          <p:val>
                                            <p:fltVal val="0"/>
                                          </p:val>
                                        </p:tav>
                                        <p:tav tm="100000">
                                          <p:val>
                                            <p:strVal val="#ppt_w"/>
                                          </p:val>
                                        </p:tav>
                                      </p:tavLst>
                                    </p:anim>
                                    <p:anim calcmode="lin" valueType="num">
                                      <p:cBhvr>
                                        <p:cTn id="68" dur="1000" fill="hold"/>
                                        <p:tgtEl>
                                          <p:spTgt spid="25"/>
                                        </p:tgtEl>
                                        <p:attrNameLst>
                                          <p:attrName>ppt_h</p:attrName>
                                        </p:attrNameLst>
                                      </p:cBhvr>
                                      <p:tavLst>
                                        <p:tav tm="0">
                                          <p:val>
                                            <p:fltVal val="0"/>
                                          </p:val>
                                        </p:tav>
                                        <p:tav tm="100000">
                                          <p:val>
                                            <p:strVal val="#ppt_h"/>
                                          </p:val>
                                        </p:tav>
                                      </p:tavLst>
                                    </p:anim>
                                    <p:animEffect transition="in" filter="fade">
                                      <p:cBhvr>
                                        <p:cTn id="69" dur="1000"/>
                                        <p:tgtEl>
                                          <p:spTgt spid="25"/>
                                        </p:tgtEl>
                                      </p:cBhvr>
                                    </p:animEffect>
                                  </p:childTnLst>
                                </p:cTn>
                              </p:par>
                            </p:childTnLst>
                          </p:cTn>
                        </p:par>
                        <p:par>
                          <p:cTn id="70" fill="hold">
                            <p:stCondLst>
                              <p:cond delay="11000"/>
                            </p:stCondLst>
                            <p:childTnLst>
                              <p:par>
                                <p:cTn id="71" presetID="53" presetClass="entr" presetSubtype="16" fill="hold" nodeType="afterEffect">
                                  <p:stCondLst>
                                    <p:cond delay="0"/>
                                  </p:stCondLst>
                                  <p:childTnLst>
                                    <p:set>
                                      <p:cBhvr>
                                        <p:cTn id="72" dur="1" fill="hold">
                                          <p:stCondLst>
                                            <p:cond delay="0"/>
                                          </p:stCondLst>
                                        </p:cTn>
                                        <p:tgtEl>
                                          <p:spTgt spid="26"/>
                                        </p:tgtEl>
                                        <p:attrNameLst>
                                          <p:attrName>style.visibility</p:attrName>
                                        </p:attrNameLst>
                                      </p:cBhvr>
                                      <p:to>
                                        <p:strVal val="visible"/>
                                      </p:to>
                                    </p:set>
                                    <p:anim calcmode="lin" valueType="num">
                                      <p:cBhvr>
                                        <p:cTn id="73" dur="1000" fill="hold"/>
                                        <p:tgtEl>
                                          <p:spTgt spid="26"/>
                                        </p:tgtEl>
                                        <p:attrNameLst>
                                          <p:attrName>ppt_w</p:attrName>
                                        </p:attrNameLst>
                                      </p:cBhvr>
                                      <p:tavLst>
                                        <p:tav tm="0">
                                          <p:val>
                                            <p:fltVal val="0"/>
                                          </p:val>
                                        </p:tav>
                                        <p:tav tm="100000">
                                          <p:val>
                                            <p:strVal val="#ppt_w"/>
                                          </p:val>
                                        </p:tav>
                                      </p:tavLst>
                                    </p:anim>
                                    <p:anim calcmode="lin" valueType="num">
                                      <p:cBhvr>
                                        <p:cTn id="74" dur="1000" fill="hold"/>
                                        <p:tgtEl>
                                          <p:spTgt spid="26"/>
                                        </p:tgtEl>
                                        <p:attrNameLst>
                                          <p:attrName>ppt_h</p:attrName>
                                        </p:attrNameLst>
                                      </p:cBhvr>
                                      <p:tavLst>
                                        <p:tav tm="0">
                                          <p:val>
                                            <p:fltVal val="0"/>
                                          </p:val>
                                        </p:tav>
                                        <p:tav tm="100000">
                                          <p:val>
                                            <p:strVal val="#ppt_h"/>
                                          </p:val>
                                        </p:tav>
                                      </p:tavLst>
                                    </p:anim>
                                    <p:animEffect transition="in" filter="fade">
                                      <p:cBhvr>
                                        <p:cTn id="75" dur="10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A169D286-F4D7-4C8B-A6BD-D05384C7F1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6">
            <a:extLst>
              <a:ext uri="{FF2B5EF4-FFF2-40B4-BE49-F238E27FC236}">
                <a16:creationId xmlns:a16="http://schemas.microsoft.com/office/drawing/2014/main" id="{39E8235E-135E-4261-8F54-2B316E493C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2164" y="610728"/>
            <a:ext cx="759618" cy="5710965"/>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7">
            <a:extLst>
              <a:ext uri="{FF2B5EF4-FFF2-40B4-BE49-F238E27FC236}">
                <a16:creationId xmlns:a16="http://schemas.microsoft.com/office/drawing/2014/main" id="{D4ED8EC3-4D57-4620-93CE-4E6661F09A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144437" y="343079"/>
            <a:ext cx="482654" cy="5521414"/>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Shape 35">
            <a:extLst>
              <a:ext uri="{FF2B5EF4-FFF2-40B4-BE49-F238E27FC236}">
                <a16:creationId xmlns:a16="http://schemas.microsoft.com/office/drawing/2014/main" id="{83BCB34A-2F40-4F41-8488-A134C1C155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5" y="340424"/>
            <a:ext cx="4630139" cy="5265795"/>
          </a:xfrm>
          <a:custGeom>
            <a:avLst/>
            <a:gdLst>
              <a:gd name="connsiteX0" fmla="*/ 0 w 4630139"/>
              <a:gd name="connsiteY0" fmla="*/ 0 h 5265795"/>
              <a:gd name="connsiteX1" fmla="*/ 4630139 w 4630139"/>
              <a:gd name="connsiteY1" fmla="*/ 0 h 5265795"/>
              <a:gd name="connsiteX2" fmla="*/ 4630139 w 4630139"/>
              <a:gd name="connsiteY2" fmla="*/ 5265795 h 5265795"/>
              <a:gd name="connsiteX3" fmla="*/ 0 w 4630139"/>
              <a:gd name="connsiteY3" fmla="*/ 5265795 h 5265795"/>
            </a:gdLst>
            <a:ahLst/>
            <a:cxnLst>
              <a:cxn ang="0">
                <a:pos x="connsiteX0" y="connsiteY0"/>
              </a:cxn>
              <a:cxn ang="0">
                <a:pos x="connsiteX1" y="connsiteY1"/>
              </a:cxn>
              <a:cxn ang="0">
                <a:pos x="connsiteX2" y="connsiteY2"/>
              </a:cxn>
              <a:cxn ang="0">
                <a:pos x="connsiteX3" y="connsiteY3"/>
              </a:cxn>
            </a:cxnLst>
            <a:rect l="l" t="t" r="r" b="b"/>
            <a:pathLst>
              <a:path w="4630139" h="5265795">
                <a:moveTo>
                  <a:pt x="0" y="0"/>
                </a:moveTo>
                <a:lnTo>
                  <a:pt x="4630139" y="0"/>
                </a:lnTo>
                <a:lnTo>
                  <a:pt x="4630139" y="5265795"/>
                </a:lnTo>
                <a:lnTo>
                  <a:pt x="0" y="5265795"/>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6" name="Picture 5" descr="A black cover with colorful text&#10;&#10;AI-generated content may be incorrect.">
            <a:extLst>
              <a:ext uri="{FF2B5EF4-FFF2-40B4-BE49-F238E27FC236}">
                <a16:creationId xmlns:a16="http://schemas.microsoft.com/office/drawing/2014/main" id="{EA34F4D1-9C2B-0897-44C9-5778CC3BF60B}"/>
              </a:ext>
            </a:extLst>
          </p:cNvPr>
          <p:cNvPicPr>
            <a:picLocks noChangeAspect="1"/>
          </p:cNvPicPr>
          <p:nvPr/>
        </p:nvPicPr>
        <p:blipFill>
          <a:blip r:embed="rId2"/>
          <a:stretch>
            <a:fillRect/>
          </a:stretch>
        </p:blipFill>
        <p:spPr>
          <a:xfrm>
            <a:off x="1046151" y="660759"/>
            <a:ext cx="2525652" cy="3993126"/>
          </a:xfrm>
          <a:prstGeom prst="rect">
            <a:avLst/>
          </a:prstGeom>
        </p:spPr>
      </p:pic>
      <p:sp>
        <p:nvSpPr>
          <p:cNvPr id="38" name="Freeform: Shape 37">
            <a:extLst>
              <a:ext uri="{FF2B5EF4-FFF2-40B4-BE49-F238E27FC236}">
                <a16:creationId xmlns:a16="http://schemas.microsoft.com/office/drawing/2014/main" id="{F78382DC-4207-465E-B379-1E16448AA2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1780" y="1071563"/>
            <a:ext cx="7290218" cy="5242298"/>
          </a:xfrm>
          <a:custGeom>
            <a:avLst/>
            <a:gdLst>
              <a:gd name="connsiteX0" fmla="*/ 0 w 7290218"/>
              <a:gd name="connsiteY0" fmla="*/ 0 h 5242298"/>
              <a:gd name="connsiteX1" fmla="*/ 7290218 w 7290218"/>
              <a:gd name="connsiteY1" fmla="*/ 0 h 5242298"/>
              <a:gd name="connsiteX2" fmla="*/ 7290218 w 7290218"/>
              <a:gd name="connsiteY2" fmla="*/ 5242298 h 5242298"/>
              <a:gd name="connsiteX3" fmla="*/ 0 w 7290218"/>
              <a:gd name="connsiteY3" fmla="*/ 5242298 h 5242298"/>
            </a:gdLst>
            <a:ahLst/>
            <a:cxnLst>
              <a:cxn ang="0">
                <a:pos x="connsiteX0" y="connsiteY0"/>
              </a:cxn>
              <a:cxn ang="0">
                <a:pos x="connsiteX1" y="connsiteY1"/>
              </a:cxn>
              <a:cxn ang="0">
                <a:pos x="connsiteX2" y="connsiteY2"/>
              </a:cxn>
              <a:cxn ang="0">
                <a:pos x="connsiteX3" y="connsiteY3"/>
              </a:cxn>
            </a:cxnLst>
            <a:rect l="l" t="t" r="r" b="b"/>
            <a:pathLst>
              <a:path w="7290218" h="5242298">
                <a:moveTo>
                  <a:pt x="0" y="0"/>
                </a:moveTo>
                <a:lnTo>
                  <a:pt x="7290218" y="0"/>
                </a:lnTo>
                <a:lnTo>
                  <a:pt x="7290218" y="5242298"/>
                </a:lnTo>
                <a:lnTo>
                  <a:pt x="0" y="5242298"/>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8" name="Picture 7" descr="A cartoon character next to a bridge&#10;&#10;AI-generated content may be incorrect.">
            <a:extLst>
              <a:ext uri="{FF2B5EF4-FFF2-40B4-BE49-F238E27FC236}">
                <a16:creationId xmlns:a16="http://schemas.microsoft.com/office/drawing/2014/main" id="{774302DC-EC2F-B0BB-EAF9-0330EAE507B0}"/>
              </a:ext>
            </a:extLst>
          </p:cNvPr>
          <p:cNvPicPr>
            <a:picLocks noChangeAspect="1"/>
          </p:cNvPicPr>
          <p:nvPr/>
        </p:nvPicPr>
        <p:blipFill>
          <a:blip r:embed="rId3"/>
          <a:stretch>
            <a:fillRect/>
          </a:stretch>
        </p:blipFill>
        <p:spPr>
          <a:xfrm>
            <a:off x="5545244" y="1990204"/>
            <a:ext cx="6020730" cy="3416763"/>
          </a:xfrm>
          <a:prstGeom prst="rect">
            <a:avLst/>
          </a:prstGeom>
        </p:spPr>
      </p:pic>
      <p:sp>
        <p:nvSpPr>
          <p:cNvPr id="10" name="TextBox 9">
            <a:extLst>
              <a:ext uri="{FF2B5EF4-FFF2-40B4-BE49-F238E27FC236}">
                <a16:creationId xmlns:a16="http://schemas.microsoft.com/office/drawing/2014/main" id="{48AA7F07-5E7E-D2A2-11E6-9B059E846B85}"/>
              </a:ext>
            </a:extLst>
          </p:cNvPr>
          <p:cNvSpPr txBox="1"/>
          <p:nvPr/>
        </p:nvSpPr>
        <p:spPr>
          <a:xfrm>
            <a:off x="5545244" y="5601771"/>
            <a:ext cx="6020730" cy="307777"/>
          </a:xfrm>
          <a:prstGeom prst="rect">
            <a:avLst/>
          </a:prstGeom>
          <a:noFill/>
        </p:spPr>
        <p:txBody>
          <a:bodyPr wrap="square">
            <a:spAutoFit/>
          </a:bodyPr>
          <a:lstStyle/>
          <a:p>
            <a:pPr algn="ctr"/>
            <a:r>
              <a:rPr lang="en-CA" sz="1400" dirty="0">
                <a:solidFill>
                  <a:schemeClr val="bg1"/>
                </a:solidFill>
              </a:rPr>
              <a:t>https://www.uwindsor.ca/law/3450/werobot-2025</a:t>
            </a:r>
          </a:p>
        </p:txBody>
      </p:sp>
      <p:sp>
        <p:nvSpPr>
          <p:cNvPr id="14" name="TextBox 13">
            <a:extLst>
              <a:ext uri="{FF2B5EF4-FFF2-40B4-BE49-F238E27FC236}">
                <a16:creationId xmlns:a16="http://schemas.microsoft.com/office/drawing/2014/main" id="{96D2D1F1-2ED6-BD60-77BA-DAACDC7CEBDD}"/>
              </a:ext>
            </a:extLst>
          </p:cNvPr>
          <p:cNvSpPr txBox="1"/>
          <p:nvPr/>
        </p:nvSpPr>
        <p:spPr>
          <a:xfrm>
            <a:off x="211896" y="4811887"/>
            <a:ext cx="4194162" cy="523220"/>
          </a:xfrm>
          <a:prstGeom prst="rect">
            <a:avLst/>
          </a:prstGeom>
          <a:noFill/>
        </p:spPr>
        <p:txBody>
          <a:bodyPr wrap="square">
            <a:spAutoFit/>
          </a:bodyPr>
          <a:lstStyle/>
          <a:p>
            <a:pPr algn="ctr"/>
            <a:r>
              <a:rPr lang="en-CA" sz="1400" dirty="0">
                <a:solidFill>
                  <a:schemeClr val="bg1"/>
                </a:solidFill>
              </a:rPr>
              <a:t>https://www.uwindsor.ca/law/sites/uwindsor.ca.law/files/resistingtechnofascism-web.pdf</a:t>
            </a:r>
          </a:p>
        </p:txBody>
      </p:sp>
    </p:spTree>
    <p:extLst>
      <p:ext uri="{BB962C8B-B14F-4D97-AF65-F5344CB8AC3E}">
        <p14:creationId xmlns:p14="http://schemas.microsoft.com/office/powerpoint/2010/main" val="18750258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5E2A8C7-92C4-DE3C-AD1D-DCF129697CA1}"/>
              </a:ext>
            </a:extLst>
          </p:cNvPr>
          <p:cNvPicPr>
            <a:picLocks noChangeAspect="1"/>
          </p:cNvPicPr>
          <p:nvPr/>
        </p:nvPicPr>
        <p:blipFill>
          <a:blip r:embed="rId2"/>
          <a:stretch>
            <a:fillRect/>
          </a:stretch>
        </p:blipFill>
        <p:spPr>
          <a:xfrm>
            <a:off x="5297256" y="1900099"/>
            <a:ext cx="6054955" cy="4450513"/>
          </a:xfrm>
          <a:prstGeom prst="rect">
            <a:avLst/>
          </a:prstGeom>
        </p:spPr>
      </p:pic>
      <p:grpSp>
        <p:nvGrpSpPr>
          <p:cNvPr id="12" name="Group 11">
            <a:extLst>
              <a:ext uri="{FF2B5EF4-FFF2-40B4-BE49-F238E27FC236}">
                <a16:creationId xmlns:a16="http://schemas.microsoft.com/office/drawing/2014/main" id="{D8EB153B-4964-9385-89D6-22AA52CB4769}"/>
              </a:ext>
            </a:extLst>
          </p:cNvPr>
          <p:cNvGrpSpPr/>
          <p:nvPr/>
        </p:nvGrpSpPr>
        <p:grpSpPr>
          <a:xfrm>
            <a:off x="839788" y="938824"/>
            <a:ext cx="6061983" cy="636952"/>
            <a:chOff x="3065009" y="2481471"/>
            <a:chExt cx="6061983" cy="636952"/>
          </a:xfrm>
        </p:grpSpPr>
        <p:sp>
          <p:nvSpPr>
            <p:cNvPr id="13" name="Rectangle: Rounded Corners 12">
              <a:extLst>
                <a:ext uri="{FF2B5EF4-FFF2-40B4-BE49-F238E27FC236}">
                  <a16:creationId xmlns:a16="http://schemas.microsoft.com/office/drawing/2014/main" id="{86C2A5B9-B303-7D49-F7E4-12951704BF15}"/>
                </a:ext>
              </a:extLst>
            </p:cNvPr>
            <p:cNvSpPr/>
            <p:nvPr/>
          </p:nvSpPr>
          <p:spPr>
            <a:xfrm>
              <a:off x="3065009" y="2481471"/>
              <a:ext cx="6061983" cy="636952"/>
            </a:xfrm>
            <a:prstGeom prst="round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4" name="TextBox 13">
              <a:extLst>
                <a:ext uri="{FF2B5EF4-FFF2-40B4-BE49-F238E27FC236}">
                  <a16:creationId xmlns:a16="http://schemas.microsoft.com/office/drawing/2014/main" id="{CC4B8D18-335A-4CDB-62B0-943E85B75FDA}"/>
                </a:ext>
              </a:extLst>
            </p:cNvPr>
            <p:cNvSpPr txBox="1"/>
            <p:nvPr/>
          </p:nvSpPr>
          <p:spPr>
            <a:xfrm>
              <a:off x="3203997" y="2569114"/>
              <a:ext cx="5714978" cy="461665"/>
            </a:xfrm>
            <a:prstGeom prst="rect">
              <a:avLst/>
            </a:prstGeom>
            <a:noFill/>
          </p:spPr>
          <p:txBody>
            <a:bodyPr wrap="square">
              <a:spAutoFit/>
            </a:bodyPr>
            <a:lstStyle/>
            <a:p>
              <a:r>
                <a:rPr lang="en-CA" sz="2400" dirty="0"/>
                <a:t>Emancipatory Information Retrieval</a:t>
              </a:r>
              <a:endParaRPr lang="en-CA" sz="2400" dirty="0">
                <a:latin typeface="+mj-lt"/>
                <a:cs typeface="Segoe UI" panose="020B0502040204020203" pitchFamily="34" charset="0"/>
              </a:endParaRPr>
            </a:p>
          </p:txBody>
        </p:sp>
        <p:pic>
          <p:nvPicPr>
            <p:cNvPr id="15" name="Picture 2" descr="Social revolution - Wikipedia">
              <a:extLst>
                <a:ext uri="{FF2B5EF4-FFF2-40B4-BE49-F238E27FC236}">
                  <a16:creationId xmlns:a16="http://schemas.microsoft.com/office/drawing/2014/main" id="{D1A9EDA9-2C32-AD80-36F4-C7767F1519BD}"/>
                </a:ext>
              </a:extLst>
            </p:cNvPr>
            <p:cNvPicPr>
              <a:picLocks noChangeAspect="1" noChangeArrowheads="1"/>
            </p:cNvPicPr>
            <p:nvPr/>
          </p:nvPicPr>
          <p:blipFill>
            <a:blip r:embed="rId3">
              <a:duotone>
                <a:prstClr val="black"/>
                <a:schemeClr val="tx2">
                  <a:tint val="45000"/>
                  <a:satMod val="400000"/>
                </a:schemeClr>
              </a:duotone>
              <a:extLst>
                <a:ext uri="{BEBA8EAE-BF5A-486C-A8C5-ECC9F3942E4B}">
                  <a14:imgProps xmlns:a14="http://schemas.microsoft.com/office/drawing/2010/main">
                    <a14:imgLayer r:embed="rId4">
                      <a14:imgEffect>
                        <a14:saturation sat="66000"/>
                      </a14:imgEffect>
                    </a14:imgLayer>
                  </a14:imgProps>
                </a:ext>
                <a:ext uri="{28A0092B-C50C-407E-A947-70E740481C1C}">
                  <a14:useLocalDpi xmlns:a14="http://schemas.microsoft.com/office/drawing/2010/main" val="0"/>
                </a:ext>
              </a:extLst>
            </a:blip>
            <a:srcRect/>
            <a:stretch>
              <a:fillRect/>
            </a:stretch>
          </p:blipFill>
          <p:spPr bwMode="auto">
            <a:xfrm rot="19800000" flipH="1">
              <a:off x="8580497" y="2591121"/>
              <a:ext cx="323164" cy="418093"/>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pic>
        <p:nvPicPr>
          <p:cNvPr id="17" name="Picture 16">
            <a:extLst>
              <a:ext uri="{FF2B5EF4-FFF2-40B4-BE49-F238E27FC236}">
                <a16:creationId xmlns:a16="http://schemas.microsoft.com/office/drawing/2014/main" id="{5F958E12-B31A-11CB-DF4A-C094F79C6CC4}"/>
              </a:ext>
            </a:extLst>
          </p:cNvPr>
          <p:cNvPicPr>
            <a:picLocks noChangeAspect="1"/>
          </p:cNvPicPr>
          <p:nvPr/>
        </p:nvPicPr>
        <p:blipFill>
          <a:blip r:embed="rId5"/>
          <a:srcRect l="1025" t="2863" r="581" b="2166"/>
          <a:stretch>
            <a:fillRect/>
          </a:stretch>
        </p:blipFill>
        <p:spPr>
          <a:xfrm>
            <a:off x="0" y="4963587"/>
            <a:ext cx="4836051" cy="1325147"/>
          </a:xfrm>
          <a:prstGeom prst="rect">
            <a:avLst/>
          </a:prstGeom>
          <a:ln>
            <a:noFill/>
          </a:ln>
          <a:effectLst>
            <a:outerShdw blurRad="292100" dist="139700" dir="2700000" algn="tl" rotWithShape="0">
              <a:srgbClr val="333333">
                <a:alpha val="65000"/>
              </a:srgbClr>
            </a:outerShdw>
          </a:effectLst>
        </p:spPr>
      </p:pic>
      <p:sp>
        <p:nvSpPr>
          <p:cNvPr id="18" name="TextBox 17">
            <a:extLst>
              <a:ext uri="{FF2B5EF4-FFF2-40B4-BE49-F238E27FC236}">
                <a16:creationId xmlns:a16="http://schemas.microsoft.com/office/drawing/2014/main" id="{5A2EB50D-8BD2-3A66-26BB-C5F3DC58BD7C}"/>
              </a:ext>
            </a:extLst>
          </p:cNvPr>
          <p:cNvSpPr txBox="1"/>
          <p:nvPr/>
        </p:nvSpPr>
        <p:spPr>
          <a:xfrm>
            <a:off x="0" y="6581001"/>
            <a:ext cx="12192000" cy="276999"/>
          </a:xfrm>
          <a:prstGeom prst="rect">
            <a:avLst/>
          </a:prstGeom>
          <a:noFill/>
        </p:spPr>
        <p:txBody>
          <a:bodyPr wrap="square">
            <a:spAutoFit/>
          </a:bodyPr>
          <a:lstStyle/>
          <a:p>
            <a:pPr algn="ctr"/>
            <a:r>
              <a:rPr lang="en-US" sz="1200" dirty="0"/>
              <a:t>Mitra. </a:t>
            </a:r>
            <a:r>
              <a:rPr lang="en-US" sz="1200" dirty="0">
                <a:hlinkClick r:id="rId6"/>
              </a:rPr>
              <a:t>Emancipatory Information Retrieval</a:t>
            </a:r>
            <a:r>
              <a:rPr lang="en-US" sz="1200" dirty="0"/>
              <a:t>. Under review, 2025.</a:t>
            </a:r>
            <a:endParaRPr lang="en-CA" sz="1200" dirty="0"/>
          </a:p>
        </p:txBody>
      </p:sp>
      <p:sp>
        <p:nvSpPr>
          <p:cNvPr id="20" name="TextBox 19">
            <a:extLst>
              <a:ext uri="{FF2B5EF4-FFF2-40B4-BE49-F238E27FC236}">
                <a16:creationId xmlns:a16="http://schemas.microsoft.com/office/drawing/2014/main" id="{E5BDF7BA-2B1D-CB5F-2762-CFB9184CC702}"/>
              </a:ext>
            </a:extLst>
          </p:cNvPr>
          <p:cNvSpPr txBox="1"/>
          <p:nvPr/>
        </p:nvSpPr>
        <p:spPr>
          <a:xfrm>
            <a:off x="388126" y="4686588"/>
            <a:ext cx="4059798" cy="276999"/>
          </a:xfrm>
          <a:prstGeom prst="rect">
            <a:avLst/>
          </a:prstGeom>
          <a:noFill/>
        </p:spPr>
        <p:txBody>
          <a:bodyPr wrap="square">
            <a:spAutoFit/>
          </a:bodyPr>
          <a:lstStyle/>
          <a:p>
            <a:pPr algn="ctr"/>
            <a:r>
              <a:rPr lang="en-CA" sz="1200" dirty="0">
                <a:hlinkClick r:id="rId7"/>
              </a:rPr>
              <a:t>https://www.techpolicy.press/the-whiteness-of-mastodon/</a:t>
            </a:r>
            <a:endParaRPr lang="en-CA" sz="1200" dirty="0"/>
          </a:p>
        </p:txBody>
      </p:sp>
      <p:sp>
        <p:nvSpPr>
          <p:cNvPr id="23" name="Text Placeholder 6">
            <a:extLst>
              <a:ext uri="{FF2B5EF4-FFF2-40B4-BE49-F238E27FC236}">
                <a16:creationId xmlns:a16="http://schemas.microsoft.com/office/drawing/2014/main" id="{0CFBFA45-912B-4E1E-7640-8966B9424807}"/>
              </a:ext>
            </a:extLst>
          </p:cNvPr>
          <p:cNvSpPr txBox="1">
            <a:spLocks/>
          </p:cNvSpPr>
          <p:nvPr/>
        </p:nvSpPr>
        <p:spPr>
          <a:xfrm>
            <a:off x="839789" y="1779068"/>
            <a:ext cx="5801643" cy="2806682"/>
          </a:xfrm>
          <a:prstGeom prst="rect">
            <a:avLst/>
          </a:prstGeom>
        </p:spPr>
        <p:txBody>
          <a:bodyPr vert="horz" lIns="91440" tIns="45720" rIns="91440" bIns="45720" rtlCol="0">
            <a:normAutofit fontScale="92500"/>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pPr>
              <a:lnSpc>
                <a:spcPct val="100000"/>
              </a:lnSpc>
            </a:pPr>
            <a:r>
              <a:rPr lang="en-CA" sz="2000" dirty="0"/>
              <a:t>We must refuse to build tools of mass manipulation nor develop any technology that contributes towards infrastructure of authoritarianism</a:t>
            </a:r>
          </a:p>
          <a:p>
            <a:pPr>
              <a:lnSpc>
                <a:spcPct val="100000"/>
              </a:lnSpc>
            </a:pPr>
            <a:r>
              <a:rPr lang="en-CA" sz="2000" dirty="0"/>
              <a:t>We must build public service information access platforms and safeguard them from capture</a:t>
            </a:r>
          </a:p>
          <a:p>
            <a:pPr>
              <a:lnSpc>
                <a:spcPct val="100000"/>
              </a:lnSpc>
            </a:pPr>
            <a:r>
              <a:rPr lang="en-CA" sz="2000" dirty="0"/>
              <a:t>This requires not just decentralizing our technological infrastructure but also our social infrastructure for governance and moderation</a:t>
            </a:r>
          </a:p>
          <a:p>
            <a:pPr>
              <a:lnSpc>
                <a:spcPct val="100000"/>
              </a:lnSpc>
            </a:pPr>
            <a:endParaRPr lang="en-CA" sz="2000" dirty="0"/>
          </a:p>
        </p:txBody>
      </p:sp>
    </p:spTree>
    <p:extLst>
      <p:ext uri="{BB962C8B-B14F-4D97-AF65-F5344CB8AC3E}">
        <p14:creationId xmlns:p14="http://schemas.microsoft.com/office/powerpoint/2010/main" val="41172825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DB6FE-6474-593C-680A-6BD56C80596C}"/>
              </a:ext>
            </a:extLst>
          </p:cNvPr>
          <p:cNvSpPr>
            <a:spLocks noGrp="1"/>
          </p:cNvSpPr>
          <p:nvPr>
            <p:ph type="title"/>
          </p:nvPr>
        </p:nvSpPr>
        <p:spPr/>
        <p:txBody>
          <a:bodyPr/>
          <a:lstStyle/>
          <a:p>
            <a:r>
              <a:rPr lang="en-CA" dirty="0"/>
              <a:t>Information ecosystem disruption</a:t>
            </a:r>
          </a:p>
        </p:txBody>
      </p:sp>
      <p:sp>
        <p:nvSpPr>
          <p:cNvPr id="3" name="Content Placeholder 2">
            <a:extLst>
              <a:ext uri="{FF2B5EF4-FFF2-40B4-BE49-F238E27FC236}">
                <a16:creationId xmlns:a16="http://schemas.microsoft.com/office/drawing/2014/main" id="{8A6DBFEC-CB9C-A6AB-B73C-2EF4647547D5}"/>
              </a:ext>
            </a:extLst>
          </p:cNvPr>
          <p:cNvSpPr>
            <a:spLocks noGrp="1"/>
          </p:cNvSpPr>
          <p:nvPr>
            <p:ph idx="1"/>
          </p:nvPr>
        </p:nvSpPr>
        <p:spPr>
          <a:xfrm>
            <a:off x="838200" y="1825625"/>
            <a:ext cx="10515600" cy="1423097"/>
          </a:xfrm>
        </p:spPr>
        <p:txBody>
          <a:bodyPr>
            <a:normAutofit/>
          </a:bodyPr>
          <a:lstStyle/>
          <a:p>
            <a:pPr marL="0" indent="0">
              <a:lnSpc>
                <a:spcPct val="100000"/>
              </a:lnSpc>
              <a:buNone/>
            </a:pPr>
            <a:r>
              <a:rPr lang="en-US" sz="2000" dirty="0"/>
              <a:t>Websites like Wikipedia, StackExchange, and </a:t>
            </a:r>
            <a:r>
              <a:rPr lang="en-CA" sz="2000" dirty="0"/>
              <a:t>Reddit</a:t>
            </a:r>
            <a:r>
              <a:rPr lang="en-US" sz="2000" dirty="0"/>
              <a:t> have historically shared a symbiotic relationship; these websites produce useful content that makes search results richer and significantly more useful to searchers and in return search engines sent traffic back to these Web sites for increasing readership, subscriptions, and monetization</a:t>
            </a:r>
          </a:p>
        </p:txBody>
      </p:sp>
      <p:sp>
        <p:nvSpPr>
          <p:cNvPr id="7" name="TextBox 6">
            <a:extLst>
              <a:ext uri="{FF2B5EF4-FFF2-40B4-BE49-F238E27FC236}">
                <a16:creationId xmlns:a16="http://schemas.microsoft.com/office/drawing/2014/main" id="{B1B3FD83-706E-4F1E-4B52-974A7609C0B5}"/>
              </a:ext>
            </a:extLst>
          </p:cNvPr>
          <p:cNvSpPr txBox="1"/>
          <p:nvPr/>
        </p:nvSpPr>
        <p:spPr>
          <a:xfrm>
            <a:off x="838200" y="3516350"/>
            <a:ext cx="5257800" cy="2308324"/>
          </a:xfrm>
          <a:prstGeom prst="rect">
            <a:avLst/>
          </a:prstGeom>
          <a:noFill/>
        </p:spPr>
        <p:txBody>
          <a:bodyPr wrap="square">
            <a:spAutoFit/>
          </a:bodyPr>
          <a:lstStyle/>
          <a:p>
            <a:pPr marL="0" marR="0" lvl="0" indent="0" algn="l" defTabSz="914400" rtl="0" eaLnBrk="1" fontAlgn="auto" latinLnBrk="0" hangingPunct="1">
              <a:lnSpc>
                <a:spcPct val="100000"/>
              </a:lnSpc>
              <a:spcBef>
                <a:spcPts val="240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Aptos" panose="02110004020202020204"/>
                <a:ea typeface="+mn-ea"/>
                <a:cs typeface="+mn-cs"/>
              </a:rPr>
              <a:t>The paradox of reuse.</a:t>
            </a: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  Conversational search systems deemphasize source websites reducing clickthrough relative to the classic ten-blue-links interface </a:t>
            </a:r>
            <a:r>
              <a:rPr kumimoji="0" lang="en-US" sz="24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Jeopardizing the “grand bargain at the heart of the web”</a:t>
            </a:r>
          </a:p>
        </p:txBody>
      </p:sp>
      <p:sp>
        <p:nvSpPr>
          <p:cNvPr id="8" name="TextBox 7">
            <a:extLst>
              <a:ext uri="{FF2B5EF4-FFF2-40B4-BE49-F238E27FC236}">
                <a16:creationId xmlns:a16="http://schemas.microsoft.com/office/drawing/2014/main" id="{7EBD20D4-CCA0-4C0F-6B1B-28BEA08C7241}"/>
              </a:ext>
            </a:extLst>
          </p:cNvPr>
          <p:cNvSpPr txBox="1"/>
          <p:nvPr/>
        </p:nvSpPr>
        <p:spPr>
          <a:xfrm>
            <a:off x="6350619" y="3516350"/>
            <a:ext cx="5257800" cy="1938992"/>
          </a:xfrm>
          <a:prstGeom prst="rect">
            <a:avLst/>
          </a:prstGeom>
          <a:noFill/>
        </p:spPr>
        <p:txBody>
          <a:bodyPr wrap="square">
            <a:spAutoFit/>
          </a:bodyPr>
          <a:lstStyle/>
          <a:p>
            <a:pPr lvl="0">
              <a:spcBef>
                <a:spcPts val="2400"/>
              </a:spcBef>
              <a:defRPr/>
            </a:pPr>
            <a:r>
              <a:rPr kumimoji="0" lang="en-US" sz="2400" b="1" i="0" u="none" strike="noStrike" kern="1200" cap="none" spc="0" normalizeH="0" baseline="0" noProof="0" dirty="0">
                <a:ln>
                  <a:noFill/>
                </a:ln>
                <a:solidFill>
                  <a:prstClr val="black"/>
                </a:solidFill>
                <a:effectLst/>
                <a:uLnTx/>
                <a:uFillTx/>
                <a:latin typeface="Aptos" panose="02110004020202020204"/>
                <a:ea typeface="+mn-ea"/>
                <a:cs typeface="+mn-cs"/>
              </a:rPr>
              <a:t>Loss of click feedback.</a:t>
            </a: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US" sz="2400" b="0" i="0" u="none" strike="noStrike" kern="1200" cap="none" spc="0" normalizeH="0" baseline="0" noProof="0" dirty="0" err="1">
                <a:ln>
                  <a:noFill/>
                </a:ln>
                <a:solidFill>
                  <a:prstClr val="black"/>
                </a:solidFill>
                <a:effectLst/>
                <a:uLnTx/>
                <a:uFillTx/>
                <a:latin typeface="Aptos" panose="02110004020202020204"/>
                <a:ea typeface="+mn-ea"/>
                <a:cs typeface="+mn-cs"/>
              </a:rPr>
              <a:t>Reduc</a:t>
            </a:r>
            <a:r>
              <a:rPr lang="en-US" sz="2400" dirty="0" err="1">
                <a:solidFill>
                  <a:prstClr val="black"/>
                </a:solidFill>
                <a:latin typeface="Aptos" panose="02110004020202020204"/>
              </a:rPr>
              <a:t>ing</a:t>
            </a: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 clickthrough</a:t>
            </a:r>
            <a:r>
              <a:rPr lang="en-US" sz="2400" dirty="0">
                <a:solidFill>
                  <a:prstClr val="black"/>
                </a:solidFill>
                <a:latin typeface="Aptos" panose="02110004020202020204"/>
              </a:rPr>
              <a:t>s </a:t>
            </a: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minimizes critical click feedback signals; this is likely to cause severe degradation in retrieval </a:t>
            </a:r>
            <a:r>
              <a:rPr lang="en-US" sz="2400" dirty="0">
                <a:solidFill>
                  <a:prstClr val="black"/>
                </a:solidFill>
              </a:rPr>
              <a:t>quality over time in </a:t>
            </a:r>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traditional search engines</a:t>
            </a:r>
            <a:endParaRPr kumimoji="0" lang="en-US" sz="24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4511855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7853CD-D72D-29A7-607A-4331DFC9BD98}"/>
              </a:ext>
            </a:extLst>
          </p:cNvPr>
          <p:cNvSpPr>
            <a:spLocks noGrp="1"/>
          </p:cNvSpPr>
          <p:nvPr>
            <p:ph sz="half" idx="1"/>
          </p:nvPr>
        </p:nvSpPr>
        <p:spPr>
          <a:xfrm>
            <a:off x="838199" y="1825625"/>
            <a:ext cx="7146073" cy="2652564"/>
          </a:xfrm>
        </p:spPr>
        <p:txBody>
          <a:bodyPr anchor="ctr">
            <a:normAutofit/>
          </a:bodyPr>
          <a:lstStyle/>
          <a:p>
            <a:pPr marL="0" indent="0">
              <a:lnSpc>
                <a:spcPct val="100000"/>
              </a:lnSpc>
              <a:buNone/>
            </a:pPr>
            <a:r>
              <a:rPr lang="en-US" dirty="0"/>
              <a:t>We cannot separate the technology from the exploitative appropriation of data labor necessary for its creation, including uncompensated appropriation of creative works for model training and under-compensated crowd work for data labeling</a:t>
            </a:r>
            <a:endParaRPr lang="en-CA" dirty="0"/>
          </a:p>
        </p:txBody>
      </p:sp>
      <p:pic>
        <p:nvPicPr>
          <p:cNvPr id="2050" name="Picture 2">
            <a:extLst>
              <a:ext uri="{FF2B5EF4-FFF2-40B4-BE49-F238E27FC236}">
                <a16:creationId xmlns:a16="http://schemas.microsoft.com/office/drawing/2014/main" id="{934E695A-84A3-B6E6-8492-0F510E9DAF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527843"/>
            <a:ext cx="8582025" cy="100012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E8A2159C-59C2-CE0E-A792-9FB2918E8CB1}"/>
              </a:ext>
            </a:extLst>
          </p:cNvPr>
          <p:cNvSpPr txBox="1"/>
          <p:nvPr/>
        </p:nvSpPr>
        <p:spPr>
          <a:xfrm>
            <a:off x="838199" y="4640909"/>
            <a:ext cx="7146073" cy="1631216"/>
          </a:xfrm>
          <a:prstGeom prst="rect">
            <a:avLst/>
          </a:prstGeom>
          <a:solidFill>
            <a:schemeClr val="bg1">
              <a:lumMod val="95000"/>
            </a:schemeClr>
          </a:solidFill>
        </p:spPr>
        <p:txBody>
          <a:bodyPr wrap="square">
            <a:spAutoFit/>
          </a:bodyPr>
          <a:lstStyle/>
          <a:p>
            <a:r>
              <a:rPr lang="en-US" sz="2000" b="0" i="0" dirty="0">
                <a:effectLst/>
              </a:rPr>
              <a:t>A pernicious aspect of AI data labor dynamics is how they mirror and reify racial capitalism and coloniality; the </a:t>
            </a:r>
            <a:r>
              <a:rPr lang="en-US" sz="2000" dirty="0"/>
              <a:t>privileged populations in western and other rich countries may benefit from generative AI, while data labor is relegated to marginalized populations in the global south</a:t>
            </a:r>
            <a:endParaRPr lang="en-CA" sz="2000" dirty="0"/>
          </a:p>
        </p:txBody>
      </p:sp>
      <p:pic>
        <p:nvPicPr>
          <p:cNvPr id="2052" name="Picture 4" descr="Ghost Work: How to Stop Silicon Valley from Building a New Global Underclass by Mary L. Gray and Siddharth Suri">
            <a:extLst>
              <a:ext uri="{FF2B5EF4-FFF2-40B4-BE49-F238E27FC236}">
                <a16:creationId xmlns:a16="http://schemas.microsoft.com/office/drawing/2014/main" id="{DAE03ADF-3315-D5EB-1196-7FDBB08A113A}"/>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8451458" y="1825625"/>
            <a:ext cx="2902342"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22925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3DE1D-F7C4-B80B-F318-0207B842AFA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B2E5715-2905-80D7-CED7-DC89CCD78585}"/>
              </a:ext>
            </a:extLst>
          </p:cNvPr>
          <p:cNvSpPr>
            <a:spLocks noGrp="1"/>
          </p:cNvSpPr>
          <p:nvPr>
            <p:ph type="title"/>
          </p:nvPr>
        </p:nvSpPr>
        <p:spPr>
          <a:xfrm>
            <a:off x="838200" y="365125"/>
            <a:ext cx="5257800" cy="1325563"/>
          </a:xfrm>
        </p:spPr>
        <p:txBody>
          <a:bodyPr>
            <a:normAutofit/>
          </a:bodyPr>
          <a:lstStyle/>
          <a:p>
            <a:r>
              <a:rPr lang="en-CA" sz="4000" dirty="0"/>
              <a:t>The ecological cost of AI</a:t>
            </a:r>
          </a:p>
        </p:txBody>
      </p:sp>
      <p:sp>
        <p:nvSpPr>
          <p:cNvPr id="8" name="Content Placeholder 7">
            <a:extLst>
              <a:ext uri="{FF2B5EF4-FFF2-40B4-BE49-F238E27FC236}">
                <a16:creationId xmlns:a16="http://schemas.microsoft.com/office/drawing/2014/main" id="{FEC72107-9930-4A46-4F86-59385C688699}"/>
              </a:ext>
            </a:extLst>
          </p:cNvPr>
          <p:cNvSpPr>
            <a:spLocks noGrp="1"/>
          </p:cNvSpPr>
          <p:nvPr>
            <p:ph sz="half" idx="2"/>
          </p:nvPr>
        </p:nvSpPr>
        <p:spPr>
          <a:xfrm>
            <a:off x="7092177" y="347663"/>
            <a:ext cx="4574890" cy="6162675"/>
          </a:xfrm>
        </p:spPr>
        <p:txBody>
          <a:bodyPr anchor="ctr">
            <a:normAutofit/>
          </a:bodyPr>
          <a:lstStyle/>
          <a:p>
            <a:pPr>
              <a:lnSpc>
                <a:spcPct val="100000"/>
              </a:lnSpc>
              <a:buBlip>
                <a:blip r:embed="rId3">
                  <a:extLst>
                    <a:ext uri="{96DAC541-7B7A-43D3-8B79-37D633B846F1}">
                      <asvg:svgBlip xmlns:asvg="http://schemas.microsoft.com/office/drawing/2016/SVG/main" r:embed="rId4"/>
                    </a:ext>
                  </a:extLst>
                </a:blip>
              </a:buBlip>
            </a:pPr>
            <a:r>
              <a:rPr lang="en-US" sz="2000" dirty="0"/>
              <a:t>Computing power being utilized for deep learning research has been doubling every 3.4 months since 2012</a:t>
            </a:r>
          </a:p>
          <a:p>
            <a:pPr>
              <a:lnSpc>
                <a:spcPct val="100000"/>
              </a:lnSpc>
              <a:buBlip>
                <a:blip r:embed="rId3">
                  <a:extLst>
                    <a:ext uri="{96DAC541-7B7A-43D3-8B79-37D633B846F1}">
                      <asvg:svgBlip xmlns:asvg="http://schemas.microsoft.com/office/drawing/2016/SVG/main" r:embed="rId4"/>
                    </a:ext>
                  </a:extLst>
                </a:blip>
              </a:buBlip>
            </a:pPr>
            <a:r>
              <a:rPr lang="en-US" sz="2000" dirty="0"/>
              <a:t>In US, data centers consumed more than 4% of total national electricity in 2022, and that number is projected to grow to 6% by 2026</a:t>
            </a:r>
          </a:p>
          <a:p>
            <a:pPr>
              <a:lnSpc>
                <a:spcPct val="100000"/>
              </a:lnSpc>
              <a:buBlip>
                <a:blip r:embed="rId3">
                  <a:extLst>
                    <a:ext uri="{96DAC541-7B7A-43D3-8B79-37D633B846F1}">
                      <asvg:svgBlip xmlns:asvg="http://schemas.microsoft.com/office/drawing/2016/SVG/main" r:embed="rId4"/>
                    </a:ext>
                  </a:extLst>
                </a:blip>
              </a:buBlip>
            </a:pPr>
            <a:r>
              <a:rPr lang="en-US" sz="2000" dirty="0"/>
              <a:t>Another study estimates that by 2040 Information and Communications Technology industry alone would account for 14% of global emissions</a:t>
            </a:r>
          </a:p>
          <a:p>
            <a:pPr>
              <a:lnSpc>
                <a:spcPct val="100000"/>
              </a:lnSpc>
              <a:buBlip>
                <a:blip r:embed="rId3">
                  <a:extLst>
                    <a:ext uri="{96DAC541-7B7A-43D3-8B79-37D633B846F1}">
                      <asvg:svgBlip xmlns:asvg="http://schemas.microsoft.com/office/drawing/2016/SVG/main" r:embed="rId4"/>
                    </a:ext>
                  </a:extLst>
                </a:blip>
              </a:buBlip>
            </a:pPr>
            <a:r>
              <a:rPr lang="en-US" sz="2000" dirty="0"/>
              <a:t>By 2027, global AI demand may be responsible for withdrawal of 1.1 − 1.7 trillion gallons of fresh water annually</a:t>
            </a:r>
          </a:p>
          <a:p>
            <a:pPr>
              <a:lnSpc>
                <a:spcPct val="100000"/>
              </a:lnSpc>
              <a:buBlip>
                <a:blip r:embed="rId3">
                  <a:extLst>
                    <a:ext uri="{96DAC541-7B7A-43D3-8B79-37D633B846F1}">
                      <asvg:svgBlip xmlns:asvg="http://schemas.microsoft.com/office/drawing/2016/SVG/main" r:embed="rId4"/>
                    </a:ext>
                  </a:extLst>
                </a:blip>
              </a:buBlip>
            </a:pPr>
            <a:r>
              <a:rPr lang="en-US" sz="2000" dirty="0"/>
              <a:t>Serious concern also revolve around the rising levels of electronic wastes</a:t>
            </a:r>
          </a:p>
        </p:txBody>
      </p:sp>
      <p:pic>
        <p:nvPicPr>
          <p:cNvPr id="9" name="Content Placeholder 8">
            <a:extLst>
              <a:ext uri="{FF2B5EF4-FFF2-40B4-BE49-F238E27FC236}">
                <a16:creationId xmlns:a16="http://schemas.microsoft.com/office/drawing/2014/main" id="{F650C5F6-CA0F-FF1B-C776-990DEBEC7FF9}"/>
              </a:ext>
            </a:extLst>
          </p:cNvPr>
          <p:cNvPicPr>
            <a:picLocks noGrp="1" noChangeAspect="1"/>
          </p:cNvPicPr>
          <p:nvPr>
            <p:ph sz="half" idx="1"/>
          </p:nvPr>
        </p:nvPicPr>
        <p:blipFill>
          <a:blip r:embed="rId5"/>
          <a:stretch>
            <a:fillRect/>
          </a:stretch>
        </p:blipFill>
        <p:spPr>
          <a:xfrm>
            <a:off x="838200" y="1553457"/>
            <a:ext cx="5181600" cy="3171223"/>
          </a:xfrm>
          <a:prstGeom prst="rect">
            <a:avLst/>
          </a:prstGeom>
          <a:ln>
            <a:solidFill>
              <a:schemeClr val="tx1">
                <a:lumMod val="85000"/>
                <a:lumOff val="15000"/>
              </a:schemeClr>
            </a:solidFill>
          </a:ln>
          <a:effectLst>
            <a:outerShdw blurRad="292100" dist="139700" dir="2700000" algn="tl" rotWithShape="0">
              <a:srgbClr val="333333">
                <a:alpha val="65000"/>
              </a:srgbClr>
            </a:outerShdw>
          </a:effectLst>
        </p:spPr>
      </p:pic>
      <p:sp>
        <p:nvSpPr>
          <p:cNvPr id="10" name="TextBox 9">
            <a:extLst>
              <a:ext uri="{FF2B5EF4-FFF2-40B4-BE49-F238E27FC236}">
                <a16:creationId xmlns:a16="http://schemas.microsoft.com/office/drawing/2014/main" id="{5C602075-7E1C-5DC9-CAF9-2D4F3FE10520}"/>
              </a:ext>
            </a:extLst>
          </p:cNvPr>
          <p:cNvSpPr txBox="1"/>
          <p:nvPr/>
        </p:nvSpPr>
        <p:spPr>
          <a:xfrm>
            <a:off x="111514" y="5128182"/>
            <a:ext cx="6921190" cy="1569660"/>
          </a:xfrm>
          <a:custGeom>
            <a:avLst/>
            <a:gdLst>
              <a:gd name="connsiteX0" fmla="*/ 0 w 6921190"/>
              <a:gd name="connsiteY0" fmla="*/ 0 h 1569660"/>
              <a:gd name="connsiteX1" fmla="*/ 369130 w 6921190"/>
              <a:gd name="connsiteY1" fmla="*/ 0 h 1569660"/>
              <a:gd name="connsiteX2" fmla="*/ 1015108 w 6921190"/>
              <a:gd name="connsiteY2" fmla="*/ 0 h 1569660"/>
              <a:gd name="connsiteX3" fmla="*/ 1730298 w 6921190"/>
              <a:gd name="connsiteY3" fmla="*/ 0 h 1569660"/>
              <a:gd name="connsiteX4" fmla="*/ 2307063 w 6921190"/>
              <a:gd name="connsiteY4" fmla="*/ 0 h 1569660"/>
              <a:gd name="connsiteX5" fmla="*/ 2883829 w 6921190"/>
              <a:gd name="connsiteY5" fmla="*/ 0 h 1569660"/>
              <a:gd name="connsiteX6" fmla="*/ 3322171 w 6921190"/>
              <a:gd name="connsiteY6" fmla="*/ 0 h 1569660"/>
              <a:gd name="connsiteX7" fmla="*/ 3829725 w 6921190"/>
              <a:gd name="connsiteY7" fmla="*/ 0 h 1569660"/>
              <a:gd name="connsiteX8" fmla="*/ 4475703 w 6921190"/>
              <a:gd name="connsiteY8" fmla="*/ 0 h 1569660"/>
              <a:gd name="connsiteX9" fmla="*/ 4844833 w 6921190"/>
              <a:gd name="connsiteY9" fmla="*/ 0 h 1569660"/>
              <a:gd name="connsiteX10" fmla="*/ 5213963 w 6921190"/>
              <a:gd name="connsiteY10" fmla="*/ 0 h 1569660"/>
              <a:gd name="connsiteX11" fmla="*/ 5721517 w 6921190"/>
              <a:gd name="connsiteY11" fmla="*/ 0 h 1569660"/>
              <a:gd name="connsiteX12" fmla="*/ 6159859 w 6921190"/>
              <a:gd name="connsiteY12" fmla="*/ 0 h 1569660"/>
              <a:gd name="connsiteX13" fmla="*/ 6921190 w 6921190"/>
              <a:gd name="connsiteY13" fmla="*/ 0 h 1569660"/>
              <a:gd name="connsiteX14" fmla="*/ 6921190 w 6921190"/>
              <a:gd name="connsiteY14" fmla="*/ 538917 h 1569660"/>
              <a:gd name="connsiteX15" fmla="*/ 6921190 w 6921190"/>
              <a:gd name="connsiteY15" fmla="*/ 1077833 h 1569660"/>
              <a:gd name="connsiteX16" fmla="*/ 6921190 w 6921190"/>
              <a:gd name="connsiteY16" fmla="*/ 1569660 h 1569660"/>
              <a:gd name="connsiteX17" fmla="*/ 6413636 w 6921190"/>
              <a:gd name="connsiteY17" fmla="*/ 1569660 h 1569660"/>
              <a:gd name="connsiteX18" fmla="*/ 5975294 w 6921190"/>
              <a:gd name="connsiteY18" fmla="*/ 1569660 h 1569660"/>
              <a:gd name="connsiteX19" fmla="*/ 5329316 w 6921190"/>
              <a:gd name="connsiteY19" fmla="*/ 1569660 h 1569660"/>
              <a:gd name="connsiteX20" fmla="*/ 4890974 w 6921190"/>
              <a:gd name="connsiteY20" fmla="*/ 1569660 h 1569660"/>
              <a:gd name="connsiteX21" fmla="*/ 4314208 w 6921190"/>
              <a:gd name="connsiteY21" fmla="*/ 1569660 h 1569660"/>
              <a:gd name="connsiteX22" fmla="*/ 3806655 w 6921190"/>
              <a:gd name="connsiteY22" fmla="*/ 1569660 h 1569660"/>
              <a:gd name="connsiteX23" fmla="*/ 3368312 w 6921190"/>
              <a:gd name="connsiteY23" fmla="*/ 1569660 h 1569660"/>
              <a:gd name="connsiteX24" fmla="*/ 2999182 w 6921190"/>
              <a:gd name="connsiteY24" fmla="*/ 1569660 h 1569660"/>
              <a:gd name="connsiteX25" fmla="*/ 2353205 w 6921190"/>
              <a:gd name="connsiteY25" fmla="*/ 1569660 h 1569660"/>
              <a:gd name="connsiteX26" fmla="*/ 1984074 w 6921190"/>
              <a:gd name="connsiteY26" fmla="*/ 1569660 h 1569660"/>
              <a:gd name="connsiteX27" fmla="*/ 1614944 w 6921190"/>
              <a:gd name="connsiteY27" fmla="*/ 1569660 h 1569660"/>
              <a:gd name="connsiteX28" fmla="*/ 1245814 w 6921190"/>
              <a:gd name="connsiteY28" fmla="*/ 1569660 h 1569660"/>
              <a:gd name="connsiteX29" fmla="*/ 530625 w 6921190"/>
              <a:gd name="connsiteY29" fmla="*/ 1569660 h 1569660"/>
              <a:gd name="connsiteX30" fmla="*/ 0 w 6921190"/>
              <a:gd name="connsiteY30" fmla="*/ 1569660 h 1569660"/>
              <a:gd name="connsiteX31" fmla="*/ 0 w 6921190"/>
              <a:gd name="connsiteY31" fmla="*/ 1077833 h 1569660"/>
              <a:gd name="connsiteX32" fmla="*/ 0 w 6921190"/>
              <a:gd name="connsiteY32" fmla="*/ 523220 h 1569660"/>
              <a:gd name="connsiteX33" fmla="*/ 0 w 6921190"/>
              <a:gd name="connsiteY33" fmla="*/ 0 h 1569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921190" h="1569660" fill="none" extrusionOk="0">
                <a:moveTo>
                  <a:pt x="0" y="0"/>
                </a:moveTo>
                <a:cubicBezTo>
                  <a:pt x="142608" y="-16672"/>
                  <a:pt x="195544" y="23906"/>
                  <a:pt x="369130" y="0"/>
                </a:cubicBezTo>
                <a:cubicBezTo>
                  <a:pt x="542716" y="-23906"/>
                  <a:pt x="808370" y="37240"/>
                  <a:pt x="1015108" y="0"/>
                </a:cubicBezTo>
                <a:cubicBezTo>
                  <a:pt x="1221846" y="-37240"/>
                  <a:pt x="1536699" y="13528"/>
                  <a:pt x="1730298" y="0"/>
                </a:cubicBezTo>
                <a:cubicBezTo>
                  <a:pt x="1923897" y="-13528"/>
                  <a:pt x="2120709" y="27110"/>
                  <a:pt x="2307063" y="0"/>
                </a:cubicBezTo>
                <a:cubicBezTo>
                  <a:pt x="2493417" y="-27110"/>
                  <a:pt x="2660056" y="36597"/>
                  <a:pt x="2883829" y="0"/>
                </a:cubicBezTo>
                <a:cubicBezTo>
                  <a:pt x="3107602" y="-36597"/>
                  <a:pt x="3130762" y="30513"/>
                  <a:pt x="3322171" y="0"/>
                </a:cubicBezTo>
                <a:cubicBezTo>
                  <a:pt x="3513580" y="-30513"/>
                  <a:pt x="3694518" y="36736"/>
                  <a:pt x="3829725" y="0"/>
                </a:cubicBezTo>
                <a:cubicBezTo>
                  <a:pt x="3964932" y="-36736"/>
                  <a:pt x="4232050" y="51054"/>
                  <a:pt x="4475703" y="0"/>
                </a:cubicBezTo>
                <a:cubicBezTo>
                  <a:pt x="4719356" y="-51054"/>
                  <a:pt x="4723388" y="37131"/>
                  <a:pt x="4844833" y="0"/>
                </a:cubicBezTo>
                <a:cubicBezTo>
                  <a:pt x="4966278" y="-37131"/>
                  <a:pt x="5036372" y="37210"/>
                  <a:pt x="5213963" y="0"/>
                </a:cubicBezTo>
                <a:cubicBezTo>
                  <a:pt x="5391554" y="-37210"/>
                  <a:pt x="5581261" y="32459"/>
                  <a:pt x="5721517" y="0"/>
                </a:cubicBezTo>
                <a:cubicBezTo>
                  <a:pt x="5861773" y="-32459"/>
                  <a:pt x="6059701" y="23502"/>
                  <a:pt x="6159859" y="0"/>
                </a:cubicBezTo>
                <a:cubicBezTo>
                  <a:pt x="6260017" y="-23502"/>
                  <a:pt x="6748568" y="48772"/>
                  <a:pt x="6921190" y="0"/>
                </a:cubicBezTo>
                <a:cubicBezTo>
                  <a:pt x="6966832" y="156873"/>
                  <a:pt x="6883811" y="372501"/>
                  <a:pt x="6921190" y="538917"/>
                </a:cubicBezTo>
                <a:cubicBezTo>
                  <a:pt x="6958569" y="705333"/>
                  <a:pt x="6871479" y="865216"/>
                  <a:pt x="6921190" y="1077833"/>
                </a:cubicBezTo>
                <a:cubicBezTo>
                  <a:pt x="6970901" y="1290450"/>
                  <a:pt x="6894606" y="1366035"/>
                  <a:pt x="6921190" y="1569660"/>
                </a:cubicBezTo>
                <a:cubicBezTo>
                  <a:pt x="6757604" y="1589074"/>
                  <a:pt x="6620172" y="1551007"/>
                  <a:pt x="6413636" y="1569660"/>
                </a:cubicBezTo>
                <a:cubicBezTo>
                  <a:pt x="6207100" y="1588313"/>
                  <a:pt x="6106026" y="1528918"/>
                  <a:pt x="5975294" y="1569660"/>
                </a:cubicBezTo>
                <a:cubicBezTo>
                  <a:pt x="5844562" y="1610402"/>
                  <a:pt x="5467520" y="1521402"/>
                  <a:pt x="5329316" y="1569660"/>
                </a:cubicBezTo>
                <a:cubicBezTo>
                  <a:pt x="5191112" y="1617918"/>
                  <a:pt x="5083579" y="1566801"/>
                  <a:pt x="4890974" y="1569660"/>
                </a:cubicBezTo>
                <a:cubicBezTo>
                  <a:pt x="4698369" y="1572519"/>
                  <a:pt x="4464218" y="1542333"/>
                  <a:pt x="4314208" y="1569660"/>
                </a:cubicBezTo>
                <a:cubicBezTo>
                  <a:pt x="4164198" y="1596987"/>
                  <a:pt x="3939318" y="1544814"/>
                  <a:pt x="3806655" y="1569660"/>
                </a:cubicBezTo>
                <a:cubicBezTo>
                  <a:pt x="3673992" y="1594506"/>
                  <a:pt x="3587473" y="1545362"/>
                  <a:pt x="3368312" y="1569660"/>
                </a:cubicBezTo>
                <a:cubicBezTo>
                  <a:pt x="3149151" y="1593958"/>
                  <a:pt x="3131620" y="1558326"/>
                  <a:pt x="2999182" y="1569660"/>
                </a:cubicBezTo>
                <a:cubicBezTo>
                  <a:pt x="2866744" y="1580994"/>
                  <a:pt x="2526264" y="1562955"/>
                  <a:pt x="2353205" y="1569660"/>
                </a:cubicBezTo>
                <a:cubicBezTo>
                  <a:pt x="2180146" y="1576365"/>
                  <a:pt x="2090864" y="1536482"/>
                  <a:pt x="1984074" y="1569660"/>
                </a:cubicBezTo>
                <a:cubicBezTo>
                  <a:pt x="1877284" y="1602838"/>
                  <a:pt x="1715396" y="1556013"/>
                  <a:pt x="1614944" y="1569660"/>
                </a:cubicBezTo>
                <a:cubicBezTo>
                  <a:pt x="1514492" y="1583307"/>
                  <a:pt x="1418921" y="1543068"/>
                  <a:pt x="1245814" y="1569660"/>
                </a:cubicBezTo>
                <a:cubicBezTo>
                  <a:pt x="1072707" y="1596252"/>
                  <a:pt x="787641" y="1490766"/>
                  <a:pt x="530625" y="1569660"/>
                </a:cubicBezTo>
                <a:cubicBezTo>
                  <a:pt x="273609" y="1648554"/>
                  <a:pt x="201737" y="1522304"/>
                  <a:pt x="0" y="1569660"/>
                </a:cubicBezTo>
                <a:cubicBezTo>
                  <a:pt x="-23736" y="1445345"/>
                  <a:pt x="54052" y="1180559"/>
                  <a:pt x="0" y="1077833"/>
                </a:cubicBezTo>
                <a:cubicBezTo>
                  <a:pt x="-54052" y="975107"/>
                  <a:pt x="59576" y="786127"/>
                  <a:pt x="0" y="523220"/>
                </a:cubicBezTo>
                <a:cubicBezTo>
                  <a:pt x="-59576" y="260313"/>
                  <a:pt x="60747" y="235264"/>
                  <a:pt x="0" y="0"/>
                </a:cubicBezTo>
                <a:close/>
              </a:path>
              <a:path w="6921190" h="1569660" stroke="0" extrusionOk="0">
                <a:moveTo>
                  <a:pt x="0" y="0"/>
                </a:moveTo>
                <a:cubicBezTo>
                  <a:pt x="112277" y="-36000"/>
                  <a:pt x="277885" y="36715"/>
                  <a:pt x="438342" y="0"/>
                </a:cubicBezTo>
                <a:cubicBezTo>
                  <a:pt x="598799" y="-36715"/>
                  <a:pt x="902872" y="44749"/>
                  <a:pt x="1084320" y="0"/>
                </a:cubicBezTo>
                <a:cubicBezTo>
                  <a:pt x="1265768" y="-44749"/>
                  <a:pt x="1405558" y="7005"/>
                  <a:pt x="1522662" y="0"/>
                </a:cubicBezTo>
                <a:cubicBezTo>
                  <a:pt x="1639766" y="-7005"/>
                  <a:pt x="1916342" y="32378"/>
                  <a:pt x="2099428" y="0"/>
                </a:cubicBezTo>
                <a:cubicBezTo>
                  <a:pt x="2282514" y="-32378"/>
                  <a:pt x="2465975" y="14353"/>
                  <a:pt x="2814617" y="0"/>
                </a:cubicBezTo>
                <a:cubicBezTo>
                  <a:pt x="3163259" y="-14353"/>
                  <a:pt x="3361394" y="27287"/>
                  <a:pt x="3529807" y="0"/>
                </a:cubicBezTo>
                <a:cubicBezTo>
                  <a:pt x="3698220" y="-27287"/>
                  <a:pt x="3988829" y="3541"/>
                  <a:pt x="4106573" y="0"/>
                </a:cubicBezTo>
                <a:cubicBezTo>
                  <a:pt x="4224317" y="-3541"/>
                  <a:pt x="4460057" y="29570"/>
                  <a:pt x="4752550" y="0"/>
                </a:cubicBezTo>
                <a:cubicBezTo>
                  <a:pt x="5045043" y="-29570"/>
                  <a:pt x="5088739" y="44283"/>
                  <a:pt x="5329316" y="0"/>
                </a:cubicBezTo>
                <a:cubicBezTo>
                  <a:pt x="5569893" y="-44283"/>
                  <a:pt x="5713543" y="53706"/>
                  <a:pt x="5906082" y="0"/>
                </a:cubicBezTo>
                <a:cubicBezTo>
                  <a:pt x="6098621" y="-53706"/>
                  <a:pt x="6120990" y="34012"/>
                  <a:pt x="6275212" y="0"/>
                </a:cubicBezTo>
                <a:cubicBezTo>
                  <a:pt x="6429434" y="-34012"/>
                  <a:pt x="6757605" y="10943"/>
                  <a:pt x="6921190" y="0"/>
                </a:cubicBezTo>
                <a:cubicBezTo>
                  <a:pt x="6923890" y="218908"/>
                  <a:pt x="6920072" y="357095"/>
                  <a:pt x="6921190" y="476130"/>
                </a:cubicBezTo>
                <a:cubicBezTo>
                  <a:pt x="6922308" y="595165"/>
                  <a:pt x="6904832" y="797913"/>
                  <a:pt x="6921190" y="967957"/>
                </a:cubicBezTo>
                <a:cubicBezTo>
                  <a:pt x="6937548" y="1138001"/>
                  <a:pt x="6866537" y="1435189"/>
                  <a:pt x="6921190" y="1569660"/>
                </a:cubicBezTo>
                <a:cubicBezTo>
                  <a:pt x="6709209" y="1619934"/>
                  <a:pt x="6614226" y="1538866"/>
                  <a:pt x="6344424" y="1569660"/>
                </a:cubicBezTo>
                <a:cubicBezTo>
                  <a:pt x="6074622" y="1600454"/>
                  <a:pt x="5882547" y="1511005"/>
                  <a:pt x="5629235" y="1569660"/>
                </a:cubicBezTo>
                <a:cubicBezTo>
                  <a:pt x="5375923" y="1628315"/>
                  <a:pt x="5349068" y="1529494"/>
                  <a:pt x="5260104" y="1569660"/>
                </a:cubicBezTo>
                <a:cubicBezTo>
                  <a:pt x="5171140" y="1609826"/>
                  <a:pt x="5031995" y="1556372"/>
                  <a:pt x="4821762" y="1569660"/>
                </a:cubicBezTo>
                <a:cubicBezTo>
                  <a:pt x="4611529" y="1582948"/>
                  <a:pt x="4372616" y="1503976"/>
                  <a:pt x="4244997" y="1569660"/>
                </a:cubicBezTo>
                <a:cubicBezTo>
                  <a:pt x="4117378" y="1635344"/>
                  <a:pt x="3920860" y="1537977"/>
                  <a:pt x="3806655" y="1569660"/>
                </a:cubicBezTo>
                <a:cubicBezTo>
                  <a:pt x="3692450" y="1601343"/>
                  <a:pt x="3522083" y="1542794"/>
                  <a:pt x="3299101" y="1569660"/>
                </a:cubicBezTo>
                <a:cubicBezTo>
                  <a:pt x="3076119" y="1596526"/>
                  <a:pt x="2862549" y="1555117"/>
                  <a:pt x="2653123" y="1569660"/>
                </a:cubicBezTo>
                <a:cubicBezTo>
                  <a:pt x="2443697" y="1584203"/>
                  <a:pt x="2292612" y="1527269"/>
                  <a:pt x="1937933" y="1569660"/>
                </a:cubicBezTo>
                <a:cubicBezTo>
                  <a:pt x="1583254" y="1612051"/>
                  <a:pt x="1557232" y="1546285"/>
                  <a:pt x="1430379" y="1569660"/>
                </a:cubicBezTo>
                <a:cubicBezTo>
                  <a:pt x="1303526" y="1593035"/>
                  <a:pt x="1073358" y="1568947"/>
                  <a:pt x="853613" y="1569660"/>
                </a:cubicBezTo>
                <a:cubicBezTo>
                  <a:pt x="633868" y="1570373"/>
                  <a:pt x="301998" y="1497310"/>
                  <a:pt x="0" y="1569660"/>
                </a:cubicBezTo>
                <a:cubicBezTo>
                  <a:pt x="-51786" y="1384631"/>
                  <a:pt x="56365" y="1191016"/>
                  <a:pt x="0" y="1062137"/>
                </a:cubicBezTo>
                <a:cubicBezTo>
                  <a:pt x="-56365" y="933258"/>
                  <a:pt x="45191" y="799740"/>
                  <a:pt x="0" y="538917"/>
                </a:cubicBezTo>
                <a:cubicBezTo>
                  <a:pt x="-45191" y="278094"/>
                  <a:pt x="39246" y="250531"/>
                  <a:pt x="0" y="0"/>
                </a:cubicBezTo>
                <a:close/>
              </a:path>
            </a:pathLst>
          </a:custGeom>
          <a:solidFill>
            <a:schemeClr val="bg1"/>
          </a:solidFill>
          <a:ln>
            <a:solidFill>
              <a:schemeClr val="tx1"/>
            </a:solidFill>
            <a:extLst>
              <a:ext uri="{C807C97D-BFC1-408E-A445-0C87EB9F89A2}">
                <ask:lineSketchStyleProps xmlns:ask="http://schemas.microsoft.com/office/drawing/2018/sketchyshapes" sd="3476327761">
                  <a:prstGeom prst="rect">
                    <a:avLst/>
                  </a:prstGeom>
                  <ask:type>
                    <ask:lineSketchScribble/>
                  </ask:type>
                </ask:lineSketchStyleProps>
              </a:ext>
            </a:extLst>
          </a:ln>
          <a:effectLst>
            <a:outerShdw blurRad="50800" dist="38100" dir="2700000" algn="tl" rotWithShape="0">
              <a:prstClr val="black">
                <a:alpha val="40000"/>
              </a:prstClr>
            </a:outerShdw>
          </a:effectLst>
        </p:spPr>
        <p:txBody>
          <a:bodyPr wrap="square">
            <a:spAutoFit/>
          </a:bodyPr>
          <a:lstStyle/>
          <a:p>
            <a:r>
              <a:rPr lang="en-US" sz="1600" b="1" dirty="0"/>
              <a:t>Mind the Jevons Paradox</a:t>
            </a:r>
          </a:p>
          <a:p>
            <a:r>
              <a:rPr lang="en-US" sz="1600" dirty="0"/>
              <a:t>In economics, the Jevons paradox occurs when technological advancements make a resource more efficient to use (thereby reducing the amount needed for a single application); however, as the cost of using the resource drops, if demand is highly price elastic, this results in overall demand increasing, causing total resource consumption to rise.</a:t>
            </a:r>
            <a:endParaRPr lang="en-CA" sz="1600" dirty="0"/>
          </a:p>
        </p:txBody>
      </p:sp>
    </p:spTree>
    <p:extLst>
      <p:ext uri="{BB962C8B-B14F-4D97-AF65-F5344CB8AC3E}">
        <p14:creationId xmlns:p14="http://schemas.microsoft.com/office/powerpoint/2010/main" val="35775836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BA2E5C1-8D46-83E6-0E96-11B95F8DE356}"/>
              </a:ext>
            </a:extLst>
          </p:cNvPr>
          <p:cNvSpPr>
            <a:spLocks noGrp="1"/>
          </p:cNvSpPr>
          <p:nvPr>
            <p:ph type="title"/>
          </p:nvPr>
        </p:nvSpPr>
        <p:spPr>
          <a:xfrm>
            <a:off x="838200" y="2887093"/>
            <a:ext cx="10515600" cy="1325563"/>
          </a:xfrm>
        </p:spPr>
        <p:txBody>
          <a:bodyPr/>
          <a:lstStyle/>
          <a:p>
            <a:r>
              <a:rPr lang="en-CA" dirty="0"/>
              <a:t>Social opportunity cost</a:t>
            </a:r>
          </a:p>
        </p:txBody>
      </p:sp>
      <p:sp>
        <p:nvSpPr>
          <p:cNvPr id="17" name="Content Placeholder 16">
            <a:extLst>
              <a:ext uri="{FF2B5EF4-FFF2-40B4-BE49-F238E27FC236}">
                <a16:creationId xmlns:a16="http://schemas.microsoft.com/office/drawing/2014/main" id="{F924E154-A122-CFEB-577B-F7FE645306DF}"/>
              </a:ext>
            </a:extLst>
          </p:cNvPr>
          <p:cNvSpPr>
            <a:spLocks noGrp="1"/>
          </p:cNvSpPr>
          <p:nvPr>
            <p:ph idx="1"/>
          </p:nvPr>
        </p:nvSpPr>
        <p:spPr>
          <a:xfrm>
            <a:off x="838200" y="3931172"/>
            <a:ext cx="5871983" cy="2517753"/>
          </a:xfrm>
        </p:spPr>
        <p:txBody>
          <a:bodyPr>
            <a:normAutofit fontScale="70000" lnSpcReduction="20000"/>
          </a:bodyPr>
          <a:lstStyle/>
          <a:p>
            <a:pPr marL="0" indent="0">
              <a:lnSpc>
                <a:spcPct val="120000"/>
              </a:lnSpc>
              <a:buNone/>
            </a:pPr>
            <a:r>
              <a:rPr lang="en-CA" i="1" dirty="0"/>
              <a:t>What are the societal implications of a significant fraction of the IR research community shifting to optimize retrieval systems for machines, instead of for humans? Whose needs are we serving?</a:t>
            </a:r>
          </a:p>
          <a:p>
            <a:pPr marL="0" indent="0">
              <a:lnSpc>
                <a:spcPct val="120000"/>
              </a:lnSpc>
              <a:buNone/>
            </a:pPr>
            <a:r>
              <a:rPr lang="en-US" i="1" dirty="0"/>
              <a:t>Information access research has a critical role to play in this pivotal moment in history. So, will we answer the call?</a:t>
            </a:r>
            <a:endParaRPr lang="en-CA" i="1" dirty="0"/>
          </a:p>
        </p:txBody>
      </p:sp>
      <p:grpSp>
        <p:nvGrpSpPr>
          <p:cNvPr id="19" name="Group 18">
            <a:extLst>
              <a:ext uri="{FF2B5EF4-FFF2-40B4-BE49-F238E27FC236}">
                <a16:creationId xmlns:a16="http://schemas.microsoft.com/office/drawing/2014/main" id="{D2DFB58E-C121-C5CE-FA0D-FC4F81167861}"/>
              </a:ext>
            </a:extLst>
          </p:cNvPr>
          <p:cNvGrpSpPr/>
          <p:nvPr/>
        </p:nvGrpSpPr>
        <p:grpSpPr>
          <a:xfrm>
            <a:off x="1946223" y="182560"/>
            <a:ext cx="8299554" cy="2744268"/>
            <a:chOff x="1946223" y="182560"/>
            <a:chExt cx="8299554" cy="2744268"/>
          </a:xfrm>
        </p:grpSpPr>
        <p:pic>
          <p:nvPicPr>
            <p:cNvPr id="18" name="Picture 17" descr="Woman pulling large balloon with rope">
              <a:extLst>
                <a:ext uri="{FF2B5EF4-FFF2-40B4-BE49-F238E27FC236}">
                  <a16:creationId xmlns:a16="http://schemas.microsoft.com/office/drawing/2014/main" id="{18DC9C48-2D1D-14C6-F063-8A5A4A0E45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1975883" y="182560"/>
              <a:ext cx="4116400" cy="2744267"/>
            </a:xfrm>
            <a:prstGeom prst="rect">
              <a:avLst/>
            </a:prstGeom>
          </p:spPr>
        </p:pic>
        <p:pic>
          <p:nvPicPr>
            <p:cNvPr id="8" name="Picture 7" descr="Woman pulling large balloon with rope">
              <a:extLst>
                <a:ext uri="{FF2B5EF4-FFF2-40B4-BE49-F238E27FC236}">
                  <a16:creationId xmlns:a16="http://schemas.microsoft.com/office/drawing/2014/main" id="{1938AFB7-7989-FD6C-EC0B-1A08CD870A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2283" y="182561"/>
              <a:ext cx="4116400" cy="2744267"/>
            </a:xfrm>
            <a:prstGeom prst="rect">
              <a:avLst/>
            </a:prstGeom>
          </p:spPr>
        </p:pic>
        <p:sp>
          <p:nvSpPr>
            <p:cNvPr id="12" name="TextBox 11">
              <a:extLst>
                <a:ext uri="{FF2B5EF4-FFF2-40B4-BE49-F238E27FC236}">
                  <a16:creationId xmlns:a16="http://schemas.microsoft.com/office/drawing/2014/main" id="{87A90348-D95A-4B69-6209-FF0149AD0CCF}"/>
                </a:ext>
              </a:extLst>
            </p:cNvPr>
            <p:cNvSpPr txBox="1"/>
            <p:nvPr/>
          </p:nvSpPr>
          <p:spPr>
            <a:xfrm>
              <a:off x="1946223" y="945944"/>
              <a:ext cx="1680117" cy="646331"/>
            </a:xfrm>
            <a:prstGeom prst="rect">
              <a:avLst/>
            </a:prstGeom>
            <a:noFill/>
          </p:spPr>
          <p:txBody>
            <a:bodyPr wrap="square">
              <a:spAutoFit/>
            </a:bodyPr>
            <a:lstStyle/>
            <a:p>
              <a:pPr algn="ctr"/>
              <a:r>
                <a:rPr lang="en-CA" dirty="0">
                  <a:latin typeface="Aptos SemiBold" panose="020B0004020202020204" pitchFamily="34" charset="0"/>
                </a:rPr>
                <a:t>What society needs</a:t>
              </a:r>
            </a:p>
          </p:txBody>
        </p:sp>
        <p:sp>
          <p:nvSpPr>
            <p:cNvPr id="13" name="TextBox 12">
              <a:extLst>
                <a:ext uri="{FF2B5EF4-FFF2-40B4-BE49-F238E27FC236}">
                  <a16:creationId xmlns:a16="http://schemas.microsoft.com/office/drawing/2014/main" id="{DBC8ECCE-10BB-B6A4-6ADD-965D18F39454}"/>
                </a:ext>
              </a:extLst>
            </p:cNvPr>
            <p:cNvSpPr txBox="1"/>
            <p:nvPr/>
          </p:nvSpPr>
          <p:spPr>
            <a:xfrm>
              <a:off x="8565660" y="741363"/>
              <a:ext cx="1680117" cy="923330"/>
            </a:xfrm>
            <a:prstGeom prst="rect">
              <a:avLst/>
            </a:prstGeom>
            <a:noFill/>
          </p:spPr>
          <p:txBody>
            <a:bodyPr wrap="square">
              <a:spAutoFit/>
            </a:bodyPr>
            <a:lstStyle/>
            <a:p>
              <a:pPr algn="ctr"/>
              <a:r>
                <a:rPr lang="en-CA" dirty="0">
                  <a:latin typeface="Aptos SemiBold" panose="020B0004020202020204" pitchFamily="34" charset="0"/>
                </a:rPr>
                <a:t>What Big Tech &amp; Silicon Valley needs</a:t>
              </a:r>
            </a:p>
          </p:txBody>
        </p:sp>
        <p:sp>
          <p:nvSpPr>
            <p:cNvPr id="15" name="TextBox 14">
              <a:extLst>
                <a:ext uri="{FF2B5EF4-FFF2-40B4-BE49-F238E27FC236}">
                  <a16:creationId xmlns:a16="http://schemas.microsoft.com/office/drawing/2014/main" id="{3574B4F7-B92D-EE0A-A2FF-09115F8C1D7A}"/>
                </a:ext>
              </a:extLst>
            </p:cNvPr>
            <p:cNvSpPr txBox="1"/>
            <p:nvPr/>
          </p:nvSpPr>
          <p:spPr>
            <a:xfrm>
              <a:off x="4800600" y="572338"/>
              <a:ext cx="2590800" cy="1569660"/>
            </a:xfrm>
            <a:prstGeom prst="rect">
              <a:avLst/>
            </a:prstGeom>
            <a:noFill/>
          </p:spPr>
          <p:txBody>
            <a:bodyPr wrap="square">
              <a:spAutoFit/>
            </a:bodyPr>
            <a:lstStyle/>
            <a:p>
              <a:pPr algn="ctr"/>
              <a:r>
                <a:rPr lang="en-CA" sz="3200" dirty="0">
                  <a:latin typeface="Aptos SemiBold" panose="020B0004020202020204" pitchFamily="34" charset="0"/>
                </a:rPr>
                <a:t>What should IR research focus on?</a:t>
              </a:r>
            </a:p>
          </p:txBody>
        </p:sp>
      </p:grpSp>
      <p:grpSp>
        <p:nvGrpSpPr>
          <p:cNvPr id="22" name="Group 21">
            <a:extLst>
              <a:ext uri="{FF2B5EF4-FFF2-40B4-BE49-F238E27FC236}">
                <a16:creationId xmlns:a16="http://schemas.microsoft.com/office/drawing/2014/main" id="{C4AC5D0A-9CA3-908E-878F-D63508DD1B9C}"/>
              </a:ext>
            </a:extLst>
          </p:cNvPr>
          <p:cNvGrpSpPr/>
          <p:nvPr/>
        </p:nvGrpSpPr>
        <p:grpSpPr>
          <a:xfrm>
            <a:off x="6985191" y="3138477"/>
            <a:ext cx="4485487" cy="3450096"/>
            <a:chOff x="5180011" y="981635"/>
            <a:chExt cx="6172201" cy="4747464"/>
          </a:xfrm>
        </p:grpSpPr>
        <p:pic>
          <p:nvPicPr>
            <p:cNvPr id="20" name="Picture 19">
              <a:extLst>
                <a:ext uri="{FF2B5EF4-FFF2-40B4-BE49-F238E27FC236}">
                  <a16:creationId xmlns:a16="http://schemas.microsoft.com/office/drawing/2014/main" id="{014872D7-B957-2886-952F-C58AF1BA9307}"/>
                </a:ext>
              </a:extLst>
            </p:cNvPr>
            <p:cNvPicPr>
              <a:picLocks noChangeAspect="1"/>
            </p:cNvPicPr>
            <p:nvPr/>
          </p:nvPicPr>
          <p:blipFill>
            <a:blip r:embed="rId3"/>
            <a:srcRect l="12432" t="73720"/>
            <a:stretch>
              <a:fillRect/>
            </a:stretch>
          </p:blipFill>
          <p:spPr>
            <a:xfrm>
              <a:off x="5180011" y="4704569"/>
              <a:ext cx="6172201" cy="1024530"/>
            </a:xfrm>
            <a:prstGeom prst="rect">
              <a:avLst/>
            </a:prstGeom>
          </p:spPr>
        </p:pic>
        <p:pic>
          <p:nvPicPr>
            <p:cNvPr id="21" name="Picture 20">
              <a:extLst>
                <a:ext uri="{FF2B5EF4-FFF2-40B4-BE49-F238E27FC236}">
                  <a16:creationId xmlns:a16="http://schemas.microsoft.com/office/drawing/2014/main" id="{356C7B44-62D1-3578-C77B-31F9B1C5DE2F}"/>
                </a:ext>
              </a:extLst>
            </p:cNvPr>
            <p:cNvPicPr>
              <a:picLocks noChangeAspect="1"/>
            </p:cNvPicPr>
            <p:nvPr/>
          </p:nvPicPr>
          <p:blipFill>
            <a:blip r:embed="rId3"/>
            <a:srcRect l="16207" r="16690" b="26824"/>
            <a:stretch>
              <a:fillRect/>
            </a:stretch>
          </p:blipFill>
          <p:spPr>
            <a:xfrm>
              <a:off x="5180011" y="981635"/>
              <a:ext cx="6172201" cy="3722934"/>
            </a:xfrm>
            <a:prstGeom prst="rect">
              <a:avLst/>
            </a:prstGeom>
          </p:spPr>
        </p:pic>
      </p:grpSp>
      <p:sp>
        <p:nvSpPr>
          <p:cNvPr id="23" name="TextBox 22">
            <a:extLst>
              <a:ext uri="{FF2B5EF4-FFF2-40B4-BE49-F238E27FC236}">
                <a16:creationId xmlns:a16="http://schemas.microsoft.com/office/drawing/2014/main" id="{0B14D5B4-301C-6D8F-7B3D-2288C7EB3628}"/>
              </a:ext>
            </a:extLst>
          </p:cNvPr>
          <p:cNvSpPr txBox="1"/>
          <p:nvPr/>
        </p:nvSpPr>
        <p:spPr>
          <a:xfrm>
            <a:off x="0" y="6581001"/>
            <a:ext cx="12192000" cy="276999"/>
          </a:xfrm>
          <a:prstGeom prst="rect">
            <a:avLst/>
          </a:prstGeom>
          <a:noFill/>
        </p:spPr>
        <p:txBody>
          <a:bodyPr wrap="square" anchor="b">
            <a:spAutoFit/>
          </a:bodyPr>
          <a:lstStyle/>
          <a:p>
            <a:pPr algn="ctr"/>
            <a:r>
              <a:rPr lang="en-US" sz="1200" dirty="0"/>
              <a:t>Mitra. </a:t>
            </a:r>
            <a:r>
              <a:rPr lang="en-US" sz="1200" dirty="0">
                <a:hlinkClick r:id="rId4"/>
              </a:rPr>
              <a:t>Search and Society: Reimagining Information Access for Radical Futures</a:t>
            </a:r>
            <a:r>
              <a:rPr lang="en-US" sz="1200" dirty="0"/>
              <a:t>. In IRRJ, 2025.</a:t>
            </a:r>
            <a:endParaRPr lang="en-CA" sz="1200" dirty="0"/>
          </a:p>
        </p:txBody>
      </p:sp>
    </p:spTree>
    <p:extLst>
      <p:ext uri="{BB962C8B-B14F-4D97-AF65-F5344CB8AC3E}">
        <p14:creationId xmlns:p14="http://schemas.microsoft.com/office/powerpoint/2010/main" val="3237618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2BC58-CA99-8CB4-15BF-C31383B3107D}"/>
              </a:ext>
            </a:extLst>
          </p:cNvPr>
          <p:cNvSpPr>
            <a:spLocks noGrp="1"/>
          </p:cNvSpPr>
          <p:nvPr>
            <p:ph type="title"/>
          </p:nvPr>
        </p:nvSpPr>
        <p:spPr>
          <a:xfrm>
            <a:off x="838200" y="612635"/>
            <a:ext cx="5321295" cy="1325563"/>
          </a:xfrm>
        </p:spPr>
        <p:txBody>
          <a:bodyPr>
            <a:normAutofit fontScale="90000"/>
          </a:bodyPr>
          <a:lstStyle/>
          <a:p>
            <a:r>
              <a:rPr lang="en-CA" dirty="0"/>
              <a:t>Reclaiming Our Sociotechnical Futures</a:t>
            </a:r>
          </a:p>
        </p:txBody>
      </p:sp>
      <p:sp>
        <p:nvSpPr>
          <p:cNvPr id="3" name="Content Placeholder 2">
            <a:extLst>
              <a:ext uri="{FF2B5EF4-FFF2-40B4-BE49-F238E27FC236}">
                <a16:creationId xmlns:a16="http://schemas.microsoft.com/office/drawing/2014/main" id="{639F79C3-7FB7-38AD-ACBE-1F0400DE809C}"/>
              </a:ext>
            </a:extLst>
          </p:cNvPr>
          <p:cNvSpPr>
            <a:spLocks noGrp="1"/>
          </p:cNvSpPr>
          <p:nvPr>
            <p:ph sz="half" idx="1"/>
          </p:nvPr>
        </p:nvSpPr>
        <p:spPr>
          <a:xfrm>
            <a:off x="838199" y="2052510"/>
            <a:ext cx="8298925" cy="2102604"/>
          </a:xfrm>
        </p:spPr>
        <p:txBody>
          <a:bodyPr>
            <a:normAutofit/>
          </a:bodyPr>
          <a:lstStyle/>
          <a:p>
            <a:pPr marL="0" indent="0">
              <a:lnSpc>
                <a:spcPct val="100000"/>
              </a:lnSpc>
              <a:buNone/>
            </a:pPr>
            <a:r>
              <a:rPr lang="en-CA" sz="2400" dirty="0"/>
              <a:t>This is a call for the IR community to rise up and challenge the crisis of imagination plaguing the broader tech community</a:t>
            </a:r>
          </a:p>
          <a:p>
            <a:pPr marL="0" indent="0">
              <a:lnSpc>
                <a:spcPct val="100000"/>
              </a:lnSpc>
              <a:buNone/>
            </a:pPr>
            <a:r>
              <a:rPr lang="en-CA" sz="2400" dirty="0"/>
              <a:t>We must put forth bolder visions for our collective futures and radically reimagine information experiences that liberate us, not manipulate us</a:t>
            </a:r>
          </a:p>
          <a:p>
            <a:pPr marL="0" indent="0">
              <a:lnSpc>
                <a:spcPct val="100000"/>
              </a:lnSpc>
              <a:buNone/>
            </a:pPr>
            <a:endParaRPr lang="en-CA" sz="2400" dirty="0"/>
          </a:p>
        </p:txBody>
      </p:sp>
      <p:pic>
        <p:nvPicPr>
          <p:cNvPr id="5" name="Picture 2" descr="Hand drawn wooden road signs Hand drawn wooden road signs pointing in different directions. Vector illustration. Isolated in white background. crossroads illustration stock illustrations">
            <a:extLst>
              <a:ext uri="{FF2B5EF4-FFF2-40B4-BE49-F238E27FC236}">
                <a16:creationId xmlns:a16="http://schemas.microsoft.com/office/drawing/2014/main" id="{187AA42C-EB89-4F51-A85A-60F93C6EFD2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3319"/>
          <a:stretch/>
        </p:blipFill>
        <p:spPr bwMode="auto">
          <a:xfrm>
            <a:off x="9603395" y="408319"/>
            <a:ext cx="1792959" cy="366515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FD76ABD0-2893-4F9E-F656-BF3430951D73}"/>
              </a:ext>
            </a:extLst>
          </p:cNvPr>
          <p:cNvSpPr txBox="1"/>
          <p:nvPr/>
        </p:nvSpPr>
        <p:spPr>
          <a:xfrm>
            <a:off x="0" y="6581001"/>
            <a:ext cx="12192000" cy="276999"/>
          </a:xfrm>
          <a:prstGeom prst="rect">
            <a:avLst/>
          </a:prstGeom>
          <a:noFill/>
        </p:spPr>
        <p:txBody>
          <a:bodyPr wrap="square" anchor="b">
            <a:spAutoFit/>
          </a:bodyPr>
          <a:lstStyle/>
          <a:p>
            <a:pPr algn="ctr"/>
            <a:r>
              <a:rPr lang="en-US" sz="1200" dirty="0"/>
              <a:t>Mitra. </a:t>
            </a:r>
            <a:r>
              <a:rPr lang="en-US" sz="1200" dirty="0">
                <a:hlinkClick r:id="rId3"/>
              </a:rPr>
              <a:t>Search and Society: Reimagining Information Access for Radical Futures</a:t>
            </a:r>
            <a:r>
              <a:rPr lang="en-US" sz="1200" dirty="0"/>
              <a:t>. In IRRJ, 2025.</a:t>
            </a:r>
            <a:endParaRPr lang="en-CA" sz="1200" dirty="0"/>
          </a:p>
        </p:txBody>
      </p:sp>
      <p:grpSp>
        <p:nvGrpSpPr>
          <p:cNvPr id="23" name="Group 22">
            <a:extLst>
              <a:ext uri="{FF2B5EF4-FFF2-40B4-BE49-F238E27FC236}">
                <a16:creationId xmlns:a16="http://schemas.microsoft.com/office/drawing/2014/main" id="{C6800739-29B0-56E8-30B1-7B8FD5138BF5}"/>
              </a:ext>
            </a:extLst>
          </p:cNvPr>
          <p:cNvGrpSpPr/>
          <p:nvPr/>
        </p:nvGrpSpPr>
        <p:grpSpPr>
          <a:xfrm>
            <a:off x="297365" y="4385305"/>
            <a:ext cx="7113166" cy="1729217"/>
            <a:chOff x="923007" y="4570935"/>
            <a:chExt cx="7113166" cy="1729217"/>
          </a:xfrm>
        </p:grpSpPr>
        <p:pic>
          <p:nvPicPr>
            <p:cNvPr id="13" name="Picture 4" descr="May be an image of 1 person and table">
              <a:extLst>
                <a:ext uri="{FF2B5EF4-FFF2-40B4-BE49-F238E27FC236}">
                  <a16:creationId xmlns:a16="http://schemas.microsoft.com/office/drawing/2014/main" id="{5CF39C0C-5ED1-4D7B-601D-810FB237EBA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643" r="5525"/>
            <a:stretch/>
          </p:blipFill>
          <p:spPr bwMode="auto">
            <a:xfrm rot="21155189">
              <a:off x="923007" y="4833908"/>
              <a:ext cx="2341636" cy="146624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pSp>
          <p:nvGrpSpPr>
            <p:cNvPr id="14" name="Group 13">
              <a:extLst>
                <a:ext uri="{FF2B5EF4-FFF2-40B4-BE49-F238E27FC236}">
                  <a16:creationId xmlns:a16="http://schemas.microsoft.com/office/drawing/2014/main" id="{D0FEBA9A-F951-4E65-AE2C-660D30B0AC0C}"/>
                </a:ext>
              </a:extLst>
            </p:cNvPr>
            <p:cNvGrpSpPr/>
            <p:nvPr/>
          </p:nvGrpSpPr>
          <p:grpSpPr>
            <a:xfrm>
              <a:off x="3493770" y="5023010"/>
              <a:ext cx="4542403" cy="1140201"/>
              <a:chOff x="909621" y="5309976"/>
              <a:chExt cx="5321295" cy="1335713"/>
            </a:xfrm>
          </p:grpSpPr>
          <p:pic>
            <p:nvPicPr>
              <p:cNvPr id="15" name="Picture 14">
                <a:extLst>
                  <a:ext uri="{FF2B5EF4-FFF2-40B4-BE49-F238E27FC236}">
                    <a16:creationId xmlns:a16="http://schemas.microsoft.com/office/drawing/2014/main" id="{02FF3143-BE0A-6346-4995-AF57EFE3B5AE}"/>
                  </a:ext>
                </a:extLst>
              </p:cNvPr>
              <p:cNvPicPr>
                <a:picLocks noChangeAspect="1"/>
              </p:cNvPicPr>
              <p:nvPr/>
            </p:nvPicPr>
            <p:blipFill>
              <a:blip r:embed="rId5"/>
              <a:stretch>
                <a:fillRect/>
              </a:stretch>
            </p:blipFill>
            <p:spPr>
              <a:xfrm>
                <a:off x="909621" y="5309976"/>
                <a:ext cx="4218122" cy="433451"/>
              </a:xfrm>
              <a:custGeom>
                <a:avLst/>
                <a:gdLst>
                  <a:gd name="connsiteX0" fmla="*/ 0 w 3600704"/>
                  <a:gd name="connsiteY0" fmla="*/ 0 h 370006"/>
                  <a:gd name="connsiteX1" fmla="*/ 514386 w 3600704"/>
                  <a:gd name="connsiteY1" fmla="*/ 0 h 370006"/>
                  <a:gd name="connsiteX2" fmla="*/ 1064780 w 3600704"/>
                  <a:gd name="connsiteY2" fmla="*/ 0 h 370006"/>
                  <a:gd name="connsiteX3" fmla="*/ 1543159 w 3600704"/>
                  <a:gd name="connsiteY3" fmla="*/ 0 h 370006"/>
                  <a:gd name="connsiteX4" fmla="*/ 2021538 w 3600704"/>
                  <a:gd name="connsiteY4" fmla="*/ 0 h 370006"/>
                  <a:gd name="connsiteX5" fmla="*/ 2607938 w 3600704"/>
                  <a:gd name="connsiteY5" fmla="*/ 0 h 370006"/>
                  <a:gd name="connsiteX6" fmla="*/ 3086318 w 3600704"/>
                  <a:gd name="connsiteY6" fmla="*/ 0 h 370006"/>
                  <a:gd name="connsiteX7" fmla="*/ 3600704 w 3600704"/>
                  <a:gd name="connsiteY7" fmla="*/ 0 h 370006"/>
                  <a:gd name="connsiteX8" fmla="*/ 3600704 w 3600704"/>
                  <a:gd name="connsiteY8" fmla="*/ 370006 h 370006"/>
                  <a:gd name="connsiteX9" fmla="*/ 3014304 w 3600704"/>
                  <a:gd name="connsiteY9" fmla="*/ 370006 h 370006"/>
                  <a:gd name="connsiteX10" fmla="*/ 2607938 w 3600704"/>
                  <a:gd name="connsiteY10" fmla="*/ 370006 h 370006"/>
                  <a:gd name="connsiteX11" fmla="*/ 2129559 w 3600704"/>
                  <a:gd name="connsiteY11" fmla="*/ 370006 h 370006"/>
                  <a:gd name="connsiteX12" fmla="*/ 1687187 w 3600704"/>
                  <a:gd name="connsiteY12" fmla="*/ 370006 h 370006"/>
                  <a:gd name="connsiteX13" fmla="*/ 1244815 w 3600704"/>
                  <a:gd name="connsiteY13" fmla="*/ 370006 h 370006"/>
                  <a:gd name="connsiteX14" fmla="*/ 766436 w 3600704"/>
                  <a:gd name="connsiteY14" fmla="*/ 370006 h 370006"/>
                  <a:gd name="connsiteX15" fmla="*/ 0 w 3600704"/>
                  <a:gd name="connsiteY15" fmla="*/ 370006 h 370006"/>
                  <a:gd name="connsiteX16" fmla="*/ 0 w 3600704"/>
                  <a:gd name="connsiteY16" fmla="*/ 0 h 37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00704" h="370006" fill="none" extrusionOk="0">
                    <a:moveTo>
                      <a:pt x="0" y="0"/>
                    </a:moveTo>
                    <a:cubicBezTo>
                      <a:pt x="143475" y="-51723"/>
                      <a:pt x="292794" y="30199"/>
                      <a:pt x="514386" y="0"/>
                    </a:cubicBezTo>
                    <a:cubicBezTo>
                      <a:pt x="735978" y="-30199"/>
                      <a:pt x="918505" y="3294"/>
                      <a:pt x="1064780" y="0"/>
                    </a:cubicBezTo>
                    <a:cubicBezTo>
                      <a:pt x="1211055" y="-3294"/>
                      <a:pt x="1433570" y="54666"/>
                      <a:pt x="1543159" y="0"/>
                    </a:cubicBezTo>
                    <a:cubicBezTo>
                      <a:pt x="1652748" y="-54666"/>
                      <a:pt x="1882047" y="34460"/>
                      <a:pt x="2021538" y="0"/>
                    </a:cubicBezTo>
                    <a:cubicBezTo>
                      <a:pt x="2161029" y="-34460"/>
                      <a:pt x="2444727" y="25254"/>
                      <a:pt x="2607938" y="0"/>
                    </a:cubicBezTo>
                    <a:cubicBezTo>
                      <a:pt x="2771149" y="-25254"/>
                      <a:pt x="2950497" y="47051"/>
                      <a:pt x="3086318" y="0"/>
                    </a:cubicBezTo>
                    <a:cubicBezTo>
                      <a:pt x="3222139" y="-47051"/>
                      <a:pt x="3353996" y="11361"/>
                      <a:pt x="3600704" y="0"/>
                    </a:cubicBezTo>
                    <a:cubicBezTo>
                      <a:pt x="3610162" y="74607"/>
                      <a:pt x="3575705" y="265366"/>
                      <a:pt x="3600704" y="370006"/>
                    </a:cubicBezTo>
                    <a:cubicBezTo>
                      <a:pt x="3337337" y="372684"/>
                      <a:pt x="3287696" y="361880"/>
                      <a:pt x="3014304" y="370006"/>
                    </a:cubicBezTo>
                    <a:cubicBezTo>
                      <a:pt x="2740912" y="378132"/>
                      <a:pt x="2694664" y="353015"/>
                      <a:pt x="2607938" y="370006"/>
                    </a:cubicBezTo>
                    <a:cubicBezTo>
                      <a:pt x="2521212" y="386997"/>
                      <a:pt x="2346410" y="330405"/>
                      <a:pt x="2129559" y="370006"/>
                    </a:cubicBezTo>
                    <a:cubicBezTo>
                      <a:pt x="1912708" y="409607"/>
                      <a:pt x="1858419" y="348795"/>
                      <a:pt x="1687187" y="370006"/>
                    </a:cubicBezTo>
                    <a:cubicBezTo>
                      <a:pt x="1515955" y="391217"/>
                      <a:pt x="1458548" y="326265"/>
                      <a:pt x="1244815" y="370006"/>
                    </a:cubicBezTo>
                    <a:cubicBezTo>
                      <a:pt x="1031082" y="413747"/>
                      <a:pt x="946765" y="345987"/>
                      <a:pt x="766436" y="370006"/>
                    </a:cubicBezTo>
                    <a:cubicBezTo>
                      <a:pt x="586107" y="394025"/>
                      <a:pt x="283165" y="295414"/>
                      <a:pt x="0" y="370006"/>
                    </a:cubicBezTo>
                    <a:cubicBezTo>
                      <a:pt x="-10664" y="289190"/>
                      <a:pt x="25698" y="114521"/>
                      <a:pt x="0" y="0"/>
                    </a:cubicBezTo>
                    <a:close/>
                  </a:path>
                  <a:path w="3600704" h="370006" stroke="0" extrusionOk="0">
                    <a:moveTo>
                      <a:pt x="0" y="0"/>
                    </a:moveTo>
                    <a:cubicBezTo>
                      <a:pt x="193085" y="-32240"/>
                      <a:pt x="311581" y="3214"/>
                      <a:pt x="478379" y="0"/>
                    </a:cubicBezTo>
                    <a:cubicBezTo>
                      <a:pt x="645177" y="-3214"/>
                      <a:pt x="796938" y="39789"/>
                      <a:pt x="884744" y="0"/>
                    </a:cubicBezTo>
                    <a:cubicBezTo>
                      <a:pt x="972551" y="-39789"/>
                      <a:pt x="1183979" y="60858"/>
                      <a:pt x="1471145" y="0"/>
                    </a:cubicBezTo>
                    <a:cubicBezTo>
                      <a:pt x="1758311" y="-60858"/>
                      <a:pt x="1799130" y="40078"/>
                      <a:pt x="1985531" y="0"/>
                    </a:cubicBezTo>
                    <a:cubicBezTo>
                      <a:pt x="2171932" y="-40078"/>
                      <a:pt x="2379437" y="1266"/>
                      <a:pt x="2499917" y="0"/>
                    </a:cubicBezTo>
                    <a:cubicBezTo>
                      <a:pt x="2620397" y="-1266"/>
                      <a:pt x="2769089" y="53553"/>
                      <a:pt x="2978297" y="0"/>
                    </a:cubicBezTo>
                    <a:cubicBezTo>
                      <a:pt x="3187505" y="-53553"/>
                      <a:pt x="3396252" y="51367"/>
                      <a:pt x="3600704" y="0"/>
                    </a:cubicBezTo>
                    <a:cubicBezTo>
                      <a:pt x="3614425" y="108719"/>
                      <a:pt x="3598097" y="253924"/>
                      <a:pt x="3600704" y="370006"/>
                    </a:cubicBezTo>
                    <a:cubicBezTo>
                      <a:pt x="3484633" y="417058"/>
                      <a:pt x="3333593" y="345238"/>
                      <a:pt x="3158332" y="370006"/>
                    </a:cubicBezTo>
                    <a:cubicBezTo>
                      <a:pt x="2983071" y="394774"/>
                      <a:pt x="2894957" y="367514"/>
                      <a:pt x="2643946" y="370006"/>
                    </a:cubicBezTo>
                    <a:cubicBezTo>
                      <a:pt x="2392935" y="372498"/>
                      <a:pt x="2316610" y="342225"/>
                      <a:pt x="2093552" y="370006"/>
                    </a:cubicBezTo>
                    <a:cubicBezTo>
                      <a:pt x="1870494" y="397787"/>
                      <a:pt x="1787249" y="362852"/>
                      <a:pt x="1687187" y="370006"/>
                    </a:cubicBezTo>
                    <a:cubicBezTo>
                      <a:pt x="1587126" y="377160"/>
                      <a:pt x="1281647" y="300061"/>
                      <a:pt x="1100787" y="370006"/>
                    </a:cubicBezTo>
                    <a:cubicBezTo>
                      <a:pt x="919927" y="439951"/>
                      <a:pt x="850228" y="365741"/>
                      <a:pt x="658414" y="370006"/>
                    </a:cubicBezTo>
                    <a:cubicBezTo>
                      <a:pt x="466600" y="374271"/>
                      <a:pt x="215764" y="352851"/>
                      <a:pt x="0" y="370006"/>
                    </a:cubicBezTo>
                    <a:cubicBezTo>
                      <a:pt x="-32254" y="190545"/>
                      <a:pt x="32231" y="175532"/>
                      <a:pt x="0" y="0"/>
                    </a:cubicBezTo>
                    <a:close/>
                  </a:path>
                </a:pathLst>
              </a:custGeom>
              <a:ln>
                <a:solidFill>
                  <a:schemeClr val="tx1"/>
                </a:solidFill>
                <a:extLst>
                  <a:ext uri="{C807C97D-BFC1-408E-A445-0C87EB9F89A2}">
                    <ask:lineSketchStyleProps xmlns:ask="http://schemas.microsoft.com/office/drawing/2018/sketchyshapes" sd="3211780792">
                      <a:prstGeom prst="rect">
                        <a:avLst/>
                      </a:prstGeom>
                      <ask:type>
                        <ask:lineSketchScribble/>
                      </ask:type>
                    </ask:lineSketchStyleProps>
                  </a:ext>
                </a:extLst>
              </a:ln>
            </p:spPr>
          </p:pic>
          <p:pic>
            <p:nvPicPr>
              <p:cNvPr id="16" name="Picture 15">
                <a:extLst>
                  <a:ext uri="{FF2B5EF4-FFF2-40B4-BE49-F238E27FC236}">
                    <a16:creationId xmlns:a16="http://schemas.microsoft.com/office/drawing/2014/main" id="{53714748-D4FE-709B-1DC9-B868806BAFA8}"/>
                  </a:ext>
                </a:extLst>
              </p:cNvPr>
              <p:cNvPicPr>
                <a:picLocks noChangeAspect="1"/>
              </p:cNvPicPr>
              <p:nvPr/>
            </p:nvPicPr>
            <p:blipFill>
              <a:blip r:embed="rId6"/>
              <a:stretch>
                <a:fillRect/>
              </a:stretch>
            </p:blipFill>
            <p:spPr>
              <a:xfrm>
                <a:off x="909621" y="6166708"/>
                <a:ext cx="4218122" cy="478981"/>
              </a:xfrm>
              <a:custGeom>
                <a:avLst/>
                <a:gdLst>
                  <a:gd name="connsiteX0" fmla="*/ 0 w 3600704"/>
                  <a:gd name="connsiteY0" fmla="*/ 0 h 408871"/>
                  <a:gd name="connsiteX1" fmla="*/ 514386 w 3600704"/>
                  <a:gd name="connsiteY1" fmla="*/ 0 h 408871"/>
                  <a:gd name="connsiteX2" fmla="*/ 1064780 w 3600704"/>
                  <a:gd name="connsiteY2" fmla="*/ 0 h 408871"/>
                  <a:gd name="connsiteX3" fmla="*/ 1543159 w 3600704"/>
                  <a:gd name="connsiteY3" fmla="*/ 0 h 408871"/>
                  <a:gd name="connsiteX4" fmla="*/ 2021538 w 3600704"/>
                  <a:gd name="connsiteY4" fmla="*/ 0 h 408871"/>
                  <a:gd name="connsiteX5" fmla="*/ 2607938 w 3600704"/>
                  <a:gd name="connsiteY5" fmla="*/ 0 h 408871"/>
                  <a:gd name="connsiteX6" fmla="*/ 3086318 w 3600704"/>
                  <a:gd name="connsiteY6" fmla="*/ 0 h 408871"/>
                  <a:gd name="connsiteX7" fmla="*/ 3600704 w 3600704"/>
                  <a:gd name="connsiteY7" fmla="*/ 0 h 408871"/>
                  <a:gd name="connsiteX8" fmla="*/ 3600704 w 3600704"/>
                  <a:gd name="connsiteY8" fmla="*/ 408871 h 408871"/>
                  <a:gd name="connsiteX9" fmla="*/ 3014304 w 3600704"/>
                  <a:gd name="connsiteY9" fmla="*/ 408871 h 408871"/>
                  <a:gd name="connsiteX10" fmla="*/ 2607938 w 3600704"/>
                  <a:gd name="connsiteY10" fmla="*/ 408871 h 408871"/>
                  <a:gd name="connsiteX11" fmla="*/ 2129559 w 3600704"/>
                  <a:gd name="connsiteY11" fmla="*/ 408871 h 408871"/>
                  <a:gd name="connsiteX12" fmla="*/ 1687187 w 3600704"/>
                  <a:gd name="connsiteY12" fmla="*/ 408871 h 408871"/>
                  <a:gd name="connsiteX13" fmla="*/ 1244815 w 3600704"/>
                  <a:gd name="connsiteY13" fmla="*/ 408871 h 408871"/>
                  <a:gd name="connsiteX14" fmla="*/ 766436 w 3600704"/>
                  <a:gd name="connsiteY14" fmla="*/ 408871 h 408871"/>
                  <a:gd name="connsiteX15" fmla="*/ 0 w 3600704"/>
                  <a:gd name="connsiteY15" fmla="*/ 408871 h 408871"/>
                  <a:gd name="connsiteX16" fmla="*/ 0 w 3600704"/>
                  <a:gd name="connsiteY16" fmla="*/ 0 h 408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00704" h="408871" fill="none" extrusionOk="0">
                    <a:moveTo>
                      <a:pt x="0" y="0"/>
                    </a:moveTo>
                    <a:cubicBezTo>
                      <a:pt x="143475" y="-51723"/>
                      <a:pt x="292794" y="30199"/>
                      <a:pt x="514386" y="0"/>
                    </a:cubicBezTo>
                    <a:cubicBezTo>
                      <a:pt x="735978" y="-30199"/>
                      <a:pt x="918505" y="3294"/>
                      <a:pt x="1064780" y="0"/>
                    </a:cubicBezTo>
                    <a:cubicBezTo>
                      <a:pt x="1211055" y="-3294"/>
                      <a:pt x="1433570" y="54666"/>
                      <a:pt x="1543159" y="0"/>
                    </a:cubicBezTo>
                    <a:cubicBezTo>
                      <a:pt x="1652748" y="-54666"/>
                      <a:pt x="1882047" y="34460"/>
                      <a:pt x="2021538" y="0"/>
                    </a:cubicBezTo>
                    <a:cubicBezTo>
                      <a:pt x="2161029" y="-34460"/>
                      <a:pt x="2444727" y="25254"/>
                      <a:pt x="2607938" y="0"/>
                    </a:cubicBezTo>
                    <a:cubicBezTo>
                      <a:pt x="2771149" y="-25254"/>
                      <a:pt x="2950497" y="47051"/>
                      <a:pt x="3086318" y="0"/>
                    </a:cubicBezTo>
                    <a:cubicBezTo>
                      <a:pt x="3222139" y="-47051"/>
                      <a:pt x="3353996" y="11361"/>
                      <a:pt x="3600704" y="0"/>
                    </a:cubicBezTo>
                    <a:cubicBezTo>
                      <a:pt x="3636306" y="190779"/>
                      <a:pt x="3596087" y="262056"/>
                      <a:pt x="3600704" y="408871"/>
                    </a:cubicBezTo>
                    <a:cubicBezTo>
                      <a:pt x="3337337" y="411549"/>
                      <a:pt x="3287696" y="400745"/>
                      <a:pt x="3014304" y="408871"/>
                    </a:cubicBezTo>
                    <a:cubicBezTo>
                      <a:pt x="2740912" y="416997"/>
                      <a:pt x="2694664" y="391880"/>
                      <a:pt x="2607938" y="408871"/>
                    </a:cubicBezTo>
                    <a:cubicBezTo>
                      <a:pt x="2521212" y="425862"/>
                      <a:pt x="2346410" y="369270"/>
                      <a:pt x="2129559" y="408871"/>
                    </a:cubicBezTo>
                    <a:cubicBezTo>
                      <a:pt x="1912708" y="448472"/>
                      <a:pt x="1858419" y="387660"/>
                      <a:pt x="1687187" y="408871"/>
                    </a:cubicBezTo>
                    <a:cubicBezTo>
                      <a:pt x="1515955" y="430082"/>
                      <a:pt x="1458548" y="365130"/>
                      <a:pt x="1244815" y="408871"/>
                    </a:cubicBezTo>
                    <a:cubicBezTo>
                      <a:pt x="1031082" y="452612"/>
                      <a:pt x="946765" y="384852"/>
                      <a:pt x="766436" y="408871"/>
                    </a:cubicBezTo>
                    <a:cubicBezTo>
                      <a:pt x="586107" y="432890"/>
                      <a:pt x="283165" y="334279"/>
                      <a:pt x="0" y="408871"/>
                    </a:cubicBezTo>
                    <a:cubicBezTo>
                      <a:pt x="-517" y="222190"/>
                      <a:pt x="19700" y="158762"/>
                      <a:pt x="0" y="0"/>
                    </a:cubicBezTo>
                    <a:close/>
                  </a:path>
                  <a:path w="3600704" h="408871" stroke="0" extrusionOk="0">
                    <a:moveTo>
                      <a:pt x="0" y="0"/>
                    </a:moveTo>
                    <a:cubicBezTo>
                      <a:pt x="193085" y="-32240"/>
                      <a:pt x="311581" y="3214"/>
                      <a:pt x="478379" y="0"/>
                    </a:cubicBezTo>
                    <a:cubicBezTo>
                      <a:pt x="645177" y="-3214"/>
                      <a:pt x="796938" y="39789"/>
                      <a:pt x="884744" y="0"/>
                    </a:cubicBezTo>
                    <a:cubicBezTo>
                      <a:pt x="972551" y="-39789"/>
                      <a:pt x="1183979" y="60858"/>
                      <a:pt x="1471145" y="0"/>
                    </a:cubicBezTo>
                    <a:cubicBezTo>
                      <a:pt x="1758311" y="-60858"/>
                      <a:pt x="1799130" y="40078"/>
                      <a:pt x="1985531" y="0"/>
                    </a:cubicBezTo>
                    <a:cubicBezTo>
                      <a:pt x="2171932" y="-40078"/>
                      <a:pt x="2379437" y="1266"/>
                      <a:pt x="2499917" y="0"/>
                    </a:cubicBezTo>
                    <a:cubicBezTo>
                      <a:pt x="2620397" y="-1266"/>
                      <a:pt x="2769089" y="53553"/>
                      <a:pt x="2978297" y="0"/>
                    </a:cubicBezTo>
                    <a:cubicBezTo>
                      <a:pt x="3187505" y="-53553"/>
                      <a:pt x="3396252" y="51367"/>
                      <a:pt x="3600704" y="0"/>
                    </a:cubicBezTo>
                    <a:cubicBezTo>
                      <a:pt x="3617364" y="87420"/>
                      <a:pt x="3578076" y="319704"/>
                      <a:pt x="3600704" y="408871"/>
                    </a:cubicBezTo>
                    <a:cubicBezTo>
                      <a:pt x="3484633" y="455923"/>
                      <a:pt x="3333593" y="384103"/>
                      <a:pt x="3158332" y="408871"/>
                    </a:cubicBezTo>
                    <a:cubicBezTo>
                      <a:pt x="2983071" y="433639"/>
                      <a:pt x="2894957" y="406379"/>
                      <a:pt x="2643946" y="408871"/>
                    </a:cubicBezTo>
                    <a:cubicBezTo>
                      <a:pt x="2392935" y="411363"/>
                      <a:pt x="2316610" y="381090"/>
                      <a:pt x="2093552" y="408871"/>
                    </a:cubicBezTo>
                    <a:cubicBezTo>
                      <a:pt x="1870494" y="436652"/>
                      <a:pt x="1787249" y="401717"/>
                      <a:pt x="1687187" y="408871"/>
                    </a:cubicBezTo>
                    <a:cubicBezTo>
                      <a:pt x="1587126" y="416025"/>
                      <a:pt x="1281647" y="338926"/>
                      <a:pt x="1100787" y="408871"/>
                    </a:cubicBezTo>
                    <a:cubicBezTo>
                      <a:pt x="919927" y="478816"/>
                      <a:pt x="850228" y="404606"/>
                      <a:pt x="658414" y="408871"/>
                    </a:cubicBezTo>
                    <a:cubicBezTo>
                      <a:pt x="466600" y="413136"/>
                      <a:pt x="215764" y="391716"/>
                      <a:pt x="0" y="408871"/>
                    </a:cubicBezTo>
                    <a:cubicBezTo>
                      <a:pt x="-44422" y="220893"/>
                      <a:pt x="46178" y="131485"/>
                      <a:pt x="0" y="0"/>
                    </a:cubicBezTo>
                    <a:close/>
                  </a:path>
                </a:pathLst>
              </a:custGeom>
              <a:ln>
                <a:solidFill>
                  <a:schemeClr val="tx1"/>
                </a:solidFill>
                <a:extLst>
                  <a:ext uri="{C807C97D-BFC1-408E-A445-0C87EB9F89A2}">
                    <ask:lineSketchStyleProps xmlns:ask="http://schemas.microsoft.com/office/drawing/2018/sketchyshapes" sd="3211780792">
                      <a:prstGeom prst="rect">
                        <a:avLst/>
                      </a:prstGeom>
                      <ask:type>
                        <ask:lineSketchScribble/>
                      </ask:type>
                    </ask:lineSketchStyleProps>
                  </a:ext>
                </a:extLst>
              </a:ln>
            </p:spPr>
          </p:pic>
          <p:sp>
            <p:nvSpPr>
              <p:cNvPr id="17" name="TextBox 16">
                <a:extLst>
                  <a:ext uri="{FF2B5EF4-FFF2-40B4-BE49-F238E27FC236}">
                    <a16:creationId xmlns:a16="http://schemas.microsoft.com/office/drawing/2014/main" id="{D0A44A7D-BB41-B8E0-C472-FB5C44633F8B}"/>
                  </a:ext>
                </a:extLst>
              </p:cNvPr>
              <p:cNvSpPr txBox="1"/>
              <p:nvPr/>
            </p:nvSpPr>
            <p:spPr>
              <a:xfrm>
                <a:off x="5174345" y="5372812"/>
                <a:ext cx="1056571" cy="307777"/>
              </a:xfrm>
              <a:prstGeom prst="rect">
                <a:avLst/>
              </a:prstGeom>
              <a:noFill/>
            </p:spPr>
            <p:txBody>
              <a:bodyPr wrap="none" rtlCol="0">
                <a:spAutoFit/>
              </a:bodyPr>
              <a:lstStyle/>
              <a:p>
                <a:pPr algn="ctr"/>
                <a:r>
                  <a:rPr lang="en-CA" sz="1400" b="1" dirty="0"/>
                  <a:t>(SWIRL’18)</a:t>
                </a:r>
              </a:p>
            </p:txBody>
          </p:sp>
          <p:sp>
            <p:nvSpPr>
              <p:cNvPr id="18" name="TextBox 17">
                <a:extLst>
                  <a:ext uri="{FF2B5EF4-FFF2-40B4-BE49-F238E27FC236}">
                    <a16:creationId xmlns:a16="http://schemas.microsoft.com/office/drawing/2014/main" id="{20B26305-7E8A-812C-56A9-EEB3C5F1BA9D}"/>
                  </a:ext>
                </a:extLst>
              </p:cNvPr>
              <p:cNvSpPr txBox="1"/>
              <p:nvPr/>
            </p:nvSpPr>
            <p:spPr>
              <a:xfrm>
                <a:off x="5174345" y="6252309"/>
                <a:ext cx="1056571" cy="307777"/>
              </a:xfrm>
              <a:prstGeom prst="rect">
                <a:avLst/>
              </a:prstGeom>
              <a:noFill/>
            </p:spPr>
            <p:txBody>
              <a:bodyPr wrap="none" rtlCol="0">
                <a:spAutoFit/>
              </a:bodyPr>
              <a:lstStyle/>
              <a:p>
                <a:pPr algn="ctr"/>
                <a:r>
                  <a:rPr lang="en-CA" sz="1400" b="1" dirty="0"/>
                  <a:t>(SWIRL’25)</a:t>
                </a:r>
              </a:p>
            </p:txBody>
          </p:sp>
          <p:sp>
            <p:nvSpPr>
              <p:cNvPr id="19" name="Arrow: Down 18">
                <a:extLst>
                  <a:ext uri="{FF2B5EF4-FFF2-40B4-BE49-F238E27FC236}">
                    <a16:creationId xmlns:a16="http://schemas.microsoft.com/office/drawing/2014/main" id="{0CDFE95D-0C42-9570-4F59-725E1608DFBF}"/>
                  </a:ext>
                </a:extLst>
              </p:cNvPr>
              <p:cNvSpPr/>
              <p:nvPr/>
            </p:nvSpPr>
            <p:spPr>
              <a:xfrm>
                <a:off x="2962597" y="5841840"/>
                <a:ext cx="112169" cy="226455"/>
              </a:xfrm>
              <a:prstGeom prst="downArrow">
                <a:avLst/>
              </a:prstGeom>
              <a:gradFill flip="none" rotWithShape="1">
                <a:gsLst>
                  <a:gs pos="0">
                    <a:schemeClr val="dk1">
                      <a:lumMod val="67000"/>
                    </a:schemeClr>
                  </a:gs>
                  <a:gs pos="48000">
                    <a:schemeClr val="dk1">
                      <a:lumMod val="97000"/>
                      <a:lumOff val="3000"/>
                    </a:schemeClr>
                  </a:gs>
                  <a:gs pos="100000">
                    <a:schemeClr val="dk1">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CA"/>
              </a:p>
            </p:txBody>
          </p:sp>
        </p:grpSp>
        <p:sp>
          <p:nvSpPr>
            <p:cNvPr id="20" name="TextBox 19">
              <a:extLst>
                <a:ext uri="{FF2B5EF4-FFF2-40B4-BE49-F238E27FC236}">
                  <a16:creationId xmlns:a16="http://schemas.microsoft.com/office/drawing/2014/main" id="{38305814-D25E-6226-D2ED-665089719AE0}"/>
                </a:ext>
              </a:extLst>
            </p:cNvPr>
            <p:cNvSpPr txBox="1"/>
            <p:nvPr/>
          </p:nvSpPr>
          <p:spPr>
            <a:xfrm>
              <a:off x="3703354" y="4570935"/>
              <a:ext cx="3181534" cy="369332"/>
            </a:xfrm>
            <a:prstGeom prst="rect">
              <a:avLst/>
            </a:prstGeom>
            <a:noFill/>
          </p:spPr>
          <p:txBody>
            <a:bodyPr wrap="square">
              <a:spAutoFit/>
            </a:bodyPr>
            <a:lstStyle/>
            <a:p>
              <a:pPr algn="ctr"/>
              <a:r>
                <a:rPr lang="en-US" b="1" dirty="0"/>
                <a:t>A message from SWIRL’25</a:t>
              </a:r>
              <a:endParaRPr lang="en-CA" b="1" dirty="0"/>
            </a:p>
          </p:txBody>
        </p:sp>
      </p:grpSp>
      <p:grpSp>
        <p:nvGrpSpPr>
          <p:cNvPr id="26" name="Group 25">
            <a:extLst>
              <a:ext uri="{FF2B5EF4-FFF2-40B4-BE49-F238E27FC236}">
                <a16:creationId xmlns:a16="http://schemas.microsoft.com/office/drawing/2014/main" id="{9A3888BB-B5E5-49FD-BC84-0CF11140599D}"/>
              </a:ext>
            </a:extLst>
          </p:cNvPr>
          <p:cNvGrpSpPr/>
          <p:nvPr/>
        </p:nvGrpSpPr>
        <p:grpSpPr>
          <a:xfrm>
            <a:off x="7467265" y="4431471"/>
            <a:ext cx="4786437" cy="1546110"/>
            <a:chOff x="7467265" y="4617101"/>
            <a:chExt cx="4786437" cy="1546110"/>
          </a:xfrm>
        </p:grpSpPr>
        <p:pic>
          <p:nvPicPr>
            <p:cNvPr id="22" name="Picture 21">
              <a:extLst>
                <a:ext uri="{FF2B5EF4-FFF2-40B4-BE49-F238E27FC236}">
                  <a16:creationId xmlns:a16="http://schemas.microsoft.com/office/drawing/2014/main" id="{51F88F18-2068-EB61-485A-EF0EA376DBAC}"/>
                </a:ext>
              </a:extLst>
            </p:cNvPr>
            <p:cNvPicPr>
              <a:picLocks noChangeAspect="1"/>
            </p:cNvPicPr>
            <p:nvPr/>
          </p:nvPicPr>
          <p:blipFill>
            <a:blip r:embed="rId7"/>
            <a:stretch>
              <a:fillRect/>
            </a:stretch>
          </p:blipFill>
          <p:spPr>
            <a:xfrm>
              <a:off x="7910704" y="4973154"/>
              <a:ext cx="3899561" cy="1190057"/>
            </a:xfrm>
            <a:prstGeom prst="roundRect">
              <a:avLst>
                <a:gd name="adj" fmla="val 8594"/>
              </a:avLst>
            </a:prstGeom>
            <a:solidFill>
              <a:srgbClr val="FFFFFF">
                <a:shade val="85000"/>
              </a:srgbClr>
            </a:solidFill>
            <a:ln>
              <a:solidFill>
                <a:schemeClr val="tx1">
                  <a:lumMod val="65000"/>
                  <a:lumOff val="35000"/>
                </a:schemeClr>
              </a:solidFill>
            </a:ln>
            <a:effectLst>
              <a:reflection blurRad="12700" stA="38000" endPos="28000" dist="5000" dir="5400000" sy="-100000" algn="bl" rotWithShape="0"/>
            </a:effectLst>
          </p:spPr>
        </p:pic>
        <p:sp>
          <p:nvSpPr>
            <p:cNvPr id="25" name="TextBox 24">
              <a:extLst>
                <a:ext uri="{FF2B5EF4-FFF2-40B4-BE49-F238E27FC236}">
                  <a16:creationId xmlns:a16="http://schemas.microsoft.com/office/drawing/2014/main" id="{82BE1AF9-CFDC-440A-E220-C0BFC162D2D6}"/>
                </a:ext>
              </a:extLst>
            </p:cNvPr>
            <p:cNvSpPr txBox="1"/>
            <p:nvPr/>
          </p:nvSpPr>
          <p:spPr>
            <a:xfrm>
              <a:off x="7467265" y="4617101"/>
              <a:ext cx="4786437" cy="276999"/>
            </a:xfrm>
            <a:prstGeom prst="rect">
              <a:avLst/>
            </a:prstGeom>
            <a:noFill/>
          </p:spPr>
          <p:txBody>
            <a:bodyPr wrap="square">
              <a:spAutoFit/>
            </a:bodyPr>
            <a:lstStyle/>
            <a:p>
              <a:pPr algn="ctr"/>
              <a:r>
                <a:rPr lang="en-CA" sz="1200" dirty="0">
                  <a:hlinkClick r:id="rId8"/>
                </a:rPr>
                <a:t>https://bhaskar-mitra.github.io/posts/2025/09/01/what-is-ir-for-good/</a:t>
              </a:r>
              <a:endParaRPr lang="en-CA" sz="1200" dirty="0"/>
            </a:p>
          </p:txBody>
        </p:sp>
      </p:grpSp>
    </p:spTree>
    <p:extLst>
      <p:ext uri="{BB962C8B-B14F-4D97-AF65-F5344CB8AC3E}">
        <p14:creationId xmlns:p14="http://schemas.microsoft.com/office/powerpoint/2010/main" val="1317575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Ursula K. Le Guin Was a Creator of Worlds | The National Endowment for the  Humanities">
            <a:extLst>
              <a:ext uri="{FF2B5EF4-FFF2-40B4-BE49-F238E27FC236}">
                <a16:creationId xmlns:a16="http://schemas.microsoft.com/office/drawing/2014/main" id="{FD27E72C-FC52-ACB2-FA54-B5ECBE0C9AB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551" b="5300"/>
          <a:stretch/>
        </p:blipFill>
        <p:spPr bwMode="auto">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noFill/>
          <a:extLst>
            <a:ext uri="{909E8E84-426E-40DD-AFC4-6F175D3DCCD1}">
              <a14:hiddenFill xmlns:a14="http://schemas.microsoft.com/office/drawing/2010/main">
                <a:solidFill>
                  <a:srgbClr val="FFFFFF"/>
                </a:solidFill>
              </a14:hiddenFill>
            </a:ext>
          </a:extLst>
        </p:spPr>
      </p:pic>
      <p:sp>
        <p:nvSpPr>
          <p:cNvPr id="2" name="Title 2">
            <a:extLst>
              <a:ext uri="{FF2B5EF4-FFF2-40B4-BE49-F238E27FC236}">
                <a16:creationId xmlns:a16="http://schemas.microsoft.com/office/drawing/2014/main" id="{4034BD07-2544-94E1-D1C8-4400D3D7537A}"/>
              </a:ext>
            </a:extLst>
          </p:cNvPr>
          <p:cNvSpPr txBox="1">
            <a:spLocks/>
          </p:cNvSpPr>
          <p:nvPr/>
        </p:nvSpPr>
        <p:spPr>
          <a:xfrm>
            <a:off x="474134" y="1569265"/>
            <a:ext cx="5621866" cy="3950915"/>
          </a:xfrm>
          <a:prstGeom prst="rect">
            <a:avLst/>
          </a:prstGeom>
        </p:spPr>
        <p:txBody>
          <a:bodyPr vert="horz" lIns="91440" tIns="45720" rIns="91440" bIns="45720" rtlCol="0" anchor="b">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20000"/>
              </a:lnSpc>
            </a:pPr>
            <a:r>
              <a:rPr lang="en-US" sz="4000" dirty="0"/>
              <a:t>“</a:t>
            </a:r>
            <a:r>
              <a:rPr lang="en-US" sz="4000" i="1" dirty="0"/>
              <a:t>The exercise of imagination is dangerous to those who profit from the way things are because it has the power to show that the way things are is not permanent, not universal, not necessary.</a:t>
            </a:r>
            <a:r>
              <a:rPr lang="en-US" sz="4000" dirty="0"/>
              <a:t>”</a:t>
            </a:r>
          </a:p>
        </p:txBody>
      </p:sp>
      <p:sp>
        <p:nvSpPr>
          <p:cNvPr id="3" name="Text Placeholder 3">
            <a:extLst>
              <a:ext uri="{FF2B5EF4-FFF2-40B4-BE49-F238E27FC236}">
                <a16:creationId xmlns:a16="http://schemas.microsoft.com/office/drawing/2014/main" id="{DC320941-657F-324F-5E7B-BEFBDE4BAAF7}"/>
              </a:ext>
            </a:extLst>
          </p:cNvPr>
          <p:cNvSpPr txBox="1">
            <a:spLocks/>
          </p:cNvSpPr>
          <p:nvPr/>
        </p:nvSpPr>
        <p:spPr>
          <a:xfrm>
            <a:off x="474134" y="5656705"/>
            <a:ext cx="5621866" cy="5522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lnSpc>
                <a:spcPct val="100000"/>
              </a:lnSpc>
              <a:buNone/>
            </a:pPr>
            <a:r>
              <a:rPr lang="en-US" dirty="0"/>
              <a:t>– Ursula K. Le </a:t>
            </a:r>
            <a:r>
              <a:rPr lang="en-US" dirty="0" err="1"/>
              <a:t>Guin</a:t>
            </a:r>
            <a:endParaRPr lang="en-US" dirty="0"/>
          </a:p>
        </p:txBody>
      </p:sp>
    </p:spTree>
    <p:extLst>
      <p:ext uri="{BB962C8B-B14F-4D97-AF65-F5344CB8AC3E}">
        <p14:creationId xmlns:p14="http://schemas.microsoft.com/office/powerpoint/2010/main" val="10162744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5893</TotalTime>
  <Words>1164</Words>
  <Application>Microsoft Office PowerPoint</Application>
  <PresentationFormat>Widescreen</PresentationFormat>
  <Paragraphs>72</Paragraphs>
  <Slides>16</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Aptos Display</vt:lpstr>
      <vt:lpstr>Aptos Light</vt:lpstr>
      <vt:lpstr>Aptos SemiBold</vt:lpstr>
      <vt:lpstr>Arial</vt:lpstr>
      <vt:lpstr>Office Theme</vt:lpstr>
      <vt:lpstr>Sociotechnical Implications of RAG for Information Access</vt:lpstr>
      <vt:lpstr>Question for the audience</vt:lpstr>
      <vt:lpstr>PowerPoint Presentation</vt:lpstr>
      <vt:lpstr>Hallucinations The “Game of Telephone” Effect</vt:lpstr>
      <vt:lpstr>The politics of information access</vt:lpstr>
      <vt:lpstr>AI Persuasion</vt:lpstr>
      <vt:lpstr>PowerPoint Presentation</vt:lpstr>
      <vt:lpstr>Big Technofascism</vt:lpstr>
      <vt:lpstr>PowerPoint Presentation</vt:lpstr>
      <vt:lpstr>PowerPoint Presentation</vt:lpstr>
      <vt:lpstr>Information ecosystem disruption</vt:lpstr>
      <vt:lpstr>PowerPoint Presentation</vt:lpstr>
      <vt:lpstr>The ecological cost of AI</vt:lpstr>
      <vt:lpstr>Social opportunity cost</vt:lpstr>
      <vt:lpstr>Reclaiming Our Sociotechnical Futures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Bhaskar Mitra</dc:creator>
  <cp:lastModifiedBy>Bhaskar Mitra</cp:lastModifiedBy>
  <cp:revision>46</cp:revision>
  <dcterms:created xsi:type="dcterms:W3CDTF">2025-09-15T14:32:22Z</dcterms:created>
  <dcterms:modified xsi:type="dcterms:W3CDTF">2025-09-19T16:45:57Z</dcterms:modified>
</cp:coreProperties>
</file>